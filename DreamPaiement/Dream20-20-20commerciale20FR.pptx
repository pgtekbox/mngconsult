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9" r:id="rId12"/>
    <p:sldId id="270" r:id="rId13"/>
    <p:sldId id="271"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45"/>
    <p:restoredTop sz="94610"/>
  </p:normalViewPr>
  <p:slideViewPr>
    <p:cSldViewPr snapToGrid="0" snapToObjects="1">
      <p:cViewPr varScale="1">
        <p:scale>
          <a:sx n="127" d="100"/>
          <a:sy n="127" d="100"/>
        </p:scale>
        <p:origin x="28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641018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6.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1.png"/><Relationship Id="rId4" Type="http://schemas.openxmlformats.org/officeDocument/2006/relationships/image" Target="../media/image12.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14.png"/><Relationship Id="rId8" Type="http://schemas.openxmlformats.org/officeDocument/2006/relationships/image" Target="../media/image4.png"/><Relationship Id="rId9" Type="http://schemas.openxmlformats.org/officeDocument/2006/relationships/image" Target="../media/image24.png"/><Relationship Id="rId10" Type="http://schemas.openxmlformats.org/officeDocument/2006/relationships/image" Target="../media/image25.png"/><Relationship Id="rId11" Type="http://schemas.openxmlformats.org/officeDocument/2006/relationships/image" Target="../media/image26.png"/><Relationship Id="rId12" Type="http://schemas.openxmlformats.org/officeDocument/2006/relationships/image" Target="../media/image27.png"/><Relationship Id="rId13" Type="http://schemas.openxmlformats.org/officeDocument/2006/relationships/image" Target="../media/image28.png"/><Relationship Id="rId14"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640080" y="548640"/>
            <a:ext cx="5486400" cy="274320"/>
          </a:xfrm>
          <a:prstGeom prst="rect">
            <a:avLst/>
          </a:prstGeom>
          <a:noFill/>
          <a:ln/>
        </p:spPr>
        <p:txBody>
          <a:bodyPr wrap="square" rtlCol="0" anchor="ctr">
            <a:normAutofit/>
          </a:bodyPr>
          <a:lstStyle/>
          <a:p>
            <a:pPr marL="0" indent="0">
              <a:buNone/>
            </a:pPr>
            <a:r>
              <a:rPr sz="1200" b="1">
                <a:solidFill>
                  <a:srgbClr val="0B1437"/>
                </a:solidFill>
                <a:latin typeface="JetBrains Mono"/>
              </a:rPr>
              <a:t>DREAM PAYMENTS</a:t>
            </a:r>
            <a:endParaRPr lang="en-US" sz="1200" dirty="0"/>
          </a:p>
        </p:txBody>
      </p:sp>
      <p:sp>
        <p:nvSpPr>
          <p:cNvPr id="3" name="Shape 1"/>
          <p:cNvSpPr/>
          <p:nvPr/>
        </p:nvSpPr>
        <p:spPr>
          <a:xfrm>
            <a:off x="640080" y="1234440"/>
            <a:ext cx="4572000" cy="502920"/>
          </a:xfrm>
          <a:prstGeom prst="roundRect">
            <a:avLst>
              <a:gd name="adj" fmla="val 50909"/>
            </a:avLst>
          </a:prstGeom>
          <a:solidFill>
            <a:srgbClr val="FFFFFF"/>
          </a:solidFill>
          <a:ln w="15875">
            <a:solidFill>
              <a:srgbClr val="D9D4F7"/>
            </a:solidFill>
            <a:prstDash val="solid"/>
          </a:ln>
          <a:effectLst>
            <a:outerShdw blurRad="127000" dist="38100" dir="5400000" algn="bl" rotWithShape="0">
              <a:srgbClr val="1E2A52">
                <a:alpha val="13000"/>
              </a:srgbClr>
            </a:outerShdw>
          </a:effectLst>
        </p:spPr>
        <p:txBody>
          <a:bodyPr/>
          <a:lstStyle/>
          <a:p>
            <a:endParaRPr lang="en-US"/>
          </a:p>
        </p:txBody>
      </p:sp>
      <p:sp>
        <p:nvSpPr>
          <p:cNvPr id="4" name="Shape 2"/>
          <p:cNvSpPr/>
          <p:nvPr/>
        </p:nvSpPr>
        <p:spPr>
          <a:xfrm>
            <a:off x="804672" y="1344168"/>
            <a:ext cx="868680" cy="283464"/>
          </a:xfrm>
          <a:prstGeom prst="roundRect">
            <a:avLst>
              <a:gd name="adj" fmla="val 51613"/>
            </a:avLst>
          </a:prstGeom>
          <a:solidFill>
            <a:srgbClr val="7C5CFF"/>
          </a:solidFill>
          <a:ln/>
        </p:spPr>
        <p:txBody>
          <a:bodyPr/>
          <a:lstStyle/>
          <a:p>
            <a:endParaRPr lang="en-US"/>
          </a:p>
        </p:txBody>
      </p:sp>
      <p:sp>
        <p:nvSpPr>
          <p:cNvPr id="5" name="Text 3"/>
          <p:cNvSpPr/>
          <p:nvPr/>
        </p:nvSpPr>
        <p:spPr>
          <a:xfrm>
            <a:off x="804672" y="1344168"/>
            <a:ext cx="868680" cy="283464"/>
          </a:xfrm>
          <a:prstGeom prst="rect">
            <a:avLst/>
          </a:prstGeom>
          <a:noFill/>
          <a:ln/>
        </p:spPr>
        <p:txBody>
          <a:bodyPr wrap="square" lIns="0" tIns="0" rIns="0" bIns="0" rtlCol="0" anchor="ctr">
            <a:normAutofit/>
          </a:bodyPr>
          <a:lstStyle/>
          <a:p>
            <a:pPr marL="0" indent="0" algn="ctr">
              <a:buNone/>
            </a:pPr>
            <a:r>
              <a:rPr sz="900" b="1">
                <a:solidFill>
                  <a:srgbClr val="FFFFFF"/>
                </a:solidFill>
                <a:latin typeface="JetBrains Mono"/>
              </a:rPr>
              <a:t>NOUVEAU</a:t>
            </a:r>
            <a:endParaRPr lang="en-US" sz="900" dirty="0"/>
          </a:p>
        </p:txBody>
      </p:sp>
      <p:sp>
        <p:nvSpPr>
          <p:cNvPr id="6" name="Text 4"/>
          <p:cNvSpPr/>
          <p:nvPr/>
        </p:nvSpPr>
        <p:spPr>
          <a:xfrm>
            <a:off x="1783080" y="1234440"/>
            <a:ext cx="3337560" cy="502920"/>
          </a:xfrm>
          <a:prstGeom prst="rect">
            <a:avLst/>
          </a:prstGeom>
          <a:noFill/>
          <a:ln/>
        </p:spPr>
        <p:txBody>
          <a:bodyPr wrap="square" lIns="0" tIns="0" rIns="0" bIns="0" rtlCol="0" anchor="ctr">
            <a:normAutofit/>
          </a:bodyPr>
          <a:lstStyle/>
          <a:p>
            <a:pPr marL="0" indent="0">
              <a:buNone/>
            </a:pPr>
            <a:r>
              <a:rPr sz="1200">
                <a:solidFill>
                  <a:srgbClr val="0B1437"/>
                </a:solidFill>
                <a:latin typeface="Aptos"/>
              </a:rPr>
              <a:t>Le hub de paiements d’affaires 60 Seconds.</a:t>
            </a:r>
            <a:endParaRPr lang="en-US" sz="1200" dirty="0"/>
          </a:p>
        </p:txBody>
      </p:sp>
      <p:sp>
        <p:nvSpPr>
          <p:cNvPr id="7" name="Text 5"/>
          <p:cNvSpPr/>
          <p:nvPr/>
        </p:nvSpPr>
        <p:spPr>
          <a:xfrm>
            <a:off x="612648" y="1965960"/>
            <a:ext cx="6766560" cy="914400"/>
          </a:xfrm>
          <a:prstGeom prst="rect">
            <a:avLst/>
          </a:prstGeom>
          <a:noFill/>
          <a:ln/>
        </p:spPr>
        <p:txBody>
          <a:bodyPr wrap="square" lIns="0" tIns="0" rIns="0" bIns="0" rtlCol="0" anchor="ctr">
            <a:normAutofit/>
          </a:bodyPr>
          <a:lstStyle/>
          <a:p>
            <a:pPr marL="0" indent="0">
              <a:buNone/>
            </a:pPr>
            <a:r>
              <a:rPr sz="6200" b="1">
                <a:solidFill>
                  <a:srgbClr val="6D4AFF"/>
                </a:solidFill>
                <a:latin typeface="Aptos Display"/>
              </a:rPr>
              <a:t>60 Seconds</a:t>
            </a:r>
            <a:endParaRPr lang="en-US" sz="6200" dirty="0"/>
          </a:p>
        </p:txBody>
      </p:sp>
      <p:sp>
        <p:nvSpPr>
          <p:cNvPr id="8" name="Text 6"/>
          <p:cNvSpPr/>
          <p:nvPr/>
        </p:nvSpPr>
        <p:spPr>
          <a:xfrm>
            <a:off x="612648" y="2999232"/>
            <a:ext cx="6309360" cy="777240"/>
          </a:xfrm>
          <a:prstGeom prst="rect">
            <a:avLst/>
          </a:prstGeom>
          <a:noFill/>
          <a:ln/>
        </p:spPr>
        <p:txBody>
          <a:bodyPr wrap="square" lIns="0" tIns="0" rIns="0" bIns="0" rtlCol="0" anchor="ctr">
            <a:normAutofit/>
          </a:bodyPr>
          <a:lstStyle/>
          <a:p>
            <a:pPr marL="0" indent="0">
              <a:buNone/>
            </a:pPr>
            <a:r>
              <a:rPr sz="4000" b="1">
                <a:solidFill>
                  <a:srgbClr val="0B1437"/>
                </a:solidFill>
                <a:latin typeface="Aptos Display"/>
              </a:rPr>
              <a:t>propulsé par Dream</a:t>
            </a:r>
            <a:endParaRPr lang="en-US" sz="4000" dirty="0"/>
          </a:p>
        </p:txBody>
      </p:sp>
      <p:sp>
        <p:nvSpPr>
          <p:cNvPr id="9" name="Text 7"/>
          <p:cNvSpPr/>
          <p:nvPr/>
        </p:nvSpPr>
        <p:spPr>
          <a:xfrm>
            <a:off x="640080" y="3977640"/>
            <a:ext cx="5852160" cy="960000"/>
          </a:xfrm>
          <a:prstGeom prst="rect">
            <a:avLst/>
          </a:prstGeom>
          <a:noFill/>
          <a:ln/>
        </p:spPr>
        <p:txBody>
          <a:bodyPr wrap="square" rtlCol="0" anchor="ctr">
            <a:normAutofit/>
          </a:bodyPr>
          <a:lstStyle/>
          <a:p>
            <a:pPr marL="0" indent="0">
              <a:lnSpc>
                <a:spcPct val="106000"/>
              </a:lnSpc>
              <a:buNone/>
            </a:pPr>
            <a:r>
              <a:rPr sz="1500">
                <a:solidFill>
                  <a:srgbClr val="334155"/>
                </a:solidFill>
                <a:latin typeface="Aptos"/>
              </a:rPr>
              <a:t>Une plateforme permettant à 60 Seconds d’encaisser auprès des PME clientes par demande Interac e-Transfer et de payer fournisseurs et employés par EFT et paiements e-Transfer, entièrement par API, avec KYC et conformité intégrés, en CAD partout au Canada dès le lancement.</a:t>
            </a:r>
            <a:endParaRPr lang="en-US" sz="1500" dirty="0"/>
          </a:p>
        </p:txBody>
      </p:sp>
      <p:sp>
        <p:nvSpPr>
          <p:cNvPr id="10" name="Text 8"/>
          <p:cNvSpPr/>
          <p:nvPr/>
        </p:nvSpPr>
        <p:spPr>
          <a:xfrm>
            <a:off x="640080" y="5029200"/>
            <a:ext cx="8229600" cy="274320"/>
          </a:xfrm>
          <a:prstGeom prst="rect">
            <a:avLst/>
          </a:prstGeom>
          <a:noFill/>
          <a:ln/>
        </p:spPr>
        <p:txBody>
          <a:bodyPr wrap="square" rtlCol="0" anchor="ctr">
            <a:normAutofit/>
          </a:bodyPr>
          <a:lstStyle/>
          <a:p>
            <a:pPr marL="0" indent="0">
              <a:buNone/>
            </a:pPr>
            <a:r>
              <a:rPr sz="900" b="1">
                <a:solidFill>
                  <a:srgbClr val="64748B"/>
                </a:solidFill>
                <a:latin typeface="JetBrains Mono"/>
              </a:rPr>
              <a:t>ILS FONT CONFIANCE À DREAM</a:t>
            </a:r>
            <a:endParaRPr lang="en-US" sz="900" dirty="0"/>
          </a:p>
        </p:txBody>
      </p:sp>
      <p:sp>
        <p:nvSpPr>
          <p:cNvPr id="11" name="Text 9"/>
          <p:cNvSpPr/>
          <p:nvPr/>
        </p:nvSpPr>
        <p:spPr>
          <a:xfrm>
            <a:off x="640080" y="5340000"/>
            <a:ext cx="2377440" cy="365760"/>
          </a:xfrm>
          <a:prstGeom prst="rect">
            <a:avLst/>
          </a:prstGeom>
          <a:noFill/>
          <a:ln/>
        </p:spPr>
        <p:txBody>
          <a:bodyPr wrap="square" lIns="0" tIns="0" rIns="0" bIns="0" rtlCol="0" anchor="ctr">
            <a:normAutofit/>
          </a:bodyPr>
          <a:lstStyle/>
          <a:p>
            <a:pPr marL="0" indent="0">
              <a:buNone/>
            </a:pPr>
            <a:r>
              <a:rPr sz="1400" b="1">
                <a:solidFill>
                  <a:srgbClr val="0B1437"/>
                </a:solidFill>
                <a:latin typeface="Aptos Display"/>
              </a:rPr>
              <a:t>JPMorgan</a:t>
            </a:r>
            <a:endParaRPr lang="en-US" sz="1400" dirty="0"/>
          </a:p>
        </p:txBody>
      </p:sp>
      <p:sp>
        <p:nvSpPr>
          <p:cNvPr id="12" name="Text 10"/>
          <p:cNvSpPr/>
          <p:nvPr/>
        </p:nvSpPr>
        <p:spPr>
          <a:xfrm>
            <a:off x="3115080" y="5340000"/>
            <a:ext cx="2377440" cy="365760"/>
          </a:xfrm>
          <a:prstGeom prst="rect">
            <a:avLst/>
          </a:prstGeom>
          <a:noFill/>
          <a:ln/>
        </p:spPr>
        <p:txBody>
          <a:bodyPr wrap="square" lIns="0" tIns="0" rIns="0" bIns="0" rtlCol="0" anchor="ctr">
            <a:normAutofit/>
          </a:bodyPr>
          <a:lstStyle/>
          <a:p>
            <a:pPr marL="0" indent="0">
              <a:buNone/>
            </a:pPr>
            <a:r>
              <a:rPr sz="1400" b="1">
                <a:solidFill>
                  <a:srgbClr val="0B1437"/>
                </a:solidFill>
                <a:latin typeface="Aptos Display"/>
              </a:rPr>
              <a:t>Banque TD</a:t>
            </a:r>
            <a:endParaRPr lang="en-US" sz="1400" dirty="0"/>
          </a:p>
        </p:txBody>
      </p:sp>
      <p:sp>
        <p:nvSpPr>
          <p:cNvPr id="13" name="Text 11"/>
          <p:cNvSpPr/>
          <p:nvPr/>
        </p:nvSpPr>
        <p:spPr>
          <a:xfrm>
            <a:off x="5590080" y="5340000"/>
            <a:ext cx="2377440" cy="365760"/>
          </a:xfrm>
          <a:prstGeom prst="rect">
            <a:avLst/>
          </a:prstGeom>
          <a:noFill/>
          <a:ln/>
        </p:spPr>
        <p:txBody>
          <a:bodyPr wrap="square" lIns="0" tIns="0" rIns="0" bIns="0" rtlCol="0" anchor="ctr">
            <a:normAutofit/>
          </a:bodyPr>
          <a:lstStyle/>
          <a:p>
            <a:pPr marL="0" indent="0">
              <a:buNone/>
            </a:pPr>
            <a:r>
              <a:rPr sz="1400" b="1">
                <a:solidFill>
                  <a:srgbClr val="0B1437"/>
                </a:solidFill>
                <a:latin typeface="Aptos Display"/>
              </a:rPr>
              <a:t>Wave</a:t>
            </a:r>
            <a:endParaRPr lang="en-US" sz="1400" dirty="0"/>
          </a:p>
        </p:txBody>
      </p:sp>
      <p:sp>
        <p:nvSpPr>
          <p:cNvPr id="14" name="Text 12"/>
          <p:cNvSpPr/>
          <p:nvPr/>
        </p:nvSpPr>
        <p:spPr>
          <a:xfrm>
            <a:off x="8065080" y="5340000"/>
            <a:ext cx="2377440" cy="365760"/>
          </a:xfrm>
          <a:prstGeom prst="rect">
            <a:avLst/>
          </a:prstGeom>
          <a:noFill/>
          <a:ln/>
        </p:spPr>
        <p:txBody>
          <a:bodyPr wrap="square" lIns="0" tIns="0" rIns="0" bIns="0" rtlCol="0" anchor="ctr">
            <a:normAutofit/>
          </a:bodyPr>
          <a:lstStyle/>
          <a:p>
            <a:pPr marL="0" indent="0">
              <a:buNone/>
            </a:pPr>
            <a:r>
              <a:rPr sz="1400" b="1">
                <a:solidFill>
                  <a:srgbClr val="0B1437"/>
                </a:solidFill>
                <a:latin typeface="Aptos Display"/>
              </a:rPr>
              <a:t>Mantle</a:t>
            </a:r>
            <a:endParaRPr lang="en-US" sz="1400" dirty="0"/>
          </a:p>
        </p:txBody>
      </p:sp>
      <p:sp>
        <p:nvSpPr>
          <p:cNvPr id="15" name="Text 13"/>
          <p:cNvSpPr/>
          <p:nvPr/>
        </p:nvSpPr>
        <p:spPr>
          <a:xfrm>
            <a:off x="640080" y="5680000"/>
            <a:ext cx="2377440" cy="365760"/>
          </a:xfrm>
          <a:prstGeom prst="rect">
            <a:avLst/>
          </a:prstGeom>
          <a:noFill/>
          <a:ln/>
        </p:spPr>
        <p:txBody>
          <a:bodyPr wrap="square" lIns="0" tIns="0" rIns="0" bIns="0" rtlCol="0" anchor="ctr">
            <a:normAutofit/>
          </a:bodyPr>
          <a:lstStyle/>
          <a:p>
            <a:pPr marL="0" indent="0">
              <a:buNone/>
            </a:pPr>
            <a:r>
              <a:rPr sz="1400" b="1">
                <a:solidFill>
                  <a:srgbClr val="0B1437"/>
                </a:solidFill>
                <a:latin typeface="Aptos Display"/>
              </a:rPr>
              <a:t>Interac</a:t>
            </a:r>
            <a:endParaRPr lang="en-US" sz="1400" dirty="0"/>
          </a:p>
        </p:txBody>
      </p:sp>
      <p:sp>
        <p:nvSpPr>
          <p:cNvPr id="16" name="Text 14"/>
          <p:cNvSpPr/>
          <p:nvPr/>
        </p:nvSpPr>
        <p:spPr>
          <a:xfrm>
            <a:off x="640080" y="6130000"/>
            <a:ext cx="5486400" cy="274320"/>
          </a:xfrm>
          <a:prstGeom prst="rect">
            <a:avLst/>
          </a:prstGeom>
          <a:noFill/>
          <a:ln/>
        </p:spPr>
        <p:txBody>
          <a:bodyPr wrap="square" rtlCol="0" anchor="ctr">
            <a:normAutofit/>
          </a:bodyPr>
          <a:lstStyle/>
          <a:p>
            <a:pPr marL="0" indent="0">
              <a:buNone/>
            </a:pPr>
            <a:r>
              <a:rPr sz="1000" b="1">
                <a:solidFill>
                  <a:srgbClr val="6D4AFF"/>
                </a:solidFill>
                <a:latin typeface="JetBrains Mono"/>
              </a:rPr>
              <a:t>PROPOSITION COMMERCIALE</a:t>
            </a:r>
            <a:endParaRPr lang="en-US" sz="1000" dirty="0"/>
          </a:p>
        </p:txBody>
      </p:sp>
      <p:sp>
        <p:nvSpPr>
          <p:cNvPr id="17" name="Text 15"/>
          <p:cNvSpPr/>
          <p:nvPr/>
        </p:nvSpPr>
        <p:spPr>
          <a:xfrm>
            <a:off x="640080" y="6410000"/>
            <a:ext cx="10058400" cy="274320"/>
          </a:xfrm>
          <a:prstGeom prst="rect">
            <a:avLst/>
          </a:prstGeom>
          <a:noFill/>
          <a:ln/>
        </p:spPr>
        <p:txBody>
          <a:bodyPr wrap="square" lIns="0" tIns="0" rIns="0" bIns="0" rtlCol="0" anchor="ctr">
            <a:normAutofit/>
          </a:bodyPr>
          <a:lstStyle/>
          <a:p>
            <a:pPr marL="0" indent="0">
              <a:buNone/>
            </a:pPr>
            <a:r>
              <a:rPr sz="1100">
                <a:solidFill>
                  <a:srgbClr val="475569"/>
                </a:solidFill>
                <a:latin typeface="Aptos"/>
              </a:rPr>
              <a:t>Préparé pour 60 Seconds · À l’attention de Yves Perron · Juin 2026 · Jonathan Racine, VP Opérations et technologie</a:t>
            </a:r>
            <a:endParaRPr lang="en-US" sz="1100" dirty="0"/>
          </a:p>
        </p:txBody>
      </p:sp>
      <p:sp>
        <p:nvSpPr>
          <p:cNvPr id="18" name="Shape 16"/>
          <p:cNvSpPr/>
          <p:nvPr/>
        </p:nvSpPr>
        <p:spPr>
          <a:xfrm>
            <a:off x="7269480" y="1417320"/>
            <a:ext cx="4434840" cy="3291840"/>
          </a:xfrm>
          <a:prstGeom prst="roundRect">
            <a:avLst>
              <a:gd name="adj" fmla="val 2778"/>
            </a:avLst>
          </a:prstGeom>
          <a:solidFill>
            <a:srgbClr val="0B1437"/>
          </a:solidFill>
          <a:ln/>
          <a:effectLst>
            <a:outerShdw blurRad="177800" dist="76200" dir="5400000" algn="bl" rotWithShape="0">
              <a:srgbClr val="0B1437">
                <a:alpha val="22000"/>
              </a:srgbClr>
            </a:outerShdw>
          </a:effectLst>
        </p:spPr>
        <p:txBody>
          <a:bodyPr/>
          <a:lstStyle/>
          <a:p>
            <a:endParaRPr lang="en-US"/>
          </a:p>
        </p:txBody>
      </p:sp>
      <p:sp>
        <p:nvSpPr>
          <p:cNvPr id="19" name="Shape 17"/>
          <p:cNvSpPr/>
          <p:nvPr/>
        </p:nvSpPr>
        <p:spPr>
          <a:xfrm>
            <a:off x="7589520" y="1764792"/>
            <a:ext cx="310896" cy="310896"/>
          </a:xfrm>
          <a:prstGeom prst="ellipse">
            <a:avLst/>
          </a:prstGeom>
          <a:solidFill>
            <a:srgbClr val="7C5CFF"/>
          </a:solidFill>
          <a:ln/>
        </p:spPr>
        <p:txBody>
          <a:bodyPr/>
          <a:lstStyle/>
          <a:p>
            <a:endParaRPr lang="en-US"/>
          </a:p>
        </p:txBody>
      </p:sp>
      <p:sp>
        <p:nvSpPr>
          <p:cNvPr id="20" name="Text 18"/>
          <p:cNvSpPr/>
          <p:nvPr/>
        </p:nvSpPr>
        <p:spPr>
          <a:xfrm>
            <a:off x="8019288" y="1728216"/>
            <a:ext cx="3429000" cy="274320"/>
          </a:xfrm>
          <a:prstGeom prst="rect">
            <a:avLst/>
          </a:prstGeom>
          <a:noFill/>
          <a:ln/>
        </p:spPr>
        <p:txBody>
          <a:bodyPr wrap="square" lIns="0" tIns="0" rIns="0" bIns="0" rtlCol="0" anchor="ctr">
            <a:normAutofit/>
          </a:bodyPr>
          <a:lstStyle/>
          <a:p>
            <a:pPr marL="0" indent="0">
              <a:buNone/>
            </a:pPr>
            <a:r>
              <a:rPr sz="1350" b="1">
                <a:solidFill>
                  <a:srgbClr val="FFFFFF"/>
                </a:solidFill>
                <a:latin typeface="Aptos Display"/>
              </a:rPr>
              <a:t>Paiements 60 Seconds</a:t>
            </a:r>
            <a:endParaRPr lang="en-US" sz="1350" dirty="0"/>
          </a:p>
        </p:txBody>
      </p:sp>
      <p:sp>
        <p:nvSpPr>
          <p:cNvPr id="21" name="Text 19"/>
          <p:cNvSpPr/>
          <p:nvPr/>
        </p:nvSpPr>
        <p:spPr>
          <a:xfrm>
            <a:off x="8019288" y="1993392"/>
            <a:ext cx="3429000" cy="237744"/>
          </a:xfrm>
          <a:prstGeom prst="rect">
            <a:avLst/>
          </a:prstGeom>
          <a:noFill/>
          <a:ln/>
        </p:spPr>
        <p:txBody>
          <a:bodyPr wrap="square" lIns="0" tIns="0" rIns="0" bIns="0" rtlCol="0" anchor="ctr">
            <a:normAutofit/>
          </a:bodyPr>
          <a:lstStyle/>
          <a:p>
            <a:pPr marL="0" indent="0">
              <a:buNone/>
            </a:pPr>
            <a:r>
              <a:rPr sz="950">
                <a:solidFill>
                  <a:srgbClr val="8C97C9"/>
                </a:solidFill>
                <a:latin typeface="Aptos"/>
              </a:rPr>
              <a:t>Paiements sortants · Aujourd’hui</a:t>
            </a:r>
            <a:endParaRPr lang="en-US" sz="950" dirty="0"/>
          </a:p>
        </p:txBody>
      </p:sp>
      <p:sp>
        <p:nvSpPr>
          <p:cNvPr id="22" name="Text 20"/>
          <p:cNvSpPr/>
          <p:nvPr/>
        </p:nvSpPr>
        <p:spPr>
          <a:xfrm>
            <a:off x="10698480" y="1746504"/>
            <a:ext cx="868680" cy="237744"/>
          </a:xfrm>
          <a:prstGeom prst="rect">
            <a:avLst/>
          </a:prstGeom>
          <a:noFill/>
          <a:ln/>
        </p:spPr>
        <p:txBody>
          <a:bodyPr wrap="square" lIns="0" tIns="0" rIns="0" bIns="0" rtlCol="0" anchor="ctr">
            <a:normAutofit/>
          </a:bodyPr>
          <a:lstStyle/>
          <a:p>
            <a:pPr marL="0" indent="0" algn="r">
              <a:buNone/>
            </a:pPr>
            <a:r>
              <a:rPr sz="800">
                <a:solidFill>
                  <a:srgbClr val="34D399"/>
                </a:solidFill>
                <a:latin typeface="JetBrains Mono"/>
              </a:rPr>
              <a:t>● EN DIRECT</a:t>
            </a:r>
            <a:endParaRPr lang="en-US" sz="800" dirty="0"/>
          </a:p>
        </p:txBody>
      </p:sp>
      <p:sp>
        <p:nvSpPr>
          <p:cNvPr id="23" name="Text 21"/>
          <p:cNvSpPr/>
          <p:nvPr/>
        </p:nvSpPr>
        <p:spPr>
          <a:xfrm>
            <a:off x="7589520" y="2377440"/>
            <a:ext cx="3794760" cy="219456"/>
          </a:xfrm>
          <a:prstGeom prst="rect">
            <a:avLst/>
          </a:prstGeom>
          <a:noFill/>
          <a:ln/>
        </p:spPr>
        <p:txBody>
          <a:bodyPr wrap="square" lIns="0" tIns="0" rIns="0" bIns="0" rtlCol="0" anchor="ctr">
            <a:normAutofit/>
          </a:bodyPr>
          <a:lstStyle/>
          <a:p>
            <a:pPr marL="0" indent="0">
              <a:buNone/>
            </a:pPr>
            <a:r>
              <a:rPr sz="800">
                <a:solidFill>
                  <a:srgbClr val="A5B4FC"/>
                </a:solidFill>
                <a:latin typeface="JetBrains Mono"/>
              </a:rPr>
              <a:t>PAIEMENTS TRAITÉS</a:t>
            </a:r>
            <a:endParaRPr lang="en-US" sz="800" dirty="0"/>
          </a:p>
        </p:txBody>
      </p:sp>
      <p:sp>
        <p:nvSpPr>
          <p:cNvPr id="24" name="Text 22"/>
          <p:cNvSpPr/>
          <p:nvPr/>
        </p:nvSpPr>
        <p:spPr>
          <a:xfrm>
            <a:off x="7589520" y="2587752"/>
            <a:ext cx="3794760" cy="365760"/>
          </a:xfrm>
          <a:prstGeom prst="rect">
            <a:avLst/>
          </a:prstGeom>
          <a:noFill/>
          <a:ln/>
        </p:spPr>
        <p:txBody>
          <a:bodyPr wrap="square" lIns="0" tIns="0" rIns="0" bIns="0" rtlCol="0" anchor="ctr">
            <a:normAutofit/>
          </a:bodyPr>
          <a:lstStyle/>
          <a:p>
            <a:pPr marL="0" indent="0">
              <a:buNone/>
            </a:pPr>
            <a:r>
              <a:rPr sz="2000" b="1">
                <a:solidFill>
                  <a:srgbClr val="FFFFFF"/>
                </a:solidFill>
                <a:latin typeface="Aptos Display"/>
              </a:rPr>
              <a:t>Temps réel  ▲ en croissance</a:t>
            </a:r>
            <a:endParaRPr lang="en-US" sz="2000" dirty="0"/>
          </a:p>
        </p:txBody>
      </p:sp>
      <p:pic>
        <p:nvPicPr>
          <p:cNvPr id="25" name="Image 0" descr="assets/spark.png"/>
          <p:cNvPicPr>
            <a:picLocks noChangeAspect="1"/>
          </p:cNvPicPr>
          <p:nvPr/>
        </p:nvPicPr>
        <p:blipFill>
          <a:blip r:embed="rId4"/>
          <a:stretch>
            <a:fillRect/>
          </a:stretch>
        </p:blipFill>
        <p:spPr>
          <a:xfrm>
            <a:off x="7543800" y="3108960"/>
            <a:ext cx="3886200" cy="1143000"/>
          </a:xfrm>
          <a:prstGeom prst="rect">
            <a:avLst/>
          </a:prstGeom>
        </p:spPr>
      </p:pic>
      <p:sp>
        <p:nvSpPr>
          <p:cNvPr id="26" name="Shape 23"/>
          <p:cNvSpPr/>
          <p:nvPr/>
        </p:nvSpPr>
        <p:spPr>
          <a:xfrm>
            <a:off x="7589520" y="4251960"/>
            <a:ext cx="1191768" cy="292608"/>
          </a:xfrm>
          <a:prstGeom prst="roundRect">
            <a:avLst>
              <a:gd name="adj" fmla="val 15625"/>
            </a:avLst>
          </a:prstGeom>
          <a:solidFill>
            <a:srgbClr val="17234E"/>
          </a:solidFill>
          <a:ln/>
        </p:spPr>
        <p:txBody>
          <a:bodyPr/>
          <a:lstStyle/>
          <a:p>
            <a:endParaRPr lang="en-US"/>
          </a:p>
        </p:txBody>
      </p:sp>
      <p:sp>
        <p:nvSpPr>
          <p:cNvPr id="27" name="Text 24"/>
          <p:cNvSpPr/>
          <p:nvPr/>
        </p:nvSpPr>
        <p:spPr>
          <a:xfrm>
            <a:off x="7589520" y="4251960"/>
            <a:ext cx="1191768" cy="292608"/>
          </a:xfrm>
          <a:prstGeom prst="rect">
            <a:avLst/>
          </a:prstGeom>
          <a:noFill/>
          <a:ln/>
        </p:spPr>
        <p:txBody>
          <a:bodyPr wrap="square" lIns="0" tIns="0" rIns="0" bIns="0" rtlCol="0" anchor="ctr">
            <a:normAutofit/>
          </a:bodyPr>
          <a:lstStyle/>
          <a:p>
            <a:pPr marL="0" indent="0" algn="ctr">
              <a:buNone/>
            </a:pPr>
            <a:r>
              <a:rPr sz="700">
                <a:solidFill>
                  <a:srgbClr val="C7D2FE"/>
                </a:solidFill>
                <a:latin typeface="JetBrains Mono"/>
              </a:rPr>
              <a:t>REQ INTERAC</a:t>
            </a:r>
            <a:endParaRPr lang="en-US" sz="700" dirty="0"/>
          </a:p>
        </p:txBody>
      </p:sp>
      <p:sp>
        <p:nvSpPr>
          <p:cNvPr id="28" name="Shape 25"/>
          <p:cNvSpPr/>
          <p:nvPr/>
        </p:nvSpPr>
        <p:spPr>
          <a:xfrm>
            <a:off x="8891016" y="4251960"/>
            <a:ext cx="1191768" cy="292608"/>
          </a:xfrm>
          <a:prstGeom prst="roundRect">
            <a:avLst>
              <a:gd name="adj" fmla="val 15625"/>
            </a:avLst>
          </a:prstGeom>
          <a:solidFill>
            <a:srgbClr val="17234E"/>
          </a:solidFill>
          <a:ln/>
        </p:spPr>
        <p:txBody>
          <a:bodyPr/>
          <a:lstStyle/>
          <a:p>
            <a:endParaRPr lang="en-US"/>
          </a:p>
        </p:txBody>
      </p:sp>
      <p:sp>
        <p:nvSpPr>
          <p:cNvPr id="29" name="Text 26"/>
          <p:cNvSpPr/>
          <p:nvPr/>
        </p:nvSpPr>
        <p:spPr>
          <a:xfrm>
            <a:off x="8891016" y="4251960"/>
            <a:ext cx="1191768" cy="292608"/>
          </a:xfrm>
          <a:prstGeom prst="rect">
            <a:avLst/>
          </a:prstGeom>
          <a:noFill/>
          <a:ln/>
        </p:spPr>
        <p:txBody>
          <a:bodyPr wrap="square" lIns="0" tIns="0" rIns="0" bIns="0" rtlCol="0" anchor="ctr">
            <a:normAutofit/>
          </a:bodyPr>
          <a:lstStyle/>
          <a:p>
            <a:pPr marL="0" indent="0" algn="ctr">
              <a:buNone/>
            </a:pPr>
            <a:r>
              <a:rPr sz="700">
                <a:solidFill>
                  <a:srgbClr val="C7D2FE"/>
                </a:solidFill>
                <a:latin typeface="JetBrains Mono"/>
              </a:rPr>
              <a:t>EFT</a:t>
            </a:r>
            <a:endParaRPr lang="en-US" sz="700" dirty="0"/>
          </a:p>
        </p:txBody>
      </p:sp>
      <p:sp>
        <p:nvSpPr>
          <p:cNvPr id="30" name="Shape 27"/>
          <p:cNvSpPr/>
          <p:nvPr/>
        </p:nvSpPr>
        <p:spPr>
          <a:xfrm>
            <a:off x="10192512" y="4251960"/>
            <a:ext cx="1191768" cy="292608"/>
          </a:xfrm>
          <a:prstGeom prst="roundRect">
            <a:avLst>
              <a:gd name="adj" fmla="val 15625"/>
            </a:avLst>
          </a:prstGeom>
          <a:solidFill>
            <a:srgbClr val="17234E"/>
          </a:solidFill>
          <a:ln/>
        </p:spPr>
        <p:txBody>
          <a:bodyPr/>
          <a:lstStyle/>
          <a:p>
            <a:endParaRPr lang="en-US"/>
          </a:p>
        </p:txBody>
      </p:sp>
      <p:sp>
        <p:nvSpPr>
          <p:cNvPr id="31" name="Text 28"/>
          <p:cNvSpPr/>
          <p:nvPr/>
        </p:nvSpPr>
        <p:spPr>
          <a:xfrm>
            <a:off x="10192512" y="4251960"/>
            <a:ext cx="1191768" cy="292608"/>
          </a:xfrm>
          <a:prstGeom prst="rect">
            <a:avLst/>
          </a:prstGeom>
          <a:noFill/>
          <a:ln/>
        </p:spPr>
        <p:txBody>
          <a:bodyPr wrap="square" lIns="0" tIns="0" rIns="0" bIns="0" rtlCol="0" anchor="ctr">
            <a:normAutofit/>
          </a:bodyPr>
          <a:lstStyle/>
          <a:p>
            <a:pPr marL="0" indent="0" algn="ctr">
              <a:buNone/>
            </a:pPr>
            <a:r>
              <a:rPr sz="700">
                <a:solidFill>
                  <a:srgbClr val="C7D2FE"/>
                </a:solidFill>
                <a:latin typeface="JetBrains Mono"/>
              </a:rPr>
              <a:t>e-TRANSFER</a:t>
            </a:r>
            <a:endParaRPr lang="en-US" sz="700" dirty="0"/>
          </a:p>
        </p:txBody>
      </p:sp>
      <p:sp>
        <p:nvSpPr>
          <p:cNvPr id="32" name="Shape 29"/>
          <p:cNvSpPr/>
          <p:nvPr/>
        </p:nvSpPr>
        <p:spPr>
          <a:xfrm>
            <a:off x="9281160" y="3840480"/>
            <a:ext cx="2560320" cy="1143000"/>
          </a:xfrm>
          <a:prstGeom prst="roundRect">
            <a:avLst>
              <a:gd name="adj" fmla="val 6400"/>
            </a:avLst>
          </a:prstGeom>
          <a:solidFill>
            <a:srgbClr val="FFFFFF"/>
          </a:solidFill>
          <a:ln/>
          <a:effectLst>
            <a:outerShdw blurRad="177800" dist="76200" dir="5400000" algn="bl" rotWithShape="0">
              <a:srgbClr val="0B1437">
                <a:alpha val="22000"/>
              </a:srgbClr>
            </a:outerShdw>
          </a:effectLst>
        </p:spPr>
        <p:txBody>
          <a:bodyPr/>
          <a:lstStyle/>
          <a:p>
            <a:endParaRPr lang="en-US"/>
          </a:p>
        </p:txBody>
      </p:sp>
      <p:sp>
        <p:nvSpPr>
          <p:cNvPr id="33" name="Shape 30"/>
          <p:cNvSpPr/>
          <p:nvPr/>
        </p:nvSpPr>
        <p:spPr>
          <a:xfrm>
            <a:off x="9464040" y="4050792"/>
            <a:ext cx="237744" cy="237744"/>
          </a:xfrm>
          <a:prstGeom prst="ellipse">
            <a:avLst/>
          </a:prstGeom>
          <a:solidFill>
            <a:srgbClr val="10B981"/>
          </a:solidFill>
          <a:ln/>
        </p:spPr>
        <p:txBody>
          <a:bodyPr/>
          <a:lstStyle/>
          <a:p>
            <a:endParaRPr lang="en-US"/>
          </a:p>
        </p:txBody>
      </p:sp>
      <p:sp>
        <p:nvSpPr>
          <p:cNvPr id="34" name="Text 31"/>
          <p:cNvSpPr/>
          <p:nvPr/>
        </p:nvSpPr>
        <p:spPr>
          <a:xfrm>
            <a:off x="9784080" y="4032504"/>
            <a:ext cx="1463040" cy="219456"/>
          </a:xfrm>
          <a:prstGeom prst="rect">
            <a:avLst/>
          </a:prstGeom>
          <a:noFill/>
          <a:ln/>
        </p:spPr>
        <p:txBody>
          <a:bodyPr wrap="square" lIns="0" tIns="0" rIns="0" bIns="0" rtlCol="0" anchor="ctr">
            <a:normAutofit/>
          </a:bodyPr>
          <a:lstStyle/>
          <a:p>
            <a:pPr marL="0" indent="0">
              <a:buNone/>
            </a:pPr>
            <a:r>
              <a:rPr sz="850" b="1">
                <a:solidFill>
                  <a:srgbClr val="059669"/>
                </a:solidFill>
                <a:latin typeface="JetBrains Mono"/>
              </a:rPr>
              <a:t>VERSÉ</a:t>
            </a:r>
            <a:endParaRPr lang="en-US" sz="850" dirty="0"/>
          </a:p>
        </p:txBody>
      </p:sp>
      <p:sp>
        <p:nvSpPr>
          <p:cNvPr id="35" name="Text 32"/>
          <p:cNvSpPr/>
          <p:nvPr/>
        </p:nvSpPr>
        <p:spPr>
          <a:xfrm>
            <a:off x="9784080" y="4233672"/>
            <a:ext cx="1828800" cy="219456"/>
          </a:xfrm>
          <a:prstGeom prst="rect">
            <a:avLst/>
          </a:prstGeom>
          <a:noFill/>
          <a:ln/>
        </p:spPr>
        <p:txBody>
          <a:bodyPr wrap="square" lIns="0" tIns="0" rIns="0" bIns="0" rtlCol="0" anchor="ctr">
            <a:normAutofit/>
          </a:bodyPr>
          <a:lstStyle/>
          <a:p>
            <a:pPr marL="0" indent="0">
              <a:buNone/>
            </a:pPr>
            <a:r>
              <a:rPr sz="850">
                <a:solidFill>
                  <a:srgbClr val="64748B"/>
                </a:solidFill>
                <a:latin typeface="Aptos"/>
              </a:rPr>
              <a:t>Paiement fournisseur</a:t>
            </a:r>
            <a:endParaRPr lang="en-US" sz="850" dirty="0"/>
          </a:p>
        </p:txBody>
      </p:sp>
      <p:sp>
        <p:nvSpPr>
          <p:cNvPr id="36" name="Text 33"/>
          <p:cNvSpPr/>
          <p:nvPr/>
        </p:nvSpPr>
        <p:spPr>
          <a:xfrm>
            <a:off x="9464040" y="4453128"/>
            <a:ext cx="1554480" cy="274320"/>
          </a:xfrm>
          <a:prstGeom prst="rect">
            <a:avLst/>
          </a:prstGeom>
          <a:noFill/>
          <a:ln/>
        </p:spPr>
        <p:txBody>
          <a:bodyPr wrap="square" lIns="0" tIns="0" rIns="0" bIns="0" rtlCol="0" anchor="ctr">
            <a:normAutofit/>
          </a:bodyPr>
          <a:lstStyle/>
          <a:p>
            <a:pPr marL="0" indent="0">
              <a:buNone/>
            </a:pPr>
            <a:r>
              <a:rPr sz="1600" b="1">
                <a:solidFill>
                  <a:srgbClr val="0B1437"/>
                </a:solidFill>
                <a:latin typeface="Aptos Display"/>
              </a:rPr>
              <a:t>4 250,00 $</a:t>
            </a:r>
            <a:endParaRPr lang="en-US" sz="1600" dirty="0"/>
          </a:p>
        </p:txBody>
      </p:sp>
      <p:sp>
        <p:nvSpPr>
          <p:cNvPr id="37" name="Text 34"/>
          <p:cNvSpPr/>
          <p:nvPr/>
        </p:nvSpPr>
        <p:spPr>
          <a:xfrm>
            <a:off x="10835640" y="4507992"/>
            <a:ext cx="822960" cy="219456"/>
          </a:xfrm>
          <a:prstGeom prst="rect">
            <a:avLst/>
          </a:prstGeom>
          <a:noFill/>
          <a:ln/>
        </p:spPr>
        <p:txBody>
          <a:bodyPr wrap="square" lIns="0" tIns="0" rIns="0" bIns="0" rtlCol="0" anchor="ctr">
            <a:normAutofit/>
          </a:bodyPr>
          <a:lstStyle/>
          <a:p>
            <a:pPr marL="0" indent="0" algn="r">
              <a:buNone/>
            </a:pPr>
            <a:r>
              <a:rPr sz="800">
                <a:solidFill>
                  <a:srgbClr val="64748B"/>
                </a:solidFill>
                <a:latin typeface="Aptos"/>
              </a:rPr>
              <a:t>EFT</a:t>
            </a:r>
            <a:endParaRPr lang="en-US" sz="800" dirty="0"/>
          </a:p>
        </p:txBody>
      </p:sp>
      <p:sp>
        <p:nvSpPr>
          <p:cNvPr id="38" name="Text 13"/>
          <p:cNvSpPr/>
          <p:nvPr/>
        </p:nvSpPr>
        <p:spPr>
          <a:xfrm>
            <a:off x="3115080" y="5680000"/>
            <a:ext cx="2377440" cy="365760"/>
          </a:xfrm>
          <a:prstGeom prst="rect">
            <a:avLst/>
          </a:prstGeom>
          <a:noFill/>
          <a:ln/>
        </p:spPr>
        <p:txBody>
          <a:bodyPr wrap="square" lIns="0" tIns="0" rIns="0" bIns="0" rtlCol="0" anchor="ctr">
            <a:normAutofit/>
          </a:bodyPr>
          <a:lstStyle/>
          <a:p>
            <a:pPr marL="0" indent="0">
              <a:buNone/>
            </a:pPr>
            <a:r>
              <a:rPr sz="1400" b="1">
                <a:solidFill>
                  <a:srgbClr val="0B1437"/>
                </a:solidFill>
                <a:latin typeface="Aptos Display"/>
              </a:rPr>
              <a:t>e-Transfer</a:t>
            </a:r>
            <a:endParaRPr lang="en-US" sz="1400" dirty="0"/>
          </a:p>
        </p:txBody>
      </p:sp>
      <p:sp>
        <p:nvSpPr>
          <p:cNvPr id="39" name="Text 13"/>
          <p:cNvSpPr/>
          <p:nvPr/>
        </p:nvSpPr>
        <p:spPr>
          <a:xfrm>
            <a:off x="5590080" y="5680000"/>
            <a:ext cx="2377440" cy="365760"/>
          </a:xfrm>
          <a:prstGeom prst="rect">
            <a:avLst/>
          </a:prstGeom>
          <a:noFill/>
          <a:ln/>
        </p:spPr>
        <p:txBody>
          <a:bodyPr wrap="square" lIns="0" tIns="0" rIns="0" bIns="0" rtlCol="0" anchor="ctr">
            <a:normAutofit/>
          </a:bodyPr>
          <a:lstStyle/>
          <a:p>
            <a:pPr marL="0" indent="0">
              <a:buNone/>
            </a:pPr>
            <a:r>
              <a:rPr sz="1400" b="1">
                <a:solidFill>
                  <a:srgbClr val="0B1437"/>
                </a:solidFill>
                <a:latin typeface="Aptos Display"/>
              </a:rPr>
              <a:t>RPAA</a:t>
            </a:r>
            <a:endParaRPr lang="en-US" sz="1400" dirty="0"/>
          </a:p>
        </p:txBody>
      </p:sp>
      <p:sp>
        <p:nvSpPr>
          <p:cNvPr id="40" name="Text 13"/>
          <p:cNvSpPr/>
          <p:nvPr/>
        </p:nvSpPr>
        <p:spPr>
          <a:xfrm>
            <a:off x="8065080" y="5680000"/>
            <a:ext cx="2377440" cy="365760"/>
          </a:xfrm>
          <a:prstGeom prst="rect">
            <a:avLst/>
          </a:prstGeom>
          <a:noFill/>
          <a:ln/>
        </p:spPr>
        <p:txBody>
          <a:bodyPr wrap="square" lIns="0" tIns="0" rIns="0" bIns="0" rtlCol="0" anchor="ctr">
            <a:normAutofit/>
          </a:bodyPr>
          <a:lstStyle/>
          <a:p>
            <a:pPr marL="0" indent="0">
              <a:buNone/>
            </a:pPr>
            <a:r>
              <a:rPr sz="1400" b="1">
                <a:solidFill>
                  <a:srgbClr val="0B1437"/>
                </a:solidFill>
                <a:latin typeface="Aptos Display"/>
              </a:rPr>
              <a:t>CANAFE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256032"/>
          </a:xfrm>
          <a:prstGeom prst="rect">
            <a:avLst/>
          </a:prstGeom>
          <a:noFill/>
          <a:ln/>
        </p:spPr>
        <p:txBody>
          <a:bodyPr wrap="square" rtlCol="0" anchor="ctr">
            <a:normAutofit/>
          </a:bodyPr>
          <a:lstStyle/>
          <a:p>
            <a:pPr marL="0" indent="0">
              <a:buNone/>
            </a:pPr>
            <a:r>
              <a:rPr sz="1100" b="1">
                <a:solidFill>
                  <a:srgbClr val="2563EB"/>
                </a:solidFill>
                <a:latin typeface="JetBrains Mono"/>
              </a:rPr>
              <a:t>DREAM PAYMENTS</a:t>
            </a:r>
            <a:endParaRPr lang="en-US" sz="1100" dirty="0"/>
          </a:p>
        </p:txBody>
      </p:sp>
      <p:sp>
        <p:nvSpPr>
          <p:cNvPr id="3" name="Text 1"/>
          <p:cNvSpPr/>
          <p:nvPr/>
        </p:nvSpPr>
        <p:spPr>
          <a:xfrm>
            <a:off x="640080" y="749808"/>
            <a:ext cx="8229600" cy="237744"/>
          </a:xfrm>
          <a:prstGeom prst="rect">
            <a:avLst/>
          </a:prstGeom>
          <a:noFill/>
          <a:ln/>
        </p:spPr>
        <p:txBody>
          <a:bodyPr wrap="square" rtlCol="0" anchor="ctr">
            <a:normAutofit/>
          </a:bodyPr>
          <a:lstStyle/>
          <a:p>
            <a:pPr marL="0" indent="0">
              <a:buNone/>
            </a:pPr>
            <a:r>
              <a:rPr sz="950">
                <a:solidFill>
                  <a:srgbClr val="64748B"/>
                </a:solidFill>
                <a:latin typeface="JetBrains Mono"/>
              </a:rPr>
              <a:t>00 · RÉSUMÉ EXÉCUTIF</a:t>
            </a:r>
            <a:endParaRPr lang="en-US" sz="950" dirty="0"/>
          </a:p>
        </p:txBody>
      </p:sp>
      <p:sp>
        <p:nvSpPr>
          <p:cNvPr id="4" name="Shape 2"/>
          <p:cNvSpPr/>
          <p:nvPr/>
        </p:nvSpPr>
        <p:spPr>
          <a:xfrm>
            <a:off x="640080" y="1078992"/>
            <a:ext cx="10911535" cy="0"/>
          </a:xfrm>
          <a:prstGeom prst="line">
            <a:avLst/>
          </a:prstGeom>
          <a:noFill/>
          <a:ln w="12700">
            <a:solidFill>
              <a:srgbClr val="E6EBF2"/>
            </a:solidFill>
            <a:prstDash val="solid"/>
          </a:ln>
        </p:spPr>
        <p:txBody>
          <a:bodyPr/>
          <a:lstStyle/>
          <a:p>
            <a:endParaRPr lang="en-US"/>
          </a:p>
        </p:txBody>
      </p:sp>
      <p:sp>
        <p:nvSpPr>
          <p:cNvPr id="5" name="Text 3"/>
          <p:cNvSpPr/>
          <p:nvPr/>
        </p:nvSpPr>
        <p:spPr>
          <a:xfrm>
            <a:off x="640080" y="1298448"/>
            <a:ext cx="10911535" cy="566928"/>
          </a:xfrm>
          <a:prstGeom prst="rect">
            <a:avLst/>
          </a:prstGeom>
          <a:noFill/>
          <a:ln/>
        </p:spPr>
        <p:txBody>
          <a:bodyPr wrap="square" lIns="0" tIns="0" rIns="0" bIns="0" rtlCol="0" anchor="ctr">
            <a:normAutofit/>
          </a:bodyPr>
          <a:lstStyle/>
          <a:p>
            <a:pPr marL="0" indent="0">
              <a:buNone/>
            </a:pPr>
            <a:r>
              <a:rPr sz="2700" b="1">
                <a:solidFill>
                  <a:srgbClr val="0B1437"/>
                </a:solidFill>
                <a:latin typeface="Aptos Display"/>
              </a:rPr>
              <a:t>Le hub de paiements d’affaires 60 Seconds.</a:t>
            </a:r>
          </a:p>
        </p:txBody>
      </p:sp>
      <p:sp>
        <p:nvSpPr>
          <p:cNvPr id="6" name="Text 4"/>
          <p:cNvSpPr/>
          <p:nvPr/>
        </p:nvSpPr>
        <p:spPr>
          <a:xfrm>
            <a:off x="640080" y="1874520"/>
            <a:ext cx="10728655" cy="420000"/>
          </a:xfrm>
          <a:prstGeom prst="rect">
            <a:avLst/>
          </a:prstGeom>
          <a:noFill/>
          <a:ln/>
        </p:spPr>
        <p:txBody>
          <a:bodyPr wrap="square" lIns="0" tIns="0" rIns="0" bIns="0" anchor="t">
            <a:normAutofit/>
          </a:bodyPr>
          <a:lstStyle/>
          <a:p>
            <a:pPr algn="l">
              <a:lnSpc>
                <a:spcPct val="108000"/>
              </a:lnSpc>
              <a:buNone/>
            </a:pPr>
            <a:r>
              <a:rPr sz="1200">
                <a:solidFill>
                  <a:srgbClr val="64748B"/>
                </a:solidFill>
                <a:latin typeface="Aptos"/>
              </a:rPr>
              <a:t>Une plateforme bidirectionnelle : encaisser auprès des PME clientes et payer fournisseurs et employés, entièrement par API, avec chaque paiement vérifié KYC, protégé, rapproché et conforme en CAD.</a:t>
            </a:r>
          </a:p>
        </p:txBody>
      </p:sp>
      <p:sp>
        <p:nvSpPr>
          <p:cNvPr id="21" name="Text 17"/>
          <p:cNvSpPr/>
          <p:nvPr/>
        </p:nvSpPr>
        <p:spPr>
          <a:xfrm>
            <a:off x="640080" y="6455664"/>
            <a:ext cx="9144000" cy="274320"/>
          </a:xfrm>
          <a:prstGeom prst="rect">
            <a:avLst/>
          </a:prstGeom>
          <a:noFill/>
          <a:ln/>
        </p:spPr>
        <p:txBody>
          <a:bodyPr wrap="square" rtlCol="0" anchor="ctr">
            <a:normAutofit/>
          </a:bodyPr>
          <a:lstStyle/>
          <a:p>
            <a:pPr marL="0" indent="0">
              <a:buNone/>
            </a:pPr>
            <a:r>
              <a:rPr sz="750">
                <a:solidFill>
                  <a:srgbClr val="94A3B8"/>
                </a:solidFill>
                <a:latin typeface="JetBrains Mono"/>
              </a:rPr>
              <a:t>DREAM PAYMENTS  ·  HUB DE PAIEMENTS D’AFFAIRES  ·  PROPOSITION COMMERCIALE</a:t>
            </a:r>
            <a:endParaRPr lang="en-US" sz="750" dirty="0"/>
          </a:p>
        </p:txBody>
      </p:sp>
      <p:sp>
        <p:nvSpPr>
          <p:cNvPr id="22" name="Text 18"/>
          <p:cNvSpPr/>
          <p:nvPr/>
        </p:nvSpPr>
        <p:spPr>
          <a:xfrm>
            <a:off x="10637215" y="6455664"/>
            <a:ext cx="914400" cy="274320"/>
          </a:xfrm>
          <a:prstGeom prst="rect">
            <a:avLst/>
          </a:prstGeom>
          <a:noFill/>
          <a:ln/>
        </p:spPr>
        <p:txBody>
          <a:bodyPr wrap="square" rtlCol="0" anchor="ctr">
            <a:normAutofit/>
          </a:bodyPr>
          <a:lstStyle/>
          <a:p>
            <a:pPr marL="0" indent="0" algn="r">
              <a:buNone/>
            </a:pPr>
            <a:r>
              <a:rPr sz="800" b="1">
                <a:solidFill>
                  <a:srgbClr val="2563EB"/>
                </a:solidFill>
                <a:latin typeface="JetBrains Mono"/>
              </a:rPr>
              <a:t>02</a:t>
            </a:r>
            <a:endParaRPr lang="en-US" sz="800" dirty="0"/>
          </a:p>
        </p:txBody>
      </p:sp>
      <p:sp>
        <p:nvSpPr>
          <p:cNvPr id="701" name="r"/>
          <p:cNvSpPr/>
          <p:nvPr/>
        </p:nvSpPr>
        <p:spPr>
          <a:xfrm>
            <a:off x="640080" y="2316480"/>
            <a:ext cx="2590723" cy="2987040"/>
          </a:xfrm>
          <a:prstGeom prst="rect">
            <a:avLst/>
          </a:prstGeom>
          <a:solidFill>
            <a:srgbClr val="F8FAFC"/>
          </a:solidFill>
          <a:ln w="9525">
            <a:solidFill>
              <a:srgbClr val="E2E8F0"/>
            </a:solidFill>
            <a:prstDash val="solid"/>
          </a:ln>
        </p:spPr>
        <p:txBody>
          <a:bodyPr/>
          <a:lstStyle/>
          <a:p>
            <a:endParaRPr lang="en-US"/>
          </a:p>
        </p:txBody>
      </p:sp>
      <p:sp>
        <p:nvSpPr>
          <p:cNvPr id="702" name="r"/>
          <p:cNvSpPr/>
          <p:nvPr/>
        </p:nvSpPr>
        <p:spPr>
          <a:xfrm>
            <a:off x="640080" y="2316480"/>
            <a:ext cx="2590723" cy="73152"/>
          </a:xfrm>
          <a:prstGeom prst="rect">
            <a:avLst/>
          </a:prstGeom>
          <a:solidFill>
            <a:srgbClr val="2563EB"/>
          </a:solidFill>
          <a:ln>
            <a:noFill/>
          </a:ln>
        </p:spPr>
        <p:txBody>
          <a:bodyPr/>
          <a:lstStyle/>
          <a:p>
            <a:endParaRPr lang="en-US"/>
          </a:p>
        </p:txBody>
      </p:sp>
      <p:pic>
        <p:nvPicPr>
          <p:cNvPr id="703" name="icon"/>
          <p:cNvPicPr>
            <a:picLocks noChangeAspect="1"/>
          </p:cNvPicPr>
          <p:nvPr/>
        </p:nvPicPr>
        <p:blipFill>
          <a:blip r:embed="rId3"/>
          <a:stretch>
            <a:fillRect/>
          </a:stretch>
        </p:blipFill>
        <p:spPr>
          <a:xfrm>
            <a:off x="1661121" y="2584704"/>
            <a:ext cx="548640" cy="548640"/>
          </a:xfrm>
          <a:prstGeom prst="rect">
            <a:avLst/>
          </a:prstGeom>
        </p:spPr>
      </p:pic>
      <p:sp>
        <p:nvSpPr>
          <p:cNvPr id="704" name="t"/>
          <p:cNvSpPr txBox="1"/>
          <p:nvPr/>
        </p:nvSpPr>
        <p:spPr>
          <a:xfrm>
            <a:off x="640080" y="3267456"/>
            <a:ext cx="2590723" cy="268224"/>
          </a:xfrm>
          <a:prstGeom prst="rect">
            <a:avLst/>
          </a:prstGeom>
          <a:noFill/>
        </p:spPr>
        <p:txBody>
          <a:bodyPr wrap="square" lIns="0" tIns="0" rIns="0" bIns="0" rtlCol="0" anchor="t">
            <a:normAutofit/>
          </a:bodyPr>
          <a:lstStyle/>
          <a:p>
            <a:pPr algn="ctr">
              <a:buNone/>
            </a:pPr>
            <a:r>
              <a:rPr sz="1200" b="1">
                <a:solidFill>
                  <a:srgbClr val="2563EB"/>
                </a:solidFill>
                <a:latin typeface="Aptos"/>
              </a:rPr>
              <a:t>BIDIRECTIONNEL</a:t>
            </a:r>
          </a:p>
        </p:txBody>
      </p:sp>
      <p:sp>
        <p:nvSpPr>
          <p:cNvPr id="705" name="t"/>
          <p:cNvSpPr txBox="1"/>
          <p:nvPr/>
        </p:nvSpPr>
        <p:spPr>
          <a:xfrm>
            <a:off x="640080" y="3633216"/>
            <a:ext cx="2590723" cy="792480"/>
          </a:xfrm>
          <a:prstGeom prst="rect">
            <a:avLst/>
          </a:prstGeom>
          <a:noFill/>
        </p:spPr>
        <p:txBody>
          <a:bodyPr wrap="square" lIns="0" tIns="0" rIns="0" bIns="0" rtlCol="0" anchor="t">
            <a:normAutofit/>
          </a:bodyPr>
          <a:lstStyle/>
          <a:p>
            <a:pPr algn="ctr">
              <a:lnSpc>
                <a:spcPct val="104000"/>
              </a:lnSpc>
              <a:buNone/>
            </a:pPr>
            <a:r>
              <a:rPr sz="1867" b="1">
                <a:solidFill>
                  <a:srgbClr val="0B1437"/>
                </a:solidFill>
                <a:latin typeface="Aptos Display"/>
              </a:rPr>
              <a:t>Encaissements entrants, paiements sortants.</a:t>
            </a:r>
          </a:p>
        </p:txBody>
      </p:sp>
      <p:sp>
        <p:nvSpPr>
          <p:cNvPr id="706" name="t"/>
          <p:cNvSpPr txBox="1"/>
          <p:nvPr/>
        </p:nvSpPr>
        <p:spPr>
          <a:xfrm>
            <a:off x="640080" y="4381292"/>
            <a:ext cx="2590723" cy="755904"/>
          </a:xfrm>
          <a:prstGeom prst="rect">
            <a:avLst/>
          </a:prstGeom>
          <a:noFill/>
        </p:spPr>
        <p:txBody>
          <a:bodyPr wrap="square" lIns="0" tIns="0" rIns="0" bIns="0" rtlCol="0" anchor="t">
            <a:normAutofit/>
          </a:bodyPr>
          <a:lstStyle/>
          <a:p>
            <a:pPr algn="ctr">
              <a:lnSpc>
                <a:spcPct val="106000"/>
              </a:lnSpc>
              <a:buNone/>
            </a:pPr>
            <a:r>
              <a:rPr sz="1200" b="1">
                <a:solidFill>
                  <a:srgbClr val="64748B"/>
                </a:solidFill>
                <a:latin typeface="Aptos"/>
              </a:rPr>
              <a:t>La demande Interac e-Transfer encaisse auprès des PME clientes; EFT et e-Transfer paient fournisseurs et employés.</a:t>
            </a:r>
          </a:p>
        </p:txBody>
      </p:sp>
      <p:sp>
        <p:nvSpPr>
          <p:cNvPr id="707" name="r"/>
          <p:cNvSpPr/>
          <p:nvPr/>
        </p:nvSpPr>
        <p:spPr>
          <a:xfrm>
            <a:off x="3413683" y="2316480"/>
            <a:ext cx="2590723" cy="2987040"/>
          </a:xfrm>
          <a:prstGeom prst="rect">
            <a:avLst/>
          </a:prstGeom>
          <a:solidFill>
            <a:srgbClr val="F8FAFC"/>
          </a:solidFill>
          <a:ln w="9525">
            <a:solidFill>
              <a:srgbClr val="E2E8F0"/>
            </a:solidFill>
            <a:prstDash val="solid"/>
          </a:ln>
        </p:spPr>
        <p:txBody>
          <a:bodyPr/>
          <a:lstStyle/>
          <a:p>
            <a:endParaRPr lang="en-US"/>
          </a:p>
        </p:txBody>
      </p:sp>
      <p:sp>
        <p:nvSpPr>
          <p:cNvPr id="708" name="r"/>
          <p:cNvSpPr/>
          <p:nvPr/>
        </p:nvSpPr>
        <p:spPr>
          <a:xfrm>
            <a:off x="3413683" y="2316480"/>
            <a:ext cx="2590723" cy="73152"/>
          </a:xfrm>
          <a:prstGeom prst="rect">
            <a:avLst/>
          </a:prstGeom>
          <a:solidFill>
            <a:srgbClr val="2563EB"/>
          </a:solidFill>
          <a:ln>
            <a:noFill/>
          </a:ln>
        </p:spPr>
        <p:txBody>
          <a:bodyPr/>
          <a:lstStyle/>
          <a:p>
            <a:endParaRPr lang="en-US"/>
          </a:p>
        </p:txBody>
      </p:sp>
      <p:pic>
        <p:nvPicPr>
          <p:cNvPr id="709" name="icon"/>
          <p:cNvPicPr>
            <a:picLocks noChangeAspect="1"/>
          </p:cNvPicPr>
          <p:nvPr/>
        </p:nvPicPr>
        <p:blipFill>
          <a:blip r:embed="rId4"/>
          <a:stretch>
            <a:fillRect/>
          </a:stretch>
        </p:blipFill>
        <p:spPr>
          <a:xfrm>
            <a:off x="4434724" y="2584704"/>
            <a:ext cx="548640" cy="548640"/>
          </a:xfrm>
          <a:prstGeom prst="rect">
            <a:avLst/>
          </a:prstGeom>
        </p:spPr>
      </p:pic>
      <p:sp>
        <p:nvSpPr>
          <p:cNvPr id="710" name="t"/>
          <p:cNvSpPr txBox="1"/>
          <p:nvPr/>
        </p:nvSpPr>
        <p:spPr>
          <a:xfrm>
            <a:off x="3413683" y="3267456"/>
            <a:ext cx="2590723" cy="268224"/>
          </a:xfrm>
          <a:prstGeom prst="rect">
            <a:avLst/>
          </a:prstGeom>
          <a:noFill/>
        </p:spPr>
        <p:txBody>
          <a:bodyPr wrap="square" lIns="0" tIns="0" rIns="0" bIns="0" rtlCol="0" anchor="t">
            <a:normAutofit/>
          </a:bodyPr>
          <a:lstStyle/>
          <a:p>
            <a:pPr algn="ctr">
              <a:buNone/>
            </a:pPr>
            <a:r>
              <a:rPr sz="1200" b="1">
                <a:solidFill>
                  <a:srgbClr val="2563EB"/>
                </a:solidFill>
                <a:latin typeface="Aptos"/>
              </a:rPr>
              <a:t>PROTÉGÉ</a:t>
            </a:r>
          </a:p>
        </p:txBody>
      </p:sp>
      <p:sp>
        <p:nvSpPr>
          <p:cNvPr id="711" name="t"/>
          <p:cNvSpPr txBox="1"/>
          <p:nvPr/>
        </p:nvSpPr>
        <p:spPr>
          <a:xfrm>
            <a:off x="3413683" y="3633216"/>
            <a:ext cx="2590723" cy="792480"/>
          </a:xfrm>
          <a:prstGeom prst="rect">
            <a:avLst/>
          </a:prstGeom>
          <a:noFill/>
        </p:spPr>
        <p:txBody>
          <a:bodyPr wrap="square" lIns="0" tIns="0" rIns="0" bIns="0" rtlCol="0" anchor="t">
            <a:normAutofit/>
          </a:bodyPr>
          <a:lstStyle/>
          <a:p>
            <a:pPr algn="ctr">
              <a:lnSpc>
                <a:spcPct val="104000"/>
              </a:lnSpc>
              <a:buNone/>
            </a:pPr>
            <a:r>
              <a:rPr sz="1867" b="1">
                <a:solidFill>
                  <a:srgbClr val="0B1437"/>
                </a:solidFill>
                <a:latin typeface="Aptos Display"/>
              </a:rPr>
              <a:t>Fonds séparés et protégés.</a:t>
            </a:r>
          </a:p>
        </p:txBody>
      </p:sp>
      <p:sp>
        <p:nvSpPr>
          <p:cNvPr id="712" name="t"/>
          <p:cNvSpPr txBox="1"/>
          <p:nvPr/>
        </p:nvSpPr>
        <p:spPr>
          <a:xfrm>
            <a:off x="3413683" y="4381292"/>
            <a:ext cx="2590723" cy="755904"/>
          </a:xfrm>
          <a:prstGeom prst="rect">
            <a:avLst/>
          </a:prstGeom>
          <a:noFill/>
        </p:spPr>
        <p:txBody>
          <a:bodyPr wrap="square" lIns="0" tIns="0" rIns="0" bIns="0" rtlCol="0" anchor="t">
            <a:normAutofit/>
          </a:bodyPr>
          <a:lstStyle/>
          <a:p>
            <a:pPr algn="ctr">
              <a:lnSpc>
                <a:spcPct val="106000"/>
              </a:lnSpc>
              <a:buNone/>
            </a:pPr>
            <a:r>
              <a:rPr sz="1200" b="1">
                <a:solidFill>
                  <a:srgbClr val="64748B"/>
                </a:solidFill>
                <a:latin typeface="Aptos"/>
              </a:rPr>
              <a:t>Les fonds clients sont détenus dans des comptes séparés auprès d’une banque canadienne de premier rang, protégés selon la RPAA.</a:t>
            </a:r>
          </a:p>
        </p:txBody>
      </p:sp>
      <p:sp>
        <p:nvSpPr>
          <p:cNvPr id="713" name="r"/>
          <p:cNvSpPr/>
          <p:nvPr/>
        </p:nvSpPr>
        <p:spPr>
          <a:xfrm>
            <a:off x="6187286" y="2316480"/>
            <a:ext cx="2590723" cy="2987040"/>
          </a:xfrm>
          <a:prstGeom prst="rect">
            <a:avLst/>
          </a:prstGeom>
          <a:solidFill>
            <a:srgbClr val="F8FAFC"/>
          </a:solidFill>
          <a:ln w="9525">
            <a:solidFill>
              <a:srgbClr val="E2E8F0"/>
            </a:solidFill>
            <a:prstDash val="solid"/>
          </a:ln>
        </p:spPr>
        <p:txBody>
          <a:bodyPr/>
          <a:lstStyle/>
          <a:p>
            <a:endParaRPr lang="en-US"/>
          </a:p>
        </p:txBody>
      </p:sp>
      <p:sp>
        <p:nvSpPr>
          <p:cNvPr id="714" name="r"/>
          <p:cNvSpPr/>
          <p:nvPr/>
        </p:nvSpPr>
        <p:spPr>
          <a:xfrm>
            <a:off x="6187286" y="2316480"/>
            <a:ext cx="2590723" cy="73152"/>
          </a:xfrm>
          <a:prstGeom prst="rect">
            <a:avLst/>
          </a:prstGeom>
          <a:solidFill>
            <a:srgbClr val="2563EB"/>
          </a:solidFill>
          <a:ln>
            <a:noFill/>
          </a:ln>
        </p:spPr>
        <p:txBody>
          <a:bodyPr/>
          <a:lstStyle/>
          <a:p>
            <a:endParaRPr lang="en-US"/>
          </a:p>
        </p:txBody>
      </p:sp>
      <p:pic>
        <p:nvPicPr>
          <p:cNvPr id="715" name="icon"/>
          <p:cNvPicPr>
            <a:picLocks noChangeAspect="1"/>
          </p:cNvPicPr>
          <p:nvPr/>
        </p:nvPicPr>
        <p:blipFill>
          <a:blip r:embed="rId5"/>
          <a:stretch>
            <a:fillRect/>
          </a:stretch>
        </p:blipFill>
        <p:spPr>
          <a:xfrm>
            <a:off x="7208327" y="2584704"/>
            <a:ext cx="548640" cy="548640"/>
          </a:xfrm>
          <a:prstGeom prst="rect">
            <a:avLst/>
          </a:prstGeom>
        </p:spPr>
      </p:pic>
      <p:sp>
        <p:nvSpPr>
          <p:cNvPr id="716" name="t"/>
          <p:cNvSpPr txBox="1"/>
          <p:nvPr/>
        </p:nvSpPr>
        <p:spPr>
          <a:xfrm>
            <a:off x="6187286" y="3267456"/>
            <a:ext cx="2590723" cy="268224"/>
          </a:xfrm>
          <a:prstGeom prst="rect">
            <a:avLst/>
          </a:prstGeom>
          <a:noFill/>
        </p:spPr>
        <p:txBody>
          <a:bodyPr wrap="square" lIns="0" tIns="0" rIns="0" bIns="0" rtlCol="0" anchor="t">
            <a:normAutofit/>
          </a:bodyPr>
          <a:lstStyle/>
          <a:p>
            <a:pPr algn="ctr">
              <a:buNone/>
            </a:pPr>
            <a:r>
              <a:rPr sz="1200" b="1">
                <a:solidFill>
                  <a:srgbClr val="2563EB"/>
                </a:solidFill>
                <a:latin typeface="Aptos"/>
              </a:rPr>
              <a:t>BILINGUE</a:t>
            </a:r>
          </a:p>
        </p:txBody>
      </p:sp>
      <p:sp>
        <p:nvSpPr>
          <p:cNvPr id="717" name="t"/>
          <p:cNvSpPr txBox="1"/>
          <p:nvPr/>
        </p:nvSpPr>
        <p:spPr>
          <a:xfrm>
            <a:off x="6187286" y="3633216"/>
            <a:ext cx="2590723" cy="792480"/>
          </a:xfrm>
          <a:prstGeom prst="rect">
            <a:avLst/>
          </a:prstGeom>
          <a:noFill/>
        </p:spPr>
        <p:txBody>
          <a:bodyPr wrap="square" lIns="0" tIns="0" rIns="0" bIns="0" rtlCol="0" anchor="t">
            <a:normAutofit/>
          </a:bodyPr>
          <a:lstStyle/>
          <a:p>
            <a:pPr algn="ctr">
              <a:lnSpc>
                <a:spcPct val="104000"/>
              </a:lnSpc>
              <a:buNone/>
            </a:pPr>
            <a:r>
              <a:rPr sz="1867" b="1">
                <a:solidFill>
                  <a:srgbClr val="0B1437"/>
                </a:solidFill>
                <a:latin typeface="Aptos Display"/>
              </a:rPr>
              <a:t>Conçu pour le Québec et l’Ontario.</a:t>
            </a:r>
          </a:p>
        </p:txBody>
      </p:sp>
      <p:sp>
        <p:nvSpPr>
          <p:cNvPr id="718" name="t"/>
          <p:cNvSpPr txBox="1"/>
          <p:nvPr/>
        </p:nvSpPr>
        <p:spPr>
          <a:xfrm>
            <a:off x="6187286" y="4381292"/>
            <a:ext cx="2590723" cy="755904"/>
          </a:xfrm>
          <a:prstGeom prst="rect">
            <a:avLst/>
          </a:prstGeom>
          <a:noFill/>
        </p:spPr>
        <p:txBody>
          <a:bodyPr wrap="square" lIns="0" tIns="0" rIns="0" bIns="0" rtlCol="0" anchor="t">
            <a:normAutofit/>
          </a:bodyPr>
          <a:lstStyle/>
          <a:p>
            <a:pPr algn="ctr">
              <a:lnSpc>
                <a:spcPct val="106000"/>
              </a:lnSpc>
              <a:buNone/>
            </a:pPr>
            <a:r>
              <a:rPr sz="1200" b="1">
                <a:solidFill>
                  <a:srgbClr val="64748B"/>
                </a:solidFill>
                <a:latin typeface="Aptos"/>
              </a:rPr>
              <a:t>Les PME du Québec et de l’Ontario sont servies en français et en anglais, avec une posture de conformité uniforme.</a:t>
            </a:r>
          </a:p>
        </p:txBody>
      </p:sp>
      <p:sp>
        <p:nvSpPr>
          <p:cNvPr id="719" name="r"/>
          <p:cNvSpPr/>
          <p:nvPr/>
        </p:nvSpPr>
        <p:spPr>
          <a:xfrm>
            <a:off x="8960889" y="2316480"/>
            <a:ext cx="2590723" cy="2987040"/>
          </a:xfrm>
          <a:prstGeom prst="rect">
            <a:avLst/>
          </a:prstGeom>
          <a:solidFill>
            <a:srgbClr val="F8FAFC"/>
          </a:solidFill>
          <a:ln w="9525">
            <a:solidFill>
              <a:srgbClr val="E2E8F0"/>
            </a:solidFill>
            <a:prstDash val="solid"/>
          </a:ln>
        </p:spPr>
        <p:txBody>
          <a:bodyPr/>
          <a:lstStyle/>
          <a:p>
            <a:endParaRPr lang="en-US"/>
          </a:p>
        </p:txBody>
      </p:sp>
      <p:sp>
        <p:nvSpPr>
          <p:cNvPr id="720" name="r"/>
          <p:cNvSpPr/>
          <p:nvPr/>
        </p:nvSpPr>
        <p:spPr>
          <a:xfrm>
            <a:off x="8960889" y="2316480"/>
            <a:ext cx="2590723" cy="73152"/>
          </a:xfrm>
          <a:prstGeom prst="rect">
            <a:avLst/>
          </a:prstGeom>
          <a:solidFill>
            <a:srgbClr val="2563EB"/>
          </a:solidFill>
          <a:ln>
            <a:noFill/>
          </a:ln>
        </p:spPr>
        <p:txBody>
          <a:bodyPr/>
          <a:lstStyle/>
          <a:p>
            <a:endParaRPr lang="en-US"/>
          </a:p>
        </p:txBody>
      </p:sp>
      <p:pic>
        <p:nvPicPr>
          <p:cNvPr id="721" name="icon"/>
          <p:cNvPicPr>
            <a:picLocks noChangeAspect="1"/>
          </p:cNvPicPr>
          <p:nvPr/>
        </p:nvPicPr>
        <p:blipFill>
          <a:blip r:embed="rId6"/>
          <a:stretch>
            <a:fillRect/>
          </a:stretch>
        </p:blipFill>
        <p:spPr>
          <a:xfrm>
            <a:off x="9981930" y="2584704"/>
            <a:ext cx="548640" cy="548640"/>
          </a:xfrm>
          <a:prstGeom prst="rect">
            <a:avLst/>
          </a:prstGeom>
        </p:spPr>
      </p:pic>
      <p:sp>
        <p:nvSpPr>
          <p:cNvPr id="722" name="t"/>
          <p:cNvSpPr txBox="1"/>
          <p:nvPr/>
        </p:nvSpPr>
        <p:spPr>
          <a:xfrm>
            <a:off x="8960889" y="3267456"/>
            <a:ext cx="2590723" cy="268224"/>
          </a:xfrm>
          <a:prstGeom prst="rect">
            <a:avLst/>
          </a:prstGeom>
          <a:noFill/>
        </p:spPr>
        <p:txBody>
          <a:bodyPr wrap="square" lIns="0" tIns="0" rIns="0" bIns="0" rtlCol="0" anchor="t">
            <a:normAutofit/>
          </a:bodyPr>
          <a:lstStyle/>
          <a:p>
            <a:pPr algn="ctr">
              <a:buNone/>
            </a:pPr>
            <a:r>
              <a:rPr sz="1200" b="1">
                <a:solidFill>
                  <a:srgbClr val="2563EB"/>
                </a:solidFill>
                <a:latin typeface="Aptos"/>
              </a:rPr>
              <a:t>INTÉGRÉ</a:t>
            </a:r>
          </a:p>
        </p:txBody>
      </p:sp>
      <p:sp>
        <p:nvSpPr>
          <p:cNvPr id="723" name="t"/>
          <p:cNvSpPr txBox="1"/>
          <p:nvPr/>
        </p:nvSpPr>
        <p:spPr>
          <a:xfrm>
            <a:off x="8960889" y="3633216"/>
            <a:ext cx="2590723" cy="792480"/>
          </a:xfrm>
          <a:prstGeom prst="rect">
            <a:avLst/>
          </a:prstGeom>
          <a:noFill/>
        </p:spPr>
        <p:txBody>
          <a:bodyPr wrap="square" lIns="0" tIns="0" rIns="0" bIns="0" rtlCol="0" anchor="t">
            <a:normAutofit/>
          </a:bodyPr>
          <a:lstStyle/>
          <a:p>
            <a:pPr algn="ctr">
              <a:lnSpc>
                <a:spcPct val="104000"/>
              </a:lnSpc>
              <a:buNone/>
            </a:pPr>
            <a:r>
              <a:rPr sz="1867" b="1">
                <a:solidFill>
                  <a:srgbClr val="0B1437"/>
                </a:solidFill>
                <a:latin typeface="Aptos Display"/>
              </a:rPr>
              <a:t>À l’intérieur de 60 Seconds.</a:t>
            </a:r>
          </a:p>
        </p:txBody>
      </p:sp>
      <p:sp>
        <p:nvSpPr>
          <p:cNvPr id="724" name="t"/>
          <p:cNvSpPr txBox="1"/>
          <p:nvPr/>
        </p:nvSpPr>
        <p:spPr>
          <a:xfrm>
            <a:off x="8960889" y="4381292"/>
            <a:ext cx="2590723" cy="755904"/>
          </a:xfrm>
          <a:prstGeom prst="rect">
            <a:avLst/>
          </a:prstGeom>
          <a:noFill/>
        </p:spPr>
        <p:txBody>
          <a:bodyPr wrap="square" lIns="0" tIns="0" rIns="0" bIns="0" rtlCol="0" anchor="t">
            <a:normAutofit/>
          </a:bodyPr>
          <a:lstStyle/>
          <a:p>
            <a:pPr algn="ctr">
              <a:lnSpc>
                <a:spcPct val="106000"/>
              </a:lnSpc>
              <a:buNone/>
            </a:pPr>
            <a:r>
              <a:rPr sz="1200" b="1">
                <a:solidFill>
                  <a:srgbClr val="64748B"/>
                </a:solidFill>
                <a:latin typeface="Aptos"/>
              </a:rPr>
              <a:t>Les API COLLECT et SETTLE s’intègrent directement à la plateforme et au flux 60 Seconds.</a:t>
            </a:r>
          </a:p>
        </p:txBody>
      </p:sp>
      <p:sp>
        <p:nvSpPr>
          <p:cNvPr id="725" name="r"/>
          <p:cNvSpPr/>
          <p:nvPr/>
        </p:nvSpPr>
        <p:spPr>
          <a:xfrm>
            <a:off x="640080" y="6010000"/>
            <a:ext cx="73152" cy="243840"/>
          </a:xfrm>
          <a:prstGeom prst="rect">
            <a:avLst/>
          </a:prstGeom>
          <a:solidFill>
            <a:srgbClr val="2563EB"/>
          </a:solidFill>
          <a:ln>
            <a:noFill/>
          </a:ln>
        </p:spPr>
        <p:txBody>
          <a:bodyPr/>
          <a:lstStyle/>
          <a:p>
            <a:endParaRPr lang="en-US"/>
          </a:p>
        </p:txBody>
      </p:sp>
      <p:sp>
        <p:nvSpPr>
          <p:cNvPr id="726" name="t"/>
          <p:cNvSpPr txBox="1"/>
          <p:nvPr/>
        </p:nvSpPr>
        <p:spPr>
          <a:xfrm>
            <a:off x="853440" y="5990000"/>
            <a:ext cx="10500000" cy="292608"/>
          </a:xfrm>
          <a:prstGeom prst="rect">
            <a:avLst/>
          </a:prstGeom>
          <a:noFill/>
        </p:spPr>
        <p:txBody>
          <a:bodyPr wrap="square" lIns="0" tIns="0" rIns="0" bIns="0" rtlCol="0" anchor="t">
            <a:normAutofit/>
          </a:bodyPr>
          <a:lstStyle/>
          <a:p>
            <a:pPr algn="l">
              <a:buNone/>
            </a:pPr>
            <a:r>
              <a:rPr sz="1467" b="1">
                <a:solidFill>
                  <a:srgbClr val="0B1437"/>
                </a:solidFill>
                <a:latin typeface="Aptos Display"/>
              </a:rPr>
              <a:t>Dream = une plateforme. Une API. Tous les paiements d’affaires.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603504"/>
            <a:ext cx="384048" cy="64008"/>
          </a:xfrm>
          <a:prstGeom prst="rect">
            <a:avLst/>
          </a:prstGeom>
          <a:solidFill>
            <a:srgbClr val="7C5CFF"/>
          </a:solidFill>
          <a:ln/>
        </p:spPr>
        <p:txBody>
          <a:bodyPr/>
          <a:lstStyle/>
          <a:p>
            <a:endParaRPr lang="en-US"/>
          </a:p>
        </p:txBody>
      </p:sp>
      <p:sp>
        <p:nvSpPr>
          <p:cNvPr id="3" name="Text 1"/>
          <p:cNvSpPr/>
          <p:nvPr/>
        </p:nvSpPr>
        <p:spPr>
          <a:xfrm>
            <a:off x="1143000" y="502920"/>
            <a:ext cx="9144000" cy="274320"/>
          </a:xfrm>
          <a:prstGeom prst="rect">
            <a:avLst/>
          </a:prstGeom>
          <a:noFill/>
          <a:ln/>
        </p:spPr>
        <p:txBody>
          <a:bodyPr wrap="square" rtlCol="0" anchor="ctr">
            <a:normAutofit/>
          </a:bodyPr>
          <a:lstStyle/>
          <a:p>
            <a:pPr marL="0" indent="0">
              <a:buNone/>
            </a:pPr>
            <a:r>
              <a:rPr sz="1100" b="1">
                <a:solidFill>
                  <a:srgbClr val="A5B4FC"/>
                </a:solidFill>
                <a:latin typeface="JetBrains Mono"/>
              </a:rPr>
              <a:t>SECTION I · L’OCCASION</a:t>
            </a:r>
            <a:endParaRPr lang="en-US" sz="1100" dirty="0"/>
          </a:p>
        </p:txBody>
      </p:sp>
      <p:sp>
        <p:nvSpPr>
          <p:cNvPr id="4" name="Text 2"/>
          <p:cNvSpPr/>
          <p:nvPr/>
        </p:nvSpPr>
        <p:spPr>
          <a:xfrm>
            <a:off x="640080" y="3063240"/>
            <a:ext cx="10607040" cy="1554480"/>
          </a:xfrm>
          <a:prstGeom prst="rect">
            <a:avLst/>
          </a:prstGeom>
          <a:noFill/>
          <a:ln/>
        </p:spPr>
        <p:txBody>
          <a:bodyPr wrap="square" lIns="0" tIns="0" rIns="0" bIns="0" rtlCol="0" anchor="ctr">
            <a:normAutofit/>
          </a:bodyPr>
          <a:lstStyle/>
          <a:p>
            <a:pPr marL="0" indent="0">
              <a:lnSpc>
                <a:spcPts val="4800"/>
              </a:lnSpc>
              <a:buNone/>
            </a:pPr>
            <a:r>
              <a:rPr sz="4200" b="1">
                <a:solidFill>
                  <a:srgbClr val="FFFFFF"/>
                </a:solidFill>
                <a:latin typeface="Aptos Display"/>
              </a:rPr>
              <a:t>Paiements fournisseurs et paie à grande échelle.</a:t>
            </a:r>
            <a:endParaRPr lang="en-US" sz="4200" dirty="0"/>
          </a:p>
        </p:txBody>
      </p:sp>
      <p:sp>
        <p:nvSpPr>
          <p:cNvPr id="5" name="Text 3"/>
          <p:cNvSpPr/>
          <p:nvPr/>
        </p:nvSpPr>
        <p:spPr>
          <a:xfrm>
            <a:off x="640080" y="4709160"/>
            <a:ext cx="9601200" cy="900000"/>
          </a:xfrm>
          <a:prstGeom prst="rect">
            <a:avLst/>
          </a:prstGeom>
          <a:noFill/>
          <a:ln/>
        </p:spPr>
        <p:txBody>
          <a:bodyPr wrap="square" rtlCol="0" anchor="ctr">
            <a:normAutofit/>
          </a:bodyPr>
          <a:lstStyle/>
          <a:p>
            <a:pPr marL="0" indent="0">
              <a:lnSpc>
                <a:spcPts val="2200"/>
              </a:lnSpc>
              <a:buNone/>
            </a:pPr>
            <a:r>
              <a:rPr sz="1550">
                <a:solidFill>
                  <a:srgbClr val="C7D2FE"/>
                </a:solidFill>
                <a:latin typeface="Aptos"/>
              </a:rPr>
              <a:t>60 Seconds bâtit une plateforme pour permettre aux PME canadiennes de payer leurs fournisseurs aujourd’hui et leurs employés demain, dans un marché où les rails de paiement fournisseurs et de paie à faible coût sont rares.</a:t>
            </a:r>
            <a:endParaRPr lang="en-US" sz="1550" dirty="0"/>
          </a:p>
        </p:txBody>
      </p:sp>
      <p:sp>
        <p:nvSpPr>
          <p:cNvPr id="6" name="Text 4"/>
          <p:cNvSpPr/>
          <p:nvPr/>
        </p:nvSpPr>
        <p:spPr>
          <a:xfrm>
            <a:off x="10637215" y="6455664"/>
            <a:ext cx="914400" cy="274320"/>
          </a:xfrm>
          <a:prstGeom prst="rect">
            <a:avLst/>
          </a:prstGeom>
          <a:noFill/>
          <a:ln/>
        </p:spPr>
        <p:txBody>
          <a:bodyPr wrap="square" rtlCol="0" anchor="ctr">
            <a:normAutofit/>
          </a:bodyPr>
          <a:lstStyle/>
          <a:p>
            <a:pPr marL="0" indent="0" algn="r">
              <a:buNone/>
            </a:pPr>
            <a:r>
              <a:rPr sz="800">
                <a:solidFill>
                  <a:srgbClr val="8C97C9"/>
                </a:solidFill>
                <a:latin typeface="JetBrains Mono"/>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256032"/>
          </a:xfrm>
          <a:prstGeom prst="rect">
            <a:avLst/>
          </a:prstGeom>
          <a:noFill/>
          <a:ln/>
        </p:spPr>
        <p:txBody>
          <a:bodyPr wrap="square" rtlCol="0" anchor="ctr">
            <a:normAutofit/>
          </a:bodyPr>
          <a:lstStyle/>
          <a:p>
            <a:pPr marL="0" indent="0">
              <a:buNone/>
            </a:pPr>
            <a:r>
              <a:rPr sz="1100" b="1">
                <a:solidFill>
                  <a:srgbClr val="2563EB"/>
                </a:solidFill>
                <a:latin typeface="JetBrains Mono"/>
              </a:rPr>
              <a:t>DREAM PAYMENTS</a:t>
            </a:r>
            <a:endParaRPr lang="en-US" sz="1100" dirty="0"/>
          </a:p>
        </p:txBody>
      </p:sp>
      <p:sp>
        <p:nvSpPr>
          <p:cNvPr id="3" name="Text 1"/>
          <p:cNvSpPr/>
          <p:nvPr/>
        </p:nvSpPr>
        <p:spPr>
          <a:xfrm>
            <a:off x="640080" y="749808"/>
            <a:ext cx="8229600" cy="237744"/>
          </a:xfrm>
          <a:prstGeom prst="rect">
            <a:avLst/>
          </a:prstGeom>
          <a:noFill/>
          <a:ln/>
        </p:spPr>
        <p:txBody>
          <a:bodyPr wrap="square" rtlCol="0" anchor="ctr">
            <a:normAutofit/>
          </a:bodyPr>
          <a:lstStyle/>
          <a:p>
            <a:pPr marL="0" indent="0">
              <a:buNone/>
            </a:pPr>
            <a:r>
              <a:rPr sz="950">
                <a:solidFill>
                  <a:srgbClr val="64748B"/>
                </a:solidFill>
                <a:latin typeface="JetBrains Mono"/>
              </a:rPr>
              <a:t>01 · L’OCCASION</a:t>
            </a:r>
            <a:endParaRPr lang="en-US" sz="950" dirty="0"/>
          </a:p>
        </p:txBody>
      </p:sp>
      <p:sp>
        <p:nvSpPr>
          <p:cNvPr id="4" name="Shape 2"/>
          <p:cNvSpPr/>
          <p:nvPr/>
        </p:nvSpPr>
        <p:spPr>
          <a:xfrm>
            <a:off x="640080" y="1078992"/>
            <a:ext cx="10911535" cy="0"/>
          </a:xfrm>
          <a:prstGeom prst="line">
            <a:avLst/>
          </a:prstGeom>
          <a:noFill/>
          <a:ln w="12700">
            <a:solidFill>
              <a:srgbClr val="E6EBF2"/>
            </a:solidFill>
            <a:prstDash val="solid"/>
          </a:ln>
        </p:spPr>
        <p:txBody>
          <a:bodyPr/>
          <a:lstStyle/>
          <a:p>
            <a:endParaRPr lang="en-US"/>
          </a:p>
        </p:txBody>
      </p:sp>
      <p:sp>
        <p:nvSpPr>
          <p:cNvPr id="5" name="Text 3"/>
          <p:cNvSpPr/>
          <p:nvPr/>
        </p:nvSpPr>
        <p:spPr>
          <a:xfrm>
            <a:off x="640080" y="1298448"/>
            <a:ext cx="10911535" cy="566928"/>
          </a:xfrm>
          <a:prstGeom prst="rect">
            <a:avLst/>
          </a:prstGeom>
          <a:noFill/>
          <a:ln/>
        </p:spPr>
        <p:txBody>
          <a:bodyPr wrap="square" lIns="0" tIns="0" rIns="0" bIns="0" rtlCol="0" anchor="ctr">
            <a:normAutofit/>
          </a:bodyPr>
          <a:lstStyle/>
          <a:p>
            <a:pPr marL="0" indent="0">
              <a:buNone/>
            </a:pPr>
            <a:r>
              <a:rPr sz="2700" b="1">
                <a:solidFill>
                  <a:srgbClr val="0B1437"/>
                </a:solidFill>
                <a:latin typeface="Aptos Display"/>
              </a:rPr>
              <a:t>60 Seconds est conçu pour croître rapidement.</a:t>
            </a:r>
            <a:endParaRPr lang="en-US" sz="2700" dirty="0"/>
          </a:p>
        </p:txBody>
      </p:sp>
      <p:sp>
        <p:nvSpPr>
          <p:cNvPr id="6" name="Text 4"/>
          <p:cNvSpPr/>
          <p:nvPr/>
        </p:nvSpPr>
        <p:spPr>
          <a:xfrm>
            <a:off x="640080" y="1874520"/>
            <a:ext cx="10728655" cy="820000"/>
          </a:xfrm>
          <a:prstGeom prst="rect">
            <a:avLst/>
          </a:prstGeom>
          <a:noFill/>
          <a:ln/>
        </p:spPr>
        <p:txBody>
          <a:bodyPr wrap="square" lIns="0" tIns="0" rIns="0" bIns="0" anchor="t">
            <a:normAutofit/>
          </a:bodyPr>
          <a:lstStyle/>
          <a:p>
            <a:pPr algn="l">
              <a:lnSpc>
                <a:spcPct val="108000"/>
              </a:lnSpc>
              <a:buNone/>
            </a:pPr>
            <a:r>
              <a:rPr sz="1200">
                <a:solidFill>
                  <a:srgbClr val="64748B"/>
                </a:solidFill>
                <a:latin typeface="Aptos"/>
              </a:rPr>
              <a:t>60 Seconds est une nouvelle entreprise lancée par une équipe expérimentée du secteur financier. Elle bâtit une plateforme pour permettre aux PME du Québec et de l’Ontario de payer leurs fournisseurs, puis d’ajouter la paie. Avec un lancement visé d’ici la fin de 2026 et une inscription d’ESM en cours, elle prévoit de 1 000 à 2 000 clients et une croissance rapide des transactions, exactement la courbe qui exige une infrastructure de paiement intégrée dès le premier jour.</a:t>
            </a:r>
          </a:p>
        </p:txBody>
      </p:sp>
      <p:sp>
        <p:nvSpPr>
          <p:cNvPr id="7" name="Shape 5"/>
          <p:cNvSpPr/>
          <p:nvPr/>
        </p:nvSpPr>
        <p:spPr>
          <a:xfrm>
            <a:off x="640080" y="2743200"/>
            <a:ext cx="457200" cy="54864"/>
          </a:xfrm>
          <a:prstGeom prst="rect">
            <a:avLst/>
          </a:prstGeom>
          <a:solidFill>
            <a:srgbClr val="2563EB"/>
          </a:solidFill>
          <a:ln/>
        </p:spPr>
        <p:txBody>
          <a:bodyPr/>
          <a:lstStyle/>
          <a:p>
            <a:endParaRPr lang="en-US"/>
          </a:p>
        </p:txBody>
      </p:sp>
      <p:sp>
        <p:nvSpPr>
          <p:cNvPr id="8" name="Text 6"/>
          <p:cNvSpPr/>
          <p:nvPr/>
        </p:nvSpPr>
        <p:spPr>
          <a:xfrm>
            <a:off x="621792" y="2944368"/>
            <a:ext cx="3210458" cy="731520"/>
          </a:xfrm>
          <a:prstGeom prst="rect">
            <a:avLst/>
          </a:prstGeom>
          <a:noFill/>
          <a:ln/>
        </p:spPr>
        <p:txBody>
          <a:bodyPr wrap="square" lIns="0" tIns="0" rIns="0" bIns="0" rtlCol="0" anchor="ctr">
            <a:normAutofit/>
          </a:bodyPr>
          <a:lstStyle/>
          <a:p>
            <a:pPr marL="0" indent="0">
              <a:buNone/>
            </a:pPr>
            <a:r>
              <a:rPr sz="4600" b="1">
                <a:solidFill>
                  <a:srgbClr val="0B1437"/>
                </a:solidFill>
                <a:latin typeface="Aptos Display"/>
              </a:rPr>
              <a:t>2 000</a:t>
            </a:r>
            <a:endParaRPr lang="en-US" sz="4600" dirty="0"/>
          </a:p>
        </p:txBody>
      </p:sp>
      <p:sp>
        <p:nvSpPr>
          <p:cNvPr id="9" name="Text 7"/>
          <p:cNvSpPr/>
          <p:nvPr/>
        </p:nvSpPr>
        <p:spPr>
          <a:xfrm>
            <a:off x="640080" y="3767328"/>
            <a:ext cx="3210458" cy="237744"/>
          </a:xfrm>
          <a:prstGeom prst="rect">
            <a:avLst/>
          </a:prstGeom>
          <a:noFill/>
          <a:ln/>
        </p:spPr>
        <p:txBody>
          <a:bodyPr wrap="square" rtlCol="0" anchor="ctr">
            <a:normAutofit/>
          </a:bodyPr>
          <a:lstStyle/>
          <a:p>
            <a:pPr marL="0" indent="0">
              <a:buNone/>
            </a:pPr>
            <a:r>
              <a:rPr sz="900">
                <a:solidFill>
                  <a:srgbClr val="64748B"/>
                </a:solidFill>
                <a:latin typeface="JetBrains Mono"/>
              </a:rPr>
              <a:t>PME CLIENTES</a:t>
            </a:r>
            <a:endParaRPr lang="en-US" sz="900" dirty="0"/>
          </a:p>
        </p:txBody>
      </p:sp>
      <p:sp>
        <p:nvSpPr>
          <p:cNvPr id="10" name="Text 8"/>
          <p:cNvSpPr/>
          <p:nvPr/>
        </p:nvSpPr>
        <p:spPr>
          <a:xfrm>
            <a:off x="640080" y="4041648"/>
            <a:ext cx="3210458" cy="320040"/>
          </a:xfrm>
          <a:prstGeom prst="rect">
            <a:avLst/>
          </a:prstGeom>
          <a:noFill/>
          <a:ln/>
        </p:spPr>
        <p:txBody>
          <a:bodyPr wrap="square" lIns="0" tIns="0" rIns="0" bIns="0" rtlCol="0" anchor="ctr">
            <a:normAutofit/>
          </a:bodyPr>
          <a:lstStyle/>
          <a:p>
            <a:pPr marL="0" indent="0">
              <a:buNone/>
            </a:pPr>
            <a:r>
              <a:rPr sz="1600" b="1">
                <a:solidFill>
                  <a:srgbClr val="2563EB"/>
                </a:solidFill>
                <a:latin typeface="Aptos Display"/>
              </a:rPr>
              <a:t>Intégrées d’ici 2027</a:t>
            </a:r>
            <a:endParaRPr lang="en-US" sz="1600" dirty="0"/>
          </a:p>
        </p:txBody>
      </p:sp>
      <p:sp>
        <p:nvSpPr>
          <p:cNvPr id="11" name="Text 9"/>
          <p:cNvSpPr/>
          <p:nvPr/>
        </p:nvSpPr>
        <p:spPr>
          <a:xfrm>
            <a:off x="640080" y="4407408"/>
            <a:ext cx="3027578" cy="914400"/>
          </a:xfrm>
          <a:prstGeom prst="rect">
            <a:avLst/>
          </a:prstGeom>
          <a:noFill/>
          <a:ln/>
        </p:spPr>
        <p:txBody>
          <a:bodyPr wrap="square" lIns="0" tIns="0" rIns="0" bIns="0" rtlCol="0" anchor="t">
            <a:normAutofit/>
          </a:bodyPr>
          <a:lstStyle/>
          <a:p>
            <a:pPr marL="0" indent="0">
              <a:lnSpc>
                <a:spcPts val="1650"/>
              </a:lnSpc>
              <a:buNone/>
            </a:pPr>
            <a:r>
              <a:rPr sz="1200">
                <a:solidFill>
                  <a:srgbClr val="64748B"/>
                </a:solidFill>
                <a:latin typeface="Aptos"/>
              </a:rPr>
              <a:t>De 1 000 à 2 000 PME du Québec et de l’Ontario, chacune effectuant de 20 à 80 paiements par mois.</a:t>
            </a:r>
            <a:endParaRPr lang="en-US" sz="1200" dirty="0"/>
          </a:p>
        </p:txBody>
      </p:sp>
      <p:sp>
        <p:nvSpPr>
          <p:cNvPr id="12" name="Shape 10"/>
          <p:cNvSpPr/>
          <p:nvPr/>
        </p:nvSpPr>
        <p:spPr>
          <a:xfrm>
            <a:off x="4170578" y="2834640"/>
            <a:ext cx="0" cy="2194560"/>
          </a:xfrm>
          <a:prstGeom prst="line">
            <a:avLst/>
          </a:prstGeom>
          <a:noFill/>
          <a:ln w="12700">
            <a:solidFill>
              <a:srgbClr val="E6EBF2"/>
            </a:solidFill>
            <a:prstDash val="solid"/>
          </a:ln>
        </p:spPr>
        <p:txBody>
          <a:bodyPr/>
          <a:lstStyle/>
          <a:p>
            <a:endParaRPr lang="en-US"/>
          </a:p>
        </p:txBody>
      </p:sp>
      <p:sp>
        <p:nvSpPr>
          <p:cNvPr id="13" name="Shape 11"/>
          <p:cNvSpPr/>
          <p:nvPr/>
        </p:nvSpPr>
        <p:spPr>
          <a:xfrm>
            <a:off x="4490618" y="2743200"/>
            <a:ext cx="457200" cy="54864"/>
          </a:xfrm>
          <a:prstGeom prst="rect">
            <a:avLst/>
          </a:prstGeom>
          <a:solidFill>
            <a:srgbClr val="2563EB"/>
          </a:solidFill>
          <a:ln/>
        </p:spPr>
        <p:txBody>
          <a:bodyPr/>
          <a:lstStyle/>
          <a:p>
            <a:endParaRPr lang="en-US"/>
          </a:p>
        </p:txBody>
      </p:sp>
      <p:sp>
        <p:nvSpPr>
          <p:cNvPr id="14" name="Text 12"/>
          <p:cNvSpPr/>
          <p:nvPr/>
        </p:nvSpPr>
        <p:spPr>
          <a:xfrm>
            <a:off x="4472330" y="2944368"/>
            <a:ext cx="3210458" cy="731520"/>
          </a:xfrm>
          <a:prstGeom prst="rect">
            <a:avLst/>
          </a:prstGeom>
          <a:noFill/>
          <a:ln/>
        </p:spPr>
        <p:txBody>
          <a:bodyPr wrap="square" lIns="0" tIns="0" rIns="0" bIns="0" rtlCol="0" anchor="ctr">
            <a:normAutofit/>
          </a:bodyPr>
          <a:lstStyle/>
          <a:p>
            <a:pPr marL="0" indent="0">
              <a:buNone/>
            </a:pPr>
            <a:r>
              <a:rPr sz="4600" b="1">
                <a:solidFill>
                  <a:srgbClr val="0B1437"/>
                </a:solidFill>
                <a:latin typeface="Aptos Display"/>
              </a:rPr>
              <a:t>350 k</a:t>
            </a:r>
            <a:endParaRPr lang="en-US" sz="4600" dirty="0"/>
          </a:p>
        </p:txBody>
      </p:sp>
      <p:sp>
        <p:nvSpPr>
          <p:cNvPr id="15" name="Text 13"/>
          <p:cNvSpPr/>
          <p:nvPr/>
        </p:nvSpPr>
        <p:spPr>
          <a:xfrm>
            <a:off x="4490618" y="3767328"/>
            <a:ext cx="3210458" cy="237744"/>
          </a:xfrm>
          <a:prstGeom prst="rect">
            <a:avLst/>
          </a:prstGeom>
          <a:noFill/>
          <a:ln/>
        </p:spPr>
        <p:txBody>
          <a:bodyPr wrap="square" rtlCol="0" anchor="ctr">
            <a:normAutofit/>
          </a:bodyPr>
          <a:lstStyle/>
          <a:p>
            <a:pPr marL="0" indent="0">
              <a:buNone/>
            </a:pPr>
            <a:r>
              <a:rPr sz="900">
                <a:solidFill>
                  <a:srgbClr val="64748B"/>
                </a:solidFill>
                <a:latin typeface="JetBrains Mono"/>
              </a:rPr>
              <a:t>TXNS / MOIS</a:t>
            </a:r>
            <a:endParaRPr lang="en-US" sz="900" dirty="0"/>
          </a:p>
        </p:txBody>
      </p:sp>
      <p:sp>
        <p:nvSpPr>
          <p:cNvPr id="16" name="Text 14"/>
          <p:cNvSpPr/>
          <p:nvPr/>
        </p:nvSpPr>
        <p:spPr>
          <a:xfrm>
            <a:off x="4490618" y="4041648"/>
            <a:ext cx="3210458" cy="320040"/>
          </a:xfrm>
          <a:prstGeom prst="rect">
            <a:avLst/>
          </a:prstGeom>
          <a:noFill/>
          <a:ln/>
        </p:spPr>
        <p:txBody>
          <a:bodyPr wrap="square" lIns="0" tIns="0" rIns="0" bIns="0" rtlCol="0" anchor="ctr">
            <a:normAutofit/>
          </a:bodyPr>
          <a:lstStyle/>
          <a:p>
            <a:pPr marL="0" indent="0">
              <a:buNone/>
            </a:pPr>
            <a:r>
              <a:rPr sz="1600" b="1">
                <a:solidFill>
                  <a:srgbClr val="2563EB"/>
                </a:solidFill>
                <a:latin typeface="Aptos Display"/>
              </a:rPr>
              <a:t>D’ici fin 2027</a:t>
            </a:r>
            <a:endParaRPr lang="en-US" sz="1600" dirty="0"/>
          </a:p>
        </p:txBody>
      </p:sp>
      <p:sp>
        <p:nvSpPr>
          <p:cNvPr id="17" name="Text 15"/>
          <p:cNvSpPr/>
          <p:nvPr/>
        </p:nvSpPr>
        <p:spPr>
          <a:xfrm>
            <a:off x="4490618" y="4407408"/>
            <a:ext cx="3027578" cy="914400"/>
          </a:xfrm>
          <a:prstGeom prst="rect">
            <a:avLst/>
          </a:prstGeom>
          <a:noFill/>
          <a:ln/>
        </p:spPr>
        <p:txBody>
          <a:bodyPr wrap="square" lIns="0" tIns="0" rIns="0" bIns="0" rtlCol="0" anchor="t">
            <a:normAutofit/>
          </a:bodyPr>
          <a:lstStyle/>
          <a:p>
            <a:pPr marL="0" indent="0">
              <a:lnSpc>
                <a:spcPts val="1650"/>
              </a:lnSpc>
              <a:buNone/>
            </a:pPr>
            <a:r>
              <a:rPr sz="1200">
                <a:solidFill>
                  <a:srgbClr val="64748B"/>
                </a:solidFill>
                <a:latin typeface="Aptos"/>
              </a:rPr>
              <a:t>Volume mensuel de transactions à mesure que les clients montent en charge, depuis une base de lancement de 20 k à 160 k.</a:t>
            </a:r>
            <a:endParaRPr lang="en-US" sz="1200" dirty="0"/>
          </a:p>
        </p:txBody>
      </p:sp>
      <p:sp>
        <p:nvSpPr>
          <p:cNvPr id="18" name="Shape 16"/>
          <p:cNvSpPr/>
          <p:nvPr/>
        </p:nvSpPr>
        <p:spPr>
          <a:xfrm>
            <a:off x="8021117" y="2834640"/>
            <a:ext cx="0" cy="2194560"/>
          </a:xfrm>
          <a:prstGeom prst="line">
            <a:avLst/>
          </a:prstGeom>
          <a:noFill/>
          <a:ln w="12700">
            <a:solidFill>
              <a:srgbClr val="E6EBF2"/>
            </a:solidFill>
            <a:prstDash val="solid"/>
          </a:ln>
        </p:spPr>
        <p:txBody>
          <a:bodyPr/>
          <a:lstStyle/>
          <a:p>
            <a:endParaRPr lang="en-US"/>
          </a:p>
        </p:txBody>
      </p:sp>
      <p:sp>
        <p:nvSpPr>
          <p:cNvPr id="19" name="Shape 17"/>
          <p:cNvSpPr/>
          <p:nvPr/>
        </p:nvSpPr>
        <p:spPr>
          <a:xfrm>
            <a:off x="8341157" y="2743200"/>
            <a:ext cx="457200" cy="54864"/>
          </a:xfrm>
          <a:prstGeom prst="rect">
            <a:avLst/>
          </a:prstGeom>
          <a:solidFill>
            <a:srgbClr val="2563EB"/>
          </a:solidFill>
          <a:ln/>
        </p:spPr>
        <p:txBody>
          <a:bodyPr/>
          <a:lstStyle/>
          <a:p>
            <a:endParaRPr lang="en-US"/>
          </a:p>
        </p:txBody>
      </p:sp>
      <p:sp>
        <p:nvSpPr>
          <p:cNvPr id="20" name="Text 18"/>
          <p:cNvSpPr/>
          <p:nvPr/>
        </p:nvSpPr>
        <p:spPr>
          <a:xfrm>
            <a:off x="8322869" y="2944368"/>
            <a:ext cx="3210458" cy="731520"/>
          </a:xfrm>
          <a:prstGeom prst="rect">
            <a:avLst/>
          </a:prstGeom>
          <a:noFill/>
          <a:ln/>
        </p:spPr>
        <p:txBody>
          <a:bodyPr wrap="square" lIns="0" tIns="0" rIns="0" bIns="0" rtlCol="0" anchor="ctr">
            <a:normAutofit/>
          </a:bodyPr>
          <a:lstStyle/>
          <a:p>
            <a:pPr marL="0" indent="0">
              <a:buNone/>
            </a:pPr>
            <a:r>
              <a:rPr sz="4600" b="1">
                <a:solidFill>
                  <a:srgbClr val="0B1437"/>
                </a:solidFill>
                <a:latin typeface="Aptos Display"/>
              </a:rPr>
              <a:t>3×</a:t>
            </a:r>
            <a:endParaRPr lang="en-US" sz="4600" dirty="0"/>
          </a:p>
        </p:txBody>
      </p:sp>
      <p:sp>
        <p:nvSpPr>
          <p:cNvPr id="21" name="Text 19"/>
          <p:cNvSpPr/>
          <p:nvPr/>
        </p:nvSpPr>
        <p:spPr>
          <a:xfrm>
            <a:off x="8341157" y="3767328"/>
            <a:ext cx="3210458" cy="237744"/>
          </a:xfrm>
          <a:prstGeom prst="rect">
            <a:avLst/>
          </a:prstGeom>
          <a:noFill/>
          <a:ln/>
        </p:spPr>
        <p:txBody>
          <a:bodyPr wrap="square" rtlCol="0" anchor="ctr">
            <a:normAutofit/>
          </a:bodyPr>
          <a:lstStyle/>
          <a:p>
            <a:pPr marL="0" indent="0">
              <a:buNone/>
            </a:pPr>
            <a:r>
              <a:rPr sz="900">
                <a:solidFill>
                  <a:srgbClr val="64748B"/>
                </a:solidFill>
                <a:latin typeface="JetBrains Mono"/>
              </a:rPr>
              <a:t>AVEC LA PAIE</a:t>
            </a:r>
            <a:endParaRPr lang="en-US" sz="900" dirty="0"/>
          </a:p>
        </p:txBody>
      </p:sp>
      <p:sp>
        <p:nvSpPr>
          <p:cNvPr id="22" name="Text 20"/>
          <p:cNvSpPr/>
          <p:nvPr/>
        </p:nvSpPr>
        <p:spPr>
          <a:xfrm>
            <a:off x="8341157" y="4041648"/>
            <a:ext cx="3210458" cy="320040"/>
          </a:xfrm>
          <a:prstGeom prst="rect">
            <a:avLst/>
          </a:prstGeom>
          <a:noFill/>
          <a:ln/>
        </p:spPr>
        <p:txBody>
          <a:bodyPr wrap="square" lIns="0" tIns="0" rIns="0" bIns="0" rtlCol="0" anchor="ctr">
            <a:normAutofit/>
          </a:bodyPr>
          <a:lstStyle/>
          <a:p>
            <a:pPr marL="0" indent="0">
              <a:buNone/>
            </a:pPr>
            <a:r>
              <a:rPr sz="1600" b="1">
                <a:solidFill>
                  <a:srgbClr val="2563EB"/>
                </a:solidFill>
                <a:latin typeface="Aptos Display"/>
              </a:rPr>
              <a:t>Multiplicateur de volume</a:t>
            </a:r>
            <a:endParaRPr lang="en-US" sz="1600" dirty="0"/>
          </a:p>
        </p:txBody>
      </p:sp>
      <p:sp>
        <p:nvSpPr>
          <p:cNvPr id="23" name="Text 21"/>
          <p:cNvSpPr/>
          <p:nvPr/>
        </p:nvSpPr>
        <p:spPr>
          <a:xfrm>
            <a:off x="8341157" y="4407408"/>
            <a:ext cx="3027578" cy="914400"/>
          </a:xfrm>
          <a:prstGeom prst="rect">
            <a:avLst/>
          </a:prstGeom>
          <a:noFill/>
          <a:ln/>
        </p:spPr>
        <p:txBody>
          <a:bodyPr wrap="square" lIns="0" tIns="0" rIns="0" bIns="0" rtlCol="0" anchor="t">
            <a:normAutofit/>
          </a:bodyPr>
          <a:lstStyle/>
          <a:p>
            <a:pPr marL="0" indent="0">
              <a:lnSpc>
                <a:spcPts val="1650"/>
              </a:lnSpc>
              <a:buNone/>
            </a:pPr>
            <a:r>
              <a:rPr sz="1200">
                <a:solidFill>
                  <a:srgbClr val="64748B"/>
                </a:solidFill>
                <a:latin typeface="Aptos"/>
              </a:rPr>
              <a:t>L’ajout de la paie environ six mois après le lancement multiplie approximativement par trois le volume de transactions.</a:t>
            </a:r>
            <a:endParaRPr lang="en-US" sz="1200" dirty="0"/>
          </a:p>
        </p:txBody>
      </p:sp>
      <p:sp>
        <p:nvSpPr>
          <p:cNvPr id="24" name="Text 22"/>
          <p:cNvSpPr/>
          <p:nvPr/>
        </p:nvSpPr>
        <p:spPr>
          <a:xfrm>
            <a:off x="640080" y="5532120"/>
            <a:ext cx="10911535" cy="274320"/>
          </a:xfrm>
          <a:prstGeom prst="rect">
            <a:avLst/>
          </a:prstGeom>
          <a:noFill/>
          <a:ln/>
        </p:spPr>
        <p:txBody>
          <a:bodyPr wrap="square" rtlCol="0" anchor="ctr">
            <a:normAutofit/>
          </a:bodyPr>
          <a:lstStyle/>
          <a:p>
            <a:pPr marL="0" indent="0">
              <a:buNone/>
            </a:pPr>
            <a:r>
              <a:rPr sz="950" i="1">
                <a:solidFill>
                  <a:srgbClr val="94A3B8"/>
                </a:solidFill>
                <a:latin typeface="Aptos"/>
              </a:rPr>
              <a:t>Source : 60 Seconds, juin 2026.</a:t>
            </a:r>
            <a:endParaRPr lang="en-US" sz="950" dirty="0"/>
          </a:p>
        </p:txBody>
      </p:sp>
      <p:sp>
        <p:nvSpPr>
          <p:cNvPr id="25" name="Text 23"/>
          <p:cNvSpPr/>
          <p:nvPr/>
        </p:nvSpPr>
        <p:spPr>
          <a:xfrm>
            <a:off x="640080" y="6455664"/>
            <a:ext cx="9144000" cy="274320"/>
          </a:xfrm>
          <a:prstGeom prst="rect">
            <a:avLst/>
          </a:prstGeom>
          <a:noFill/>
          <a:ln/>
        </p:spPr>
        <p:txBody>
          <a:bodyPr wrap="square" rtlCol="0" anchor="ctr">
            <a:normAutofit/>
          </a:bodyPr>
          <a:lstStyle/>
          <a:p>
            <a:pPr marL="0" indent="0">
              <a:buNone/>
            </a:pPr>
            <a:r>
              <a:rPr sz="750">
                <a:solidFill>
                  <a:srgbClr val="94A3B8"/>
                </a:solidFill>
                <a:latin typeface="JetBrains Mono"/>
              </a:rPr>
              <a:t>DREAM PAYMENTS  ·  HUB DE PAIEMENTS D’AFFAIRES  ·  PROPOSITION COMMERCIALE</a:t>
            </a:r>
            <a:endParaRPr lang="en-US" sz="750" dirty="0"/>
          </a:p>
        </p:txBody>
      </p:sp>
      <p:sp>
        <p:nvSpPr>
          <p:cNvPr id="26" name="Text 24"/>
          <p:cNvSpPr/>
          <p:nvPr/>
        </p:nvSpPr>
        <p:spPr>
          <a:xfrm>
            <a:off x="10637215" y="6455664"/>
            <a:ext cx="914400" cy="274320"/>
          </a:xfrm>
          <a:prstGeom prst="rect">
            <a:avLst/>
          </a:prstGeom>
          <a:noFill/>
          <a:ln/>
        </p:spPr>
        <p:txBody>
          <a:bodyPr wrap="square" rtlCol="0" anchor="ctr">
            <a:normAutofit/>
          </a:bodyPr>
          <a:lstStyle/>
          <a:p>
            <a:pPr marL="0" indent="0" algn="r">
              <a:buNone/>
            </a:pPr>
            <a:r>
              <a:rPr sz="800" b="1">
                <a:solidFill>
                  <a:srgbClr val="2563EB"/>
                </a:solidFill>
                <a:latin typeface="JetBrains Mono"/>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256032"/>
          </a:xfrm>
          <a:prstGeom prst="rect">
            <a:avLst/>
          </a:prstGeom>
          <a:noFill/>
          <a:ln/>
        </p:spPr>
        <p:txBody>
          <a:bodyPr wrap="square" rtlCol="0" anchor="ctr">
            <a:normAutofit/>
          </a:bodyPr>
          <a:lstStyle/>
          <a:p>
            <a:pPr marL="0" indent="0">
              <a:buNone/>
            </a:pPr>
            <a:r>
              <a:rPr sz="1100" b="1">
                <a:solidFill>
                  <a:srgbClr val="2563EB"/>
                </a:solidFill>
                <a:latin typeface="JetBrains Mono"/>
              </a:rPr>
              <a:t>DREAM PAYMENTS</a:t>
            </a:r>
            <a:endParaRPr lang="en-US" sz="1100" dirty="0"/>
          </a:p>
        </p:txBody>
      </p:sp>
      <p:sp>
        <p:nvSpPr>
          <p:cNvPr id="3" name="Text 1"/>
          <p:cNvSpPr/>
          <p:nvPr/>
        </p:nvSpPr>
        <p:spPr>
          <a:xfrm>
            <a:off x="640080" y="749808"/>
            <a:ext cx="8229600" cy="237744"/>
          </a:xfrm>
          <a:prstGeom prst="rect">
            <a:avLst/>
          </a:prstGeom>
          <a:noFill/>
          <a:ln/>
        </p:spPr>
        <p:txBody>
          <a:bodyPr wrap="square" rtlCol="0" anchor="ctr">
            <a:normAutofit/>
          </a:bodyPr>
          <a:lstStyle/>
          <a:p>
            <a:pPr marL="0" indent="0">
              <a:buNone/>
            </a:pPr>
            <a:r>
              <a:rPr sz="950">
                <a:solidFill>
                  <a:srgbClr val="64748B"/>
                </a:solidFill>
                <a:latin typeface="JetBrains Mono"/>
              </a:rPr>
              <a:t>02 · L’ADÉQUATION</a:t>
            </a:r>
            <a:endParaRPr lang="en-US" sz="950" dirty="0"/>
          </a:p>
        </p:txBody>
      </p:sp>
      <p:sp>
        <p:nvSpPr>
          <p:cNvPr id="4" name="Shape 2"/>
          <p:cNvSpPr/>
          <p:nvPr/>
        </p:nvSpPr>
        <p:spPr>
          <a:xfrm>
            <a:off x="640080" y="1078992"/>
            <a:ext cx="10911535" cy="0"/>
          </a:xfrm>
          <a:prstGeom prst="line">
            <a:avLst/>
          </a:prstGeom>
          <a:noFill/>
          <a:ln w="12700">
            <a:solidFill>
              <a:srgbClr val="E6EBF2"/>
            </a:solidFill>
            <a:prstDash val="solid"/>
          </a:ln>
        </p:spPr>
        <p:txBody>
          <a:bodyPr/>
          <a:lstStyle/>
          <a:p>
            <a:endParaRPr lang="en-US"/>
          </a:p>
        </p:txBody>
      </p:sp>
      <p:sp>
        <p:nvSpPr>
          <p:cNvPr id="5" name="Text 3"/>
          <p:cNvSpPr/>
          <p:nvPr/>
        </p:nvSpPr>
        <p:spPr>
          <a:xfrm>
            <a:off x="640080" y="1298448"/>
            <a:ext cx="10911535" cy="566928"/>
          </a:xfrm>
          <a:prstGeom prst="rect">
            <a:avLst/>
          </a:prstGeom>
          <a:noFill/>
          <a:ln/>
        </p:spPr>
        <p:txBody>
          <a:bodyPr wrap="square" lIns="0" tIns="0" rIns="0" bIns="0" rtlCol="0" anchor="ctr">
            <a:normAutofit/>
          </a:bodyPr>
          <a:lstStyle/>
          <a:p>
            <a:pPr marL="0" indent="0">
              <a:buNone/>
            </a:pPr>
            <a:r>
              <a:rPr sz="2700" b="1">
                <a:solidFill>
                  <a:srgbClr val="0B1437"/>
                </a:solidFill>
                <a:latin typeface="Aptos Display"/>
              </a:rPr>
              <a:t>Comment 60 Seconds et Dream s’imbriquent.</a:t>
            </a:r>
            <a:endParaRPr lang="en-US" sz="2700" dirty="0"/>
          </a:p>
        </p:txBody>
      </p:sp>
      <p:sp>
        <p:nvSpPr>
          <p:cNvPr id="30" name="Text 26"/>
          <p:cNvSpPr/>
          <p:nvPr/>
        </p:nvSpPr>
        <p:spPr>
          <a:xfrm>
            <a:off x="640080" y="6455664"/>
            <a:ext cx="9144000" cy="274320"/>
          </a:xfrm>
          <a:prstGeom prst="rect">
            <a:avLst/>
          </a:prstGeom>
          <a:noFill/>
          <a:ln/>
        </p:spPr>
        <p:txBody>
          <a:bodyPr wrap="square" rtlCol="0" anchor="ctr">
            <a:normAutofit/>
          </a:bodyPr>
          <a:lstStyle/>
          <a:p>
            <a:pPr marL="0" indent="0">
              <a:buNone/>
            </a:pPr>
            <a:r>
              <a:rPr sz="750">
                <a:solidFill>
                  <a:srgbClr val="94A3B8"/>
                </a:solidFill>
                <a:latin typeface="JetBrains Mono"/>
              </a:rPr>
              <a:t>DREAM PAYMENTS  ·  HUB DE PAIEMENTS D’AFFAIRES  ·  PROPOSITION COMMERCIALE</a:t>
            </a:r>
            <a:endParaRPr lang="en-US" sz="750" dirty="0"/>
          </a:p>
        </p:txBody>
      </p:sp>
      <p:sp>
        <p:nvSpPr>
          <p:cNvPr id="31" name="Text 27"/>
          <p:cNvSpPr/>
          <p:nvPr/>
        </p:nvSpPr>
        <p:spPr>
          <a:xfrm>
            <a:off x="10637215" y="6455664"/>
            <a:ext cx="914400" cy="274320"/>
          </a:xfrm>
          <a:prstGeom prst="rect">
            <a:avLst/>
          </a:prstGeom>
          <a:noFill/>
          <a:ln/>
        </p:spPr>
        <p:txBody>
          <a:bodyPr wrap="square" rtlCol="0" anchor="ctr">
            <a:normAutofit/>
          </a:bodyPr>
          <a:lstStyle/>
          <a:p>
            <a:pPr marL="0" indent="0" algn="r">
              <a:buNone/>
            </a:pPr>
            <a:r>
              <a:rPr sz="800" b="1">
                <a:solidFill>
                  <a:srgbClr val="2563EB"/>
                </a:solidFill>
                <a:latin typeface="JetBrains Mono"/>
              </a:rPr>
              <a:t>05</a:t>
            </a:r>
            <a:endParaRPr lang="en-US" sz="800" dirty="0"/>
          </a:p>
        </p:txBody>
      </p:sp>
      <p:sp>
        <p:nvSpPr>
          <p:cNvPr id="727" name="t"/>
          <p:cNvSpPr txBox="1"/>
          <p:nvPr/>
        </p:nvSpPr>
        <p:spPr>
          <a:xfrm>
            <a:off x="640080" y="1874520"/>
            <a:ext cx="10728655" cy="420000"/>
          </a:xfrm>
          <a:prstGeom prst="rect">
            <a:avLst/>
          </a:prstGeom>
          <a:noFill/>
        </p:spPr>
        <p:txBody>
          <a:bodyPr wrap="square" lIns="0" tIns="0" rIns="0" bIns="0" anchor="t">
            <a:normAutofit/>
          </a:bodyPr>
          <a:lstStyle/>
          <a:p>
            <a:pPr algn="l">
              <a:lnSpc>
                <a:spcPct val="108000"/>
              </a:lnSpc>
              <a:buNone/>
            </a:pPr>
            <a:r>
              <a:rPr sz="1200">
                <a:solidFill>
                  <a:srgbClr val="64748B"/>
                </a:solidFill>
                <a:latin typeface="Aptos"/>
              </a:rPr>
              <a:t>60 Seconds possède les relations avec les PME et les fournisseurs; Dream fournit les rails, le KYC, la conformité et les opérations en arrière-plan, afin que les paiements vivent directement dans la plateforme que 60 Seconds construit.</a:t>
            </a:r>
          </a:p>
        </p:txBody>
      </p:sp>
      <p:sp>
        <p:nvSpPr>
          <p:cNvPr id="728" name="r"/>
          <p:cNvSpPr/>
          <p:nvPr/>
        </p:nvSpPr>
        <p:spPr>
          <a:xfrm>
            <a:off x="640080" y="2316480"/>
            <a:ext cx="4145280" cy="4000000"/>
          </a:xfrm>
          <a:prstGeom prst="rect">
            <a:avLst/>
          </a:prstGeom>
          <a:solidFill>
            <a:srgbClr val="0F1A3D"/>
          </a:solidFill>
          <a:ln>
            <a:noFill/>
          </a:ln>
        </p:spPr>
        <p:txBody>
          <a:bodyPr/>
          <a:lstStyle/>
          <a:p>
            <a:endParaRPr lang="en-US"/>
          </a:p>
        </p:txBody>
      </p:sp>
      <p:sp>
        <p:nvSpPr>
          <p:cNvPr id="729" name="r"/>
          <p:cNvSpPr/>
          <p:nvPr/>
        </p:nvSpPr>
        <p:spPr>
          <a:xfrm>
            <a:off x="640080" y="2316480"/>
            <a:ext cx="4145280" cy="85344"/>
          </a:xfrm>
          <a:prstGeom prst="rect">
            <a:avLst/>
          </a:prstGeom>
          <a:solidFill>
            <a:srgbClr val="2563EB"/>
          </a:solidFill>
          <a:ln>
            <a:noFill/>
          </a:ln>
        </p:spPr>
        <p:txBody>
          <a:bodyPr/>
          <a:lstStyle/>
          <a:p>
            <a:endParaRPr lang="en-US"/>
          </a:p>
        </p:txBody>
      </p:sp>
      <p:sp>
        <p:nvSpPr>
          <p:cNvPr id="730" name="t"/>
          <p:cNvSpPr txBox="1"/>
          <p:nvPr/>
        </p:nvSpPr>
        <p:spPr>
          <a:xfrm>
            <a:off x="981456" y="2657856"/>
            <a:ext cx="3535680" cy="341376"/>
          </a:xfrm>
          <a:prstGeom prst="rect">
            <a:avLst/>
          </a:prstGeom>
          <a:noFill/>
        </p:spPr>
        <p:txBody>
          <a:bodyPr wrap="square" lIns="0" tIns="0" rIns="0" bIns="0" rtlCol="0" anchor="t">
            <a:normAutofit/>
          </a:bodyPr>
          <a:lstStyle/>
          <a:p>
            <a:pPr algn="l">
              <a:buNone/>
            </a:pPr>
            <a:r>
              <a:rPr sz="1200" b="1">
                <a:solidFill>
                  <a:srgbClr val="2563EB"/>
                </a:solidFill>
                <a:latin typeface="Aptos"/>
              </a:rPr>
              <a:t>LE MODÈLE</a:t>
            </a:r>
          </a:p>
        </p:txBody>
      </p:sp>
      <p:sp>
        <p:nvSpPr>
          <p:cNvPr id="731" name="t"/>
          <p:cNvSpPr txBox="1"/>
          <p:nvPr/>
        </p:nvSpPr>
        <p:spPr>
          <a:xfrm>
            <a:off x="981456" y="3048000"/>
            <a:ext cx="3535680" cy="1150000"/>
          </a:xfrm>
          <a:prstGeom prst="rect">
            <a:avLst/>
          </a:prstGeom>
          <a:noFill/>
        </p:spPr>
        <p:txBody>
          <a:bodyPr wrap="square" lIns="0" tIns="0" rIns="0" bIns="0" rtlCol="0" anchor="t">
            <a:normAutofit/>
          </a:bodyPr>
          <a:lstStyle/>
          <a:p>
            <a:pPr algn="l">
              <a:lnSpc>
                <a:spcPct val="106000"/>
              </a:lnSpc>
              <a:buNone/>
            </a:pPr>
            <a:r>
              <a:rPr sz="2000" b="1">
                <a:solidFill>
                  <a:srgbClr val="FFFFFF"/>
                </a:solidFill>
                <a:latin typeface="Aptos Display"/>
              </a:rPr>
              <a:t>60 Seconds détient la relation client. Dream opère les rails.</a:t>
            </a:r>
          </a:p>
        </p:txBody>
      </p:sp>
      <p:sp>
        <p:nvSpPr>
          <p:cNvPr id="732" name="b"/>
          <p:cNvSpPr txBox="1"/>
          <p:nvPr/>
        </p:nvSpPr>
        <p:spPr>
          <a:xfrm>
            <a:off x="981456" y="4320000"/>
            <a:ext cx="3535680" cy="1850000"/>
          </a:xfrm>
          <a:prstGeom prst="rect">
            <a:avLst/>
          </a:prstGeom>
          <a:noFill/>
        </p:spPr>
        <p:txBody>
          <a:bodyPr wrap="square" lIns="0" tIns="0" rIns="0" bIns="0" anchor="t">
            <a:normAutofit/>
          </a:bodyPr>
          <a:lstStyle/>
          <a:p>
            <a:pPr marL="251460" indent="-251460">
              <a:lnSpc>
                <a:spcPct val="108000"/>
              </a:lnSpc>
              <a:spcBef>
                <a:spcPts val="600"/>
              </a:spcBef>
              <a:buClr>
                <a:srgbClr val="2563EB"/>
              </a:buClr>
              <a:buFont typeface="Arial"/>
              <a:buChar char="▪"/>
            </a:pPr>
            <a:r>
              <a:rPr sz="1300">
                <a:solidFill>
                  <a:srgbClr val="FFFFFF"/>
                </a:solidFill>
                <a:latin typeface="Aptos"/>
              </a:rPr>
              <a:t>60 Seconds détient les relations avec les PME et les fournisseurs au Québec et en Ontario.</a:t>
            </a:r>
          </a:p>
          <a:p>
            <a:pPr/>
            <a:r>
              <a:rPr sz="1300">
                <a:solidFill>
                  <a:srgbClr val="FFFFFF"/>
                </a:solidFill>
                <a:latin typeface="Aptos"/>
              </a:rPr>
              <a:t>Dream fournit les rails, le KYC, la conformité et les opérations de paiement.</a:t>
            </a:r>
          </a:p>
          <a:p>
            <a:pPr/>
            <a:r>
              <a:rPr sz="1300">
                <a:solidFill>
                  <a:srgbClr val="FFFFFF"/>
                </a:solidFill>
                <a:latin typeface="Aptos"/>
              </a:rPr>
              <a:t>Ensemble, les paiements sont intégrés dans la plateforme que 60 Seconds construit.</a:t>
            </a:r>
          </a:p>
        </p:txBody>
      </p:sp>
      <p:sp>
        <p:nvSpPr>
          <p:cNvPr id="733" name="r"/>
          <p:cNvSpPr/>
          <p:nvPr/>
        </p:nvSpPr>
        <p:spPr>
          <a:xfrm>
            <a:off x="5059680" y="2316480"/>
            <a:ext cx="3111855" cy="1950720"/>
          </a:xfrm>
          <a:prstGeom prst="rect">
            <a:avLst/>
          </a:prstGeom>
          <a:solidFill>
            <a:srgbClr val="F8FAFC"/>
          </a:solidFill>
          <a:ln w="9525">
            <a:solidFill>
              <a:srgbClr val="E2E8F0"/>
            </a:solidFill>
            <a:prstDash val="solid"/>
          </a:ln>
        </p:spPr>
        <p:txBody>
          <a:bodyPr/>
          <a:lstStyle/>
          <a:p>
            <a:endParaRPr lang="en-US"/>
          </a:p>
        </p:txBody>
      </p:sp>
      <p:sp>
        <p:nvSpPr>
          <p:cNvPr id="734" name="r"/>
          <p:cNvSpPr/>
          <p:nvPr/>
        </p:nvSpPr>
        <p:spPr>
          <a:xfrm>
            <a:off x="5059680" y="2316480"/>
            <a:ext cx="3111855" cy="73152"/>
          </a:xfrm>
          <a:prstGeom prst="rect">
            <a:avLst/>
          </a:prstGeom>
          <a:solidFill>
            <a:srgbClr val="2563EB"/>
          </a:solidFill>
          <a:ln>
            <a:noFill/>
          </a:ln>
        </p:spPr>
        <p:txBody>
          <a:bodyPr/>
          <a:lstStyle/>
          <a:p>
            <a:endParaRPr lang="en-US"/>
          </a:p>
        </p:txBody>
      </p:sp>
      <p:pic>
        <p:nvPicPr>
          <p:cNvPr id="735" name="icon"/>
          <p:cNvPicPr>
            <a:picLocks noChangeAspect="1"/>
          </p:cNvPicPr>
          <p:nvPr/>
        </p:nvPicPr>
        <p:blipFill>
          <a:blip r:embed="rId3"/>
          <a:stretch>
            <a:fillRect/>
          </a:stretch>
        </p:blipFill>
        <p:spPr>
          <a:xfrm>
            <a:off x="5376672" y="2609088"/>
            <a:ext cx="390144" cy="390144"/>
          </a:xfrm>
          <a:prstGeom prst="rect">
            <a:avLst/>
          </a:prstGeom>
        </p:spPr>
      </p:pic>
      <p:sp>
        <p:nvSpPr>
          <p:cNvPr id="736" name="t"/>
          <p:cNvSpPr txBox="1"/>
          <p:nvPr/>
        </p:nvSpPr>
        <p:spPr>
          <a:xfrm>
            <a:off x="5376672" y="3048000"/>
            <a:ext cx="2661855" cy="365760"/>
          </a:xfrm>
          <a:prstGeom prst="rect">
            <a:avLst/>
          </a:prstGeom>
          <a:noFill/>
        </p:spPr>
        <p:txBody>
          <a:bodyPr wrap="square" lIns="0" tIns="0" rIns="0" bIns="0" rtlCol="0" anchor="t">
            <a:normAutofit/>
          </a:bodyPr>
          <a:lstStyle/>
          <a:p>
            <a:pPr algn="l">
              <a:buNone/>
            </a:pPr>
            <a:r>
              <a:rPr sz="1600" b="1">
                <a:solidFill>
                  <a:srgbClr val="0B1437"/>
                </a:solidFill>
                <a:latin typeface="Aptos Display"/>
              </a:rPr>
              <a:t>Ce que 60 Seconds apporte</a:t>
            </a:r>
          </a:p>
        </p:txBody>
      </p:sp>
      <p:sp>
        <p:nvSpPr>
          <p:cNvPr id="737" name="t"/>
          <p:cNvSpPr txBox="1"/>
          <p:nvPr/>
        </p:nvSpPr>
        <p:spPr>
          <a:xfrm>
            <a:off x="5376672" y="3474720"/>
            <a:ext cx="2641855" cy="700000"/>
          </a:xfrm>
          <a:prstGeom prst="rect">
            <a:avLst/>
          </a:prstGeom>
          <a:noFill/>
        </p:spPr>
        <p:txBody>
          <a:bodyPr wrap="square" lIns="0" tIns="0" rIns="0" bIns="0" rtlCol="0" anchor="t">
            <a:normAutofit/>
          </a:bodyPr>
          <a:lstStyle/>
          <a:p>
            <a:pPr algn="l">
              <a:lnSpc>
                <a:spcPct val="106000"/>
              </a:lnSpc>
              <a:buNone/>
            </a:pPr>
            <a:r>
              <a:rPr sz="1200">
                <a:solidFill>
                  <a:srgbClr val="64748B"/>
                </a:solidFill>
                <a:latin typeface="Aptos"/>
              </a:rPr>
              <a:t>Relations avec les PME et les fournisseurs au Québec et en Ontario, service bilingue et inscription d’ESM en cours.</a:t>
            </a:r>
          </a:p>
        </p:txBody>
      </p:sp>
      <p:sp>
        <p:nvSpPr>
          <p:cNvPr id="738" name="r"/>
          <p:cNvSpPr/>
          <p:nvPr/>
        </p:nvSpPr>
        <p:spPr>
          <a:xfrm>
            <a:off x="8439759" y="2316480"/>
            <a:ext cx="3111855" cy="1950720"/>
          </a:xfrm>
          <a:prstGeom prst="rect">
            <a:avLst/>
          </a:prstGeom>
          <a:solidFill>
            <a:srgbClr val="F8FAFC"/>
          </a:solidFill>
          <a:ln w="9525">
            <a:solidFill>
              <a:srgbClr val="E2E8F0"/>
            </a:solidFill>
            <a:prstDash val="solid"/>
          </a:ln>
        </p:spPr>
        <p:txBody>
          <a:bodyPr/>
          <a:lstStyle/>
          <a:p>
            <a:endParaRPr lang="en-US"/>
          </a:p>
        </p:txBody>
      </p:sp>
      <p:sp>
        <p:nvSpPr>
          <p:cNvPr id="739" name="r"/>
          <p:cNvSpPr/>
          <p:nvPr/>
        </p:nvSpPr>
        <p:spPr>
          <a:xfrm>
            <a:off x="8439759" y="2316480"/>
            <a:ext cx="3111855" cy="73152"/>
          </a:xfrm>
          <a:prstGeom prst="rect">
            <a:avLst/>
          </a:prstGeom>
          <a:solidFill>
            <a:srgbClr val="2563EB"/>
          </a:solidFill>
          <a:ln>
            <a:noFill/>
          </a:ln>
        </p:spPr>
        <p:txBody>
          <a:bodyPr/>
          <a:lstStyle/>
          <a:p>
            <a:endParaRPr lang="en-US"/>
          </a:p>
        </p:txBody>
      </p:sp>
      <p:pic>
        <p:nvPicPr>
          <p:cNvPr id="740" name="icon"/>
          <p:cNvPicPr>
            <a:picLocks noChangeAspect="1"/>
          </p:cNvPicPr>
          <p:nvPr/>
        </p:nvPicPr>
        <p:blipFill>
          <a:blip r:embed="rId4"/>
          <a:stretch>
            <a:fillRect/>
          </a:stretch>
        </p:blipFill>
        <p:spPr>
          <a:xfrm>
            <a:off x="8756751" y="2609088"/>
            <a:ext cx="390144" cy="390144"/>
          </a:xfrm>
          <a:prstGeom prst="rect">
            <a:avLst/>
          </a:prstGeom>
        </p:spPr>
      </p:pic>
      <p:sp>
        <p:nvSpPr>
          <p:cNvPr id="741" name="t"/>
          <p:cNvSpPr txBox="1"/>
          <p:nvPr/>
        </p:nvSpPr>
        <p:spPr>
          <a:xfrm>
            <a:off x="8756751" y="3048000"/>
            <a:ext cx="2661855" cy="365760"/>
          </a:xfrm>
          <a:prstGeom prst="rect">
            <a:avLst/>
          </a:prstGeom>
          <a:noFill/>
        </p:spPr>
        <p:txBody>
          <a:bodyPr wrap="square" lIns="0" tIns="0" rIns="0" bIns="0" rtlCol="0" anchor="t">
            <a:normAutofit/>
          </a:bodyPr>
          <a:lstStyle/>
          <a:p>
            <a:pPr algn="l">
              <a:buNone/>
            </a:pPr>
            <a:r>
              <a:rPr sz="1600" b="1">
                <a:solidFill>
                  <a:srgbClr val="0B1437"/>
                </a:solidFill>
                <a:latin typeface="Aptos Display"/>
              </a:rPr>
              <a:t>Ce que Dream apporte</a:t>
            </a:r>
          </a:p>
        </p:txBody>
      </p:sp>
      <p:sp>
        <p:nvSpPr>
          <p:cNvPr id="742" name="t"/>
          <p:cNvSpPr txBox="1"/>
          <p:nvPr/>
        </p:nvSpPr>
        <p:spPr>
          <a:xfrm>
            <a:off x="8756751" y="3474720"/>
            <a:ext cx="2641855" cy="700000"/>
          </a:xfrm>
          <a:prstGeom prst="rect">
            <a:avLst/>
          </a:prstGeom>
          <a:noFill/>
        </p:spPr>
        <p:txBody>
          <a:bodyPr wrap="square" lIns="0" tIns="0" rIns="0" bIns="0" rtlCol="0" anchor="t">
            <a:normAutofit/>
          </a:bodyPr>
          <a:lstStyle/>
          <a:p>
            <a:pPr algn="l">
              <a:lnSpc>
                <a:spcPct val="106000"/>
              </a:lnSpc>
              <a:buNone/>
            </a:pPr>
            <a:r>
              <a:rPr sz="1200">
                <a:solidFill>
                  <a:srgbClr val="64748B"/>
                </a:solidFill>
                <a:latin typeface="Aptos"/>
              </a:rPr>
              <a:t>Rails Interac et EFT, KYC et LBA, portail opérationnel, rapports et rapprochement.</a:t>
            </a:r>
          </a:p>
        </p:txBody>
      </p:sp>
      <p:sp>
        <p:nvSpPr>
          <p:cNvPr id="743" name="r"/>
          <p:cNvSpPr/>
          <p:nvPr/>
        </p:nvSpPr>
        <p:spPr>
          <a:xfrm>
            <a:off x="5059680" y="4462272"/>
            <a:ext cx="3111855" cy="1950720"/>
          </a:xfrm>
          <a:prstGeom prst="rect">
            <a:avLst/>
          </a:prstGeom>
          <a:solidFill>
            <a:srgbClr val="F8FAFC"/>
          </a:solidFill>
          <a:ln w="9525">
            <a:solidFill>
              <a:srgbClr val="E2E8F0"/>
            </a:solidFill>
            <a:prstDash val="solid"/>
          </a:ln>
        </p:spPr>
        <p:txBody>
          <a:bodyPr/>
          <a:lstStyle/>
          <a:p>
            <a:endParaRPr lang="en-US"/>
          </a:p>
        </p:txBody>
      </p:sp>
      <p:sp>
        <p:nvSpPr>
          <p:cNvPr id="744" name="r"/>
          <p:cNvSpPr/>
          <p:nvPr/>
        </p:nvSpPr>
        <p:spPr>
          <a:xfrm>
            <a:off x="5059680" y="4462272"/>
            <a:ext cx="3111855" cy="73152"/>
          </a:xfrm>
          <a:prstGeom prst="rect">
            <a:avLst/>
          </a:prstGeom>
          <a:solidFill>
            <a:srgbClr val="2563EB"/>
          </a:solidFill>
          <a:ln>
            <a:noFill/>
          </a:ln>
        </p:spPr>
        <p:txBody>
          <a:bodyPr/>
          <a:lstStyle/>
          <a:p>
            <a:endParaRPr lang="en-US"/>
          </a:p>
        </p:txBody>
      </p:sp>
      <p:pic>
        <p:nvPicPr>
          <p:cNvPr id="745" name="icon"/>
          <p:cNvPicPr>
            <a:picLocks noChangeAspect="1"/>
          </p:cNvPicPr>
          <p:nvPr/>
        </p:nvPicPr>
        <p:blipFill>
          <a:blip r:embed="rId5"/>
          <a:stretch>
            <a:fillRect/>
          </a:stretch>
        </p:blipFill>
        <p:spPr>
          <a:xfrm>
            <a:off x="5376672" y="4754880"/>
            <a:ext cx="390144" cy="390144"/>
          </a:xfrm>
          <a:prstGeom prst="rect">
            <a:avLst/>
          </a:prstGeom>
        </p:spPr>
      </p:pic>
      <p:sp>
        <p:nvSpPr>
          <p:cNvPr id="746" name="t"/>
          <p:cNvSpPr txBox="1"/>
          <p:nvPr/>
        </p:nvSpPr>
        <p:spPr>
          <a:xfrm>
            <a:off x="5376672" y="5193792"/>
            <a:ext cx="2661855" cy="365760"/>
          </a:xfrm>
          <a:prstGeom prst="rect">
            <a:avLst/>
          </a:prstGeom>
          <a:noFill/>
        </p:spPr>
        <p:txBody>
          <a:bodyPr wrap="square" lIns="0" tIns="0" rIns="0" bIns="0" rtlCol="0" anchor="t">
            <a:normAutofit/>
          </a:bodyPr>
          <a:lstStyle/>
          <a:p>
            <a:pPr algn="l">
              <a:buNone/>
            </a:pPr>
            <a:r>
              <a:rPr sz="1600" b="1">
                <a:solidFill>
                  <a:srgbClr val="0B1437"/>
                </a:solidFill>
                <a:latin typeface="Aptos Display"/>
              </a:rPr>
              <a:t>Mise en marché</a:t>
            </a:r>
          </a:p>
        </p:txBody>
      </p:sp>
      <p:sp>
        <p:nvSpPr>
          <p:cNvPr id="747" name="t"/>
          <p:cNvSpPr txBox="1"/>
          <p:nvPr/>
        </p:nvSpPr>
        <p:spPr>
          <a:xfrm>
            <a:off x="5376672" y="5620512"/>
            <a:ext cx="2641855" cy="700000"/>
          </a:xfrm>
          <a:prstGeom prst="rect">
            <a:avLst/>
          </a:prstGeom>
          <a:noFill/>
        </p:spPr>
        <p:txBody>
          <a:bodyPr wrap="square" lIns="0" tIns="0" rIns="0" bIns="0" rtlCol="0" anchor="t">
            <a:normAutofit/>
          </a:bodyPr>
          <a:lstStyle/>
          <a:p>
            <a:pPr algn="l">
              <a:lnSpc>
                <a:spcPct val="106000"/>
              </a:lnSpc>
              <a:buNone/>
            </a:pPr>
            <a:r>
              <a:rPr sz="1200">
                <a:solidFill>
                  <a:srgbClr val="64748B"/>
                </a:solidFill>
                <a:latin typeface="Aptos"/>
              </a:rPr>
              <a:t>Paiements fournisseurs pour les PME maintenant, services de paie environ six mois après le lancement.</a:t>
            </a:r>
          </a:p>
        </p:txBody>
      </p:sp>
      <p:sp>
        <p:nvSpPr>
          <p:cNvPr id="748" name="r"/>
          <p:cNvSpPr/>
          <p:nvPr/>
        </p:nvSpPr>
        <p:spPr>
          <a:xfrm>
            <a:off x="8439759" y="4462272"/>
            <a:ext cx="3111855" cy="1950720"/>
          </a:xfrm>
          <a:prstGeom prst="rect">
            <a:avLst/>
          </a:prstGeom>
          <a:solidFill>
            <a:srgbClr val="F8FAFC"/>
          </a:solidFill>
          <a:ln w="9525">
            <a:solidFill>
              <a:srgbClr val="E2E8F0"/>
            </a:solidFill>
            <a:prstDash val="solid"/>
          </a:ln>
        </p:spPr>
        <p:txBody>
          <a:bodyPr/>
          <a:lstStyle/>
          <a:p>
            <a:endParaRPr lang="en-US"/>
          </a:p>
        </p:txBody>
      </p:sp>
      <p:sp>
        <p:nvSpPr>
          <p:cNvPr id="749" name="r"/>
          <p:cNvSpPr/>
          <p:nvPr/>
        </p:nvSpPr>
        <p:spPr>
          <a:xfrm>
            <a:off x="8439759" y="4462272"/>
            <a:ext cx="3111855" cy="73152"/>
          </a:xfrm>
          <a:prstGeom prst="rect">
            <a:avLst/>
          </a:prstGeom>
          <a:solidFill>
            <a:srgbClr val="2563EB"/>
          </a:solidFill>
          <a:ln>
            <a:noFill/>
          </a:ln>
        </p:spPr>
        <p:txBody>
          <a:bodyPr/>
          <a:lstStyle/>
          <a:p>
            <a:endParaRPr lang="en-US"/>
          </a:p>
        </p:txBody>
      </p:sp>
      <p:pic>
        <p:nvPicPr>
          <p:cNvPr id="750" name="icon"/>
          <p:cNvPicPr>
            <a:picLocks noChangeAspect="1"/>
          </p:cNvPicPr>
          <p:nvPr/>
        </p:nvPicPr>
        <p:blipFill>
          <a:blip r:embed="rId6"/>
          <a:stretch>
            <a:fillRect/>
          </a:stretch>
        </p:blipFill>
        <p:spPr>
          <a:xfrm>
            <a:off x="8756751" y="4754880"/>
            <a:ext cx="390144" cy="390144"/>
          </a:xfrm>
          <a:prstGeom prst="rect">
            <a:avLst/>
          </a:prstGeom>
        </p:spPr>
      </p:pic>
      <p:sp>
        <p:nvSpPr>
          <p:cNvPr id="751" name="t"/>
          <p:cNvSpPr txBox="1"/>
          <p:nvPr/>
        </p:nvSpPr>
        <p:spPr>
          <a:xfrm>
            <a:off x="8756751" y="5193792"/>
            <a:ext cx="2661855" cy="365760"/>
          </a:xfrm>
          <a:prstGeom prst="rect">
            <a:avLst/>
          </a:prstGeom>
          <a:noFill/>
        </p:spPr>
        <p:txBody>
          <a:bodyPr wrap="square" lIns="0" tIns="0" rIns="0" bIns="0" rtlCol="0" anchor="t">
            <a:normAutofit/>
          </a:bodyPr>
          <a:lstStyle/>
          <a:p>
            <a:pPr algn="l">
              <a:buNone/>
            </a:pPr>
            <a:r>
              <a:rPr sz="1600" b="1">
                <a:solidFill>
                  <a:srgbClr val="0B1437"/>
                </a:solidFill>
                <a:latin typeface="Aptos Display"/>
              </a:rPr>
              <a:t>Une plateforme bidirectionnelle</a:t>
            </a:r>
          </a:p>
        </p:txBody>
      </p:sp>
      <p:sp>
        <p:nvSpPr>
          <p:cNvPr id="752" name="t"/>
          <p:cNvSpPr txBox="1"/>
          <p:nvPr/>
        </p:nvSpPr>
        <p:spPr>
          <a:xfrm>
            <a:off x="8756751" y="5620512"/>
            <a:ext cx="2641855" cy="700000"/>
          </a:xfrm>
          <a:prstGeom prst="rect">
            <a:avLst/>
          </a:prstGeom>
          <a:noFill/>
        </p:spPr>
        <p:txBody>
          <a:bodyPr wrap="square" lIns="0" tIns="0" rIns="0" bIns="0" rtlCol="0" anchor="t">
            <a:normAutofit/>
          </a:bodyPr>
          <a:lstStyle/>
          <a:p>
            <a:pPr algn="l">
              <a:lnSpc>
                <a:spcPct val="106000"/>
              </a:lnSpc>
              <a:buNone/>
            </a:pPr>
            <a:r>
              <a:rPr sz="1200">
                <a:solidFill>
                  <a:srgbClr val="64748B"/>
                </a:solidFill>
                <a:latin typeface="Aptos"/>
              </a:rPr>
              <a:t>Une plateforme pour l’argent entrant et sortant, avec la capacité d’ajouter la paie, des rails et du volume.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603504"/>
            <a:ext cx="384048" cy="64008"/>
          </a:xfrm>
          <a:prstGeom prst="rect">
            <a:avLst/>
          </a:prstGeom>
          <a:solidFill>
            <a:srgbClr val="7C5CFF"/>
          </a:solidFill>
          <a:ln/>
        </p:spPr>
        <p:txBody>
          <a:bodyPr/>
          <a:lstStyle/>
          <a:p>
            <a:endParaRPr lang="en-US"/>
          </a:p>
        </p:txBody>
      </p:sp>
      <p:sp>
        <p:nvSpPr>
          <p:cNvPr id="3" name="Text 1"/>
          <p:cNvSpPr/>
          <p:nvPr/>
        </p:nvSpPr>
        <p:spPr>
          <a:xfrm>
            <a:off x="1143000" y="502920"/>
            <a:ext cx="9144000" cy="274320"/>
          </a:xfrm>
          <a:prstGeom prst="rect">
            <a:avLst/>
          </a:prstGeom>
          <a:noFill/>
          <a:ln/>
        </p:spPr>
        <p:txBody>
          <a:bodyPr wrap="square" rtlCol="0" anchor="ctr">
            <a:normAutofit/>
          </a:bodyPr>
          <a:lstStyle/>
          <a:p>
            <a:pPr marL="0" indent="0">
              <a:buNone/>
            </a:pPr>
            <a:r>
              <a:rPr sz="1100" b="1">
                <a:solidFill>
                  <a:srgbClr val="A5B4FC"/>
                </a:solidFill>
                <a:latin typeface="JetBrains Mono"/>
              </a:rPr>
              <a:t>SECTION II · Le hub de paiements d’affaires 60 Seconds.</a:t>
            </a:r>
          </a:p>
          <a:p>
            <a:pPr/>
            <a:r>
              <a:rPr sz="1100" b="1">
                <a:solidFill>
                  <a:srgbClr val="A5B4FC"/>
                </a:solidFill>
                <a:latin typeface="JetBrains Mono"/>
              </a:rPr>
              <a:t/>
            </a:r>
          </a:p>
          <a:p>
            <a:pPr/>
            <a:r>
              <a:rPr sz="1100" b="1">
                <a:solidFill>
                  <a:srgbClr val="A5B4FC"/>
                </a:solidFill>
                <a:latin typeface="JetBrains Mono"/>
              </a:rPr>
              <a:t/>
            </a:r>
          </a:p>
        </p:txBody>
      </p:sp>
      <p:sp>
        <p:nvSpPr>
          <p:cNvPr id="4" name="Text 2"/>
          <p:cNvSpPr/>
          <p:nvPr/>
        </p:nvSpPr>
        <p:spPr>
          <a:xfrm>
            <a:off x="640080" y="3063240"/>
            <a:ext cx="10607040" cy="1554480"/>
          </a:xfrm>
          <a:prstGeom prst="rect">
            <a:avLst/>
          </a:prstGeom>
          <a:noFill/>
          <a:ln/>
        </p:spPr>
        <p:txBody>
          <a:bodyPr wrap="square" lIns="0" tIns="0" rIns="0" bIns="0" rtlCol="0" anchor="ctr">
            <a:normAutofit/>
          </a:bodyPr>
          <a:lstStyle/>
          <a:p>
            <a:pPr marL="0" indent="0">
              <a:lnSpc>
                <a:spcPts val="4800"/>
              </a:lnSpc>
              <a:buNone/>
            </a:pPr>
            <a:r>
              <a:rPr sz="4200" b="1">
                <a:solidFill>
                  <a:srgbClr val="FFFFFF"/>
                </a:solidFill>
                <a:latin typeface="Aptos Display"/>
              </a:rPr>
              <a:t>Argent entrant, argent sortant. Une API.</a:t>
            </a:r>
            <a:endParaRPr lang="en-US" sz="4200" dirty="0"/>
          </a:p>
        </p:txBody>
      </p:sp>
      <p:sp>
        <p:nvSpPr>
          <p:cNvPr id="5" name="Text 3"/>
          <p:cNvSpPr/>
          <p:nvPr/>
        </p:nvSpPr>
        <p:spPr>
          <a:xfrm>
            <a:off x="640080" y="4709160"/>
            <a:ext cx="9601200" cy="900000"/>
          </a:xfrm>
          <a:prstGeom prst="rect">
            <a:avLst/>
          </a:prstGeom>
          <a:noFill/>
          <a:ln/>
        </p:spPr>
        <p:txBody>
          <a:bodyPr wrap="square" rtlCol="0" anchor="ctr">
            <a:normAutofit/>
          </a:bodyPr>
          <a:lstStyle/>
          <a:p>
            <a:pPr marL="0" indent="0">
              <a:lnSpc>
                <a:spcPts val="2200"/>
              </a:lnSpc>
              <a:buNone/>
            </a:pPr>
            <a:r>
              <a:rPr sz="1550">
                <a:solidFill>
                  <a:srgbClr val="C7D2FE"/>
                </a:solidFill>
                <a:latin typeface="Aptos"/>
              </a:rPr>
              <a:t>Demande Interac e-Transfer pour encaisser auprès des PME clientes, paiements EFT et e-Transfer pour payer fournisseurs et employés, avec portail opérationnel, rapports et rapprochement, le tout disponible par API dès le lancement.</a:t>
            </a:r>
            <a:endParaRPr lang="en-US" sz="1550" dirty="0"/>
          </a:p>
        </p:txBody>
      </p:sp>
      <p:sp>
        <p:nvSpPr>
          <p:cNvPr id="6" name="Text 4"/>
          <p:cNvSpPr/>
          <p:nvPr/>
        </p:nvSpPr>
        <p:spPr>
          <a:xfrm>
            <a:off x="10637215" y="6455664"/>
            <a:ext cx="914400" cy="274320"/>
          </a:xfrm>
          <a:prstGeom prst="rect">
            <a:avLst/>
          </a:prstGeom>
          <a:noFill/>
          <a:ln/>
        </p:spPr>
        <p:txBody>
          <a:bodyPr wrap="square" rtlCol="0" anchor="ctr">
            <a:normAutofit/>
          </a:bodyPr>
          <a:lstStyle/>
          <a:p>
            <a:pPr marL="0" indent="0" algn="r">
              <a:buNone/>
            </a:pPr>
            <a:r>
              <a:rPr sz="800">
                <a:solidFill>
                  <a:srgbClr val="8C97C9"/>
                </a:solidFill>
                <a:latin typeface="JetBrains Mono"/>
              </a:rPr>
              <a:t>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256032"/>
          </a:xfrm>
          <a:prstGeom prst="rect">
            <a:avLst/>
          </a:prstGeom>
          <a:noFill/>
          <a:ln/>
        </p:spPr>
        <p:txBody>
          <a:bodyPr wrap="square" rtlCol="0" anchor="ctr">
            <a:normAutofit/>
          </a:bodyPr>
          <a:lstStyle/>
          <a:p>
            <a:pPr marL="0" indent="0">
              <a:buNone/>
            </a:pPr>
            <a:r>
              <a:rPr sz="1100" b="1">
                <a:solidFill>
                  <a:srgbClr val="2563EB"/>
                </a:solidFill>
                <a:latin typeface="JetBrains Mono"/>
              </a:rPr>
              <a:t>DREAM PAYMENTS</a:t>
            </a:r>
            <a:endParaRPr lang="en-US" sz="1100" dirty="0"/>
          </a:p>
        </p:txBody>
      </p:sp>
      <p:sp>
        <p:nvSpPr>
          <p:cNvPr id="3" name="Text 1"/>
          <p:cNvSpPr/>
          <p:nvPr/>
        </p:nvSpPr>
        <p:spPr>
          <a:xfrm>
            <a:off x="640080" y="749808"/>
            <a:ext cx="8229600" cy="237744"/>
          </a:xfrm>
          <a:prstGeom prst="rect">
            <a:avLst/>
          </a:prstGeom>
          <a:noFill/>
          <a:ln/>
        </p:spPr>
        <p:txBody>
          <a:bodyPr wrap="square" rtlCol="0" anchor="ctr">
            <a:normAutofit/>
          </a:bodyPr>
          <a:lstStyle/>
          <a:p>
            <a:pPr marL="0" indent="0">
              <a:buNone/>
            </a:pPr>
            <a:r>
              <a:rPr sz="950">
                <a:solidFill>
                  <a:srgbClr val="64748B"/>
                </a:solidFill>
                <a:latin typeface="JetBrains Mono"/>
              </a:rPr>
              <a:t>03 · LES COMPOSANTES</a:t>
            </a:r>
            <a:endParaRPr lang="en-US" sz="950" dirty="0"/>
          </a:p>
        </p:txBody>
      </p:sp>
      <p:sp>
        <p:nvSpPr>
          <p:cNvPr id="4" name="Shape 2"/>
          <p:cNvSpPr/>
          <p:nvPr/>
        </p:nvSpPr>
        <p:spPr>
          <a:xfrm>
            <a:off x="640080" y="1078992"/>
            <a:ext cx="10911535" cy="0"/>
          </a:xfrm>
          <a:prstGeom prst="line">
            <a:avLst/>
          </a:prstGeom>
          <a:noFill/>
          <a:ln w="12700">
            <a:solidFill>
              <a:srgbClr val="E6EBF2"/>
            </a:solidFill>
            <a:prstDash val="solid"/>
          </a:ln>
        </p:spPr>
        <p:txBody>
          <a:bodyPr/>
          <a:lstStyle/>
          <a:p>
            <a:endParaRPr lang="en-US"/>
          </a:p>
        </p:txBody>
      </p:sp>
      <p:sp>
        <p:nvSpPr>
          <p:cNvPr id="5" name="Text 3"/>
          <p:cNvSpPr/>
          <p:nvPr/>
        </p:nvSpPr>
        <p:spPr>
          <a:xfrm>
            <a:off x="640080" y="1298448"/>
            <a:ext cx="10911535" cy="566928"/>
          </a:xfrm>
          <a:prstGeom prst="rect">
            <a:avLst/>
          </a:prstGeom>
          <a:noFill/>
          <a:ln/>
        </p:spPr>
        <p:txBody>
          <a:bodyPr wrap="square" lIns="0" tIns="0" rIns="0" bIns="0" rtlCol="0" anchor="ctr">
            <a:normAutofit/>
          </a:bodyPr>
          <a:lstStyle/>
          <a:p>
            <a:pPr marL="0" indent="0">
              <a:buNone/>
            </a:pPr>
            <a:r>
              <a:rPr sz="2700" b="1">
                <a:solidFill>
                  <a:srgbClr val="0B1437"/>
                </a:solidFill>
                <a:latin typeface="Aptos Display"/>
              </a:rPr>
              <a:t>Cinq composantes. Une plateforme.</a:t>
            </a:r>
            <a:endParaRPr lang="en-US" sz="2700" dirty="0"/>
          </a:p>
        </p:txBody>
      </p:sp>
      <p:sp>
        <p:nvSpPr>
          <p:cNvPr id="32" name="Text 25"/>
          <p:cNvSpPr/>
          <p:nvPr/>
        </p:nvSpPr>
        <p:spPr>
          <a:xfrm>
            <a:off x="640080" y="6455664"/>
            <a:ext cx="9144000" cy="274320"/>
          </a:xfrm>
          <a:prstGeom prst="rect">
            <a:avLst/>
          </a:prstGeom>
          <a:noFill/>
          <a:ln/>
        </p:spPr>
        <p:txBody>
          <a:bodyPr wrap="square" rtlCol="0" anchor="ctr">
            <a:normAutofit/>
          </a:bodyPr>
          <a:lstStyle/>
          <a:p>
            <a:pPr marL="0" indent="0">
              <a:buNone/>
            </a:pPr>
            <a:r>
              <a:rPr sz="750">
                <a:solidFill>
                  <a:srgbClr val="94A3B8"/>
                </a:solidFill>
                <a:latin typeface="JetBrains Mono"/>
              </a:rPr>
              <a:t>DREAM PAYMENTS  ·  HUB DE PAIEMENTS D’AFFAIRES  ·  PROPOSITION COMMERCIALE</a:t>
            </a:r>
            <a:endParaRPr lang="en-US" sz="750" dirty="0"/>
          </a:p>
        </p:txBody>
      </p:sp>
      <p:sp>
        <p:nvSpPr>
          <p:cNvPr id="33" name="Text 26"/>
          <p:cNvSpPr/>
          <p:nvPr/>
        </p:nvSpPr>
        <p:spPr>
          <a:xfrm>
            <a:off x="10637215" y="6455664"/>
            <a:ext cx="914400" cy="274320"/>
          </a:xfrm>
          <a:prstGeom prst="rect">
            <a:avLst/>
          </a:prstGeom>
          <a:noFill/>
          <a:ln/>
        </p:spPr>
        <p:txBody>
          <a:bodyPr wrap="square" rtlCol="0" anchor="ctr">
            <a:normAutofit/>
          </a:bodyPr>
          <a:lstStyle/>
          <a:p>
            <a:pPr marL="0" indent="0" algn="r">
              <a:buNone/>
            </a:pPr>
            <a:r>
              <a:rPr sz="800" b="1">
                <a:solidFill>
                  <a:srgbClr val="2563EB"/>
                </a:solidFill>
                <a:latin typeface="JetBrains Mono"/>
              </a:rPr>
              <a:t>07</a:t>
            </a:r>
            <a:endParaRPr lang="en-US" sz="800" dirty="0"/>
          </a:p>
        </p:txBody>
      </p:sp>
      <p:sp>
        <p:nvSpPr>
          <p:cNvPr id="753" name="t"/>
          <p:cNvSpPr txBox="1"/>
          <p:nvPr/>
        </p:nvSpPr>
        <p:spPr>
          <a:xfrm>
            <a:off x="640080" y="1874520"/>
            <a:ext cx="10728655" cy="520000"/>
          </a:xfrm>
          <a:prstGeom prst="rect">
            <a:avLst/>
          </a:prstGeom>
          <a:noFill/>
        </p:spPr>
        <p:txBody>
          <a:bodyPr wrap="square" lIns="0" tIns="0" rIns="0" bIns="0" anchor="t">
            <a:normAutofit/>
          </a:bodyPr>
          <a:lstStyle/>
          <a:p>
            <a:pPr algn="l">
              <a:lnSpc>
                <a:spcPct val="108000"/>
              </a:lnSpc>
              <a:buNone/>
            </a:pPr>
            <a:r>
              <a:rPr sz="1150">
                <a:solidFill>
                  <a:srgbClr val="64748B"/>
                </a:solidFill>
                <a:latin typeface="Aptos"/>
              </a:rPr>
              <a:t>Les cinq blocs de base qui soutiennent la plateforme : un portail opérationnel, l’API Dream, un compte bancaire séparé, le flux de financement client et les rails d’encaissement et de paiement. Ensemble, ils couvrent tout ce qui est nécessaire pour demander, encaisser, payer et rapprocher.</a:t>
            </a:r>
          </a:p>
        </p:txBody>
      </p:sp>
      <p:sp>
        <p:nvSpPr>
          <p:cNvPr id="754" name="r"/>
          <p:cNvSpPr/>
          <p:nvPr/>
        </p:nvSpPr>
        <p:spPr>
          <a:xfrm>
            <a:off x="640080" y="2430000"/>
            <a:ext cx="2065263" cy="73152"/>
          </a:xfrm>
          <a:prstGeom prst="rect">
            <a:avLst/>
          </a:prstGeom>
          <a:solidFill>
            <a:srgbClr val="2563EB"/>
          </a:solidFill>
          <a:ln>
            <a:noFill/>
          </a:ln>
        </p:spPr>
        <p:txBody>
          <a:bodyPr/>
          <a:lstStyle/>
          <a:p>
            <a:endParaRPr lang="en-US"/>
          </a:p>
        </p:txBody>
      </p:sp>
      <p:sp>
        <p:nvSpPr>
          <p:cNvPr id="755" name="r"/>
          <p:cNvSpPr/>
          <p:nvPr/>
        </p:nvSpPr>
        <p:spPr>
          <a:xfrm>
            <a:off x="640080" y="2520000"/>
            <a:ext cx="2065263" cy="2960000"/>
          </a:xfrm>
          <a:prstGeom prst="rect">
            <a:avLst/>
          </a:prstGeom>
          <a:solidFill>
            <a:srgbClr val="F8FAFC"/>
          </a:solidFill>
          <a:ln w="9525">
            <a:solidFill>
              <a:srgbClr val="E2E8F0"/>
            </a:solidFill>
            <a:prstDash val="solid"/>
          </a:ln>
        </p:spPr>
        <p:txBody>
          <a:bodyPr/>
          <a:lstStyle/>
          <a:p>
            <a:endParaRPr lang="en-US"/>
          </a:p>
        </p:txBody>
      </p:sp>
      <p:sp>
        <p:nvSpPr>
          <p:cNvPr id="756" name="t"/>
          <p:cNvSpPr txBox="1"/>
          <p:nvPr/>
        </p:nvSpPr>
        <p:spPr>
          <a:xfrm>
            <a:off x="786384" y="2660000"/>
            <a:ext cx="1772655" cy="268224"/>
          </a:xfrm>
          <a:prstGeom prst="rect">
            <a:avLst/>
          </a:prstGeom>
          <a:noFill/>
        </p:spPr>
        <p:txBody>
          <a:bodyPr wrap="square" lIns="0" tIns="0" rIns="0" bIns="0" rtlCol="0" anchor="t">
            <a:normAutofit/>
          </a:bodyPr>
          <a:lstStyle/>
          <a:p>
            <a:pPr algn="l">
              <a:buNone/>
            </a:pPr>
            <a:r>
              <a:rPr sz="1200" b="1">
                <a:solidFill>
                  <a:srgbClr val="2563EB"/>
                </a:solidFill>
                <a:latin typeface="Aptos"/>
              </a:rPr>
              <a:t>01</a:t>
            </a:r>
          </a:p>
        </p:txBody>
      </p:sp>
      <p:pic>
        <p:nvPicPr>
          <p:cNvPr id="757" name="icon"/>
          <p:cNvPicPr>
            <a:picLocks noChangeAspect="1"/>
          </p:cNvPicPr>
          <p:nvPr/>
        </p:nvPicPr>
        <p:blipFill>
          <a:blip r:embed="rId3"/>
          <a:stretch>
            <a:fillRect/>
          </a:stretch>
        </p:blipFill>
        <p:spPr>
          <a:xfrm>
            <a:off x="1372711" y="2760000"/>
            <a:ext cx="600000" cy="600000"/>
          </a:xfrm>
          <a:prstGeom prst="rect">
            <a:avLst/>
          </a:prstGeom>
        </p:spPr>
      </p:pic>
      <p:sp>
        <p:nvSpPr>
          <p:cNvPr id="758" name="t"/>
          <p:cNvSpPr txBox="1"/>
          <p:nvPr/>
        </p:nvSpPr>
        <p:spPr>
          <a:xfrm>
            <a:off x="640080" y="3560000"/>
            <a:ext cx="2065263" cy="620000"/>
          </a:xfrm>
          <a:prstGeom prst="rect">
            <a:avLst/>
          </a:prstGeom>
          <a:noFill/>
        </p:spPr>
        <p:txBody>
          <a:bodyPr wrap="square" lIns="0" tIns="0" rIns="0" bIns="0" rtlCol="0" anchor="t">
            <a:normAutofit/>
          </a:bodyPr>
          <a:lstStyle/>
          <a:p>
            <a:pPr algn="ctr">
              <a:lnSpc>
                <a:spcPct val="104000"/>
              </a:lnSpc>
              <a:buNone/>
            </a:pPr>
            <a:r>
              <a:rPr sz="1867" b="1">
                <a:solidFill>
                  <a:srgbClr val="0B1437"/>
                </a:solidFill>
                <a:latin typeface="Aptos Display"/>
              </a:rPr>
              <a:t>Portail opérationnel</a:t>
            </a:r>
          </a:p>
        </p:txBody>
      </p:sp>
      <p:sp>
        <p:nvSpPr>
          <p:cNvPr id="759" name="t"/>
          <p:cNvSpPr txBox="1"/>
          <p:nvPr/>
        </p:nvSpPr>
        <p:spPr>
          <a:xfrm>
            <a:off x="730080" y="4220000"/>
            <a:ext cx="1885263" cy="1180000"/>
          </a:xfrm>
          <a:prstGeom prst="rect">
            <a:avLst/>
          </a:prstGeom>
          <a:noFill/>
        </p:spPr>
        <p:txBody>
          <a:bodyPr wrap="square" lIns="0" tIns="0" rIns="0" bIns="0" rtlCol="0" anchor="t">
            <a:normAutofit/>
          </a:bodyPr>
          <a:lstStyle/>
          <a:p>
            <a:pPr algn="ctr">
              <a:lnSpc>
                <a:spcPct val="108000"/>
              </a:lnSpc>
              <a:buNone/>
            </a:pPr>
            <a:r>
              <a:rPr sz="1100">
                <a:solidFill>
                  <a:srgbClr val="64748B"/>
                </a:solidFill>
                <a:latin typeface="Aptos"/>
              </a:rPr>
              <a:t>Console Web pour l’intégration, le financement, l’initiation des paiements et le rapprochement. Accès par rôle pour les finances et les opérations.</a:t>
            </a:r>
          </a:p>
        </p:txBody>
      </p:sp>
      <p:sp>
        <p:nvSpPr>
          <p:cNvPr id="760" name="r"/>
          <p:cNvSpPr/>
          <p:nvPr/>
        </p:nvSpPr>
        <p:spPr>
          <a:xfrm>
            <a:off x="2851648" y="2430000"/>
            <a:ext cx="2065263" cy="73152"/>
          </a:xfrm>
          <a:prstGeom prst="rect">
            <a:avLst/>
          </a:prstGeom>
          <a:solidFill>
            <a:srgbClr val="2563EB"/>
          </a:solidFill>
          <a:ln>
            <a:noFill/>
          </a:ln>
        </p:spPr>
        <p:txBody>
          <a:bodyPr/>
          <a:lstStyle/>
          <a:p>
            <a:endParaRPr lang="en-US"/>
          </a:p>
        </p:txBody>
      </p:sp>
      <p:sp>
        <p:nvSpPr>
          <p:cNvPr id="761" name="r"/>
          <p:cNvSpPr/>
          <p:nvPr/>
        </p:nvSpPr>
        <p:spPr>
          <a:xfrm>
            <a:off x="2851648" y="2520000"/>
            <a:ext cx="2065263" cy="2960000"/>
          </a:xfrm>
          <a:prstGeom prst="rect">
            <a:avLst/>
          </a:prstGeom>
          <a:solidFill>
            <a:srgbClr val="F8FAFC"/>
          </a:solidFill>
          <a:ln w="9525">
            <a:solidFill>
              <a:srgbClr val="E2E8F0"/>
            </a:solidFill>
            <a:prstDash val="solid"/>
          </a:ln>
        </p:spPr>
        <p:txBody>
          <a:bodyPr/>
          <a:lstStyle/>
          <a:p>
            <a:endParaRPr lang="en-US"/>
          </a:p>
        </p:txBody>
      </p:sp>
      <p:sp>
        <p:nvSpPr>
          <p:cNvPr id="762" name="t"/>
          <p:cNvSpPr txBox="1"/>
          <p:nvPr/>
        </p:nvSpPr>
        <p:spPr>
          <a:xfrm>
            <a:off x="2997952" y="2660000"/>
            <a:ext cx="1772655" cy="268224"/>
          </a:xfrm>
          <a:prstGeom prst="rect">
            <a:avLst/>
          </a:prstGeom>
          <a:noFill/>
        </p:spPr>
        <p:txBody>
          <a:bodyPr wrap="square" lIns="0" tIns="0" rIns="0" bIns="0" rtlCol="0" anchor="t">
            <a:normAutofit/>
          </a:bodyPr>
          <a:lstStyle/>
          <a:p>
            <a:pPr algn="l">
              <a:buNone/>
            </a:pPr>
            <a:r>
              <a:rPr sz="1200" b="1">
                <a:solidFill>
                  <a:srgbClr val="2563EB"/>
                </a:solidFill>
                <a:latin typeface="Aptos"/>
              </a:rPr>
              <a:t>02</a:t>
            </a:r>
          </a:p>
        </p:txBody>
      </p:sp>
      <p:pic>
        <p:nvPicPr>
          <p:cNvPr id="763" name="icon"/>
          <p:cNvPicPr>
            <a:picLocks noChangeAspect="1"/>
          </p:cNvPicPr>
          <p:nvPr/>
        </p:nvPicPr>
        <p:blipFill>
          <a:blip r:embed="rId4"/>
          <a:stretch>
            <a:fillRect/>
          </a:stretch>
        </p:blipFill>
        <p:spPr>
          <a:xfrm>
            <a:off x="3584279" y="2760000"/>
            <a:ext cx="600000" cy="600000"/>
          </a:xfrm>
          <a:prstGeom prst="rect">
            <a:avLst/>
          </a:prstGeom>
        </p:spPr>
      </p:pic>
      <p:sp>
        <p:nvSpPr>
          <p:cNvPr id="764" name="t"/>
          <p:cNvSpPr txBox="1"/>
          <p:nvPr/>
        </p:nvSpPr>
        <p:spPr>
          <a:xfrm>
            <a:off x="2851648" y="3560000"/>
            <a:ext cx="2065263" cy="620000"/>
          </a:xfrm>
          <a:prstGeom prst="rect">
            <a:avLst/>
          </a:prstGeom>
          <a:noFill/>
        </p:spPr>
        <p:txBody>
          <a:bodyPr wrap="square" lIns="0" tIns="0" rIns="0" bIns="0" rtlCol="0" anchor="t">
            <a:normAutofit/>
          </a:bodyPr>
          <a:lstStyle/>
          <a:p>
            <a:pPr algn="ctr">
              <a:lnSpc>
                <a:spcPct val="104000"/>
              </a:lnSpc>
              <a:buNone/>
            </a:pPr>
            <a:r>
              <a:rPr sz="1867" b="1">
                <a:solidFill>
                  <a:srgbClr val="0B1437"/>
                </a:solidFill>
                <a:latin typeface="Aptos Display"/>
              </a:rPr>
              <a:t>L’API Dream</a:t>
            </a:r>
          </a:p>
        </p:txBody>
      </p:sp>
      <p:sp>
        <p:nvSpPr>
          <p:cNvPr id="765" name="t"/>
          <p:cNvSpPr txBox="1"/>
          <p:nvPr/>
        </p:nvSpPr>
        <p:spPr>
          <a:xfrm>
            <a:off x="2941648" y="4220000"/>
            <a:ext cx="1885263" cy="1180000"/>
          </a:xfrm>
          <a:prstGeom prst="rect">
            <a:avLst/>
          </a:prstGeom>
          <a:noFill/>
        </p:spPr>
        <p:txBody>
          <a:bodyPr wrap="square" lIns="0" tIns="0" rIns="0" bIns="0" rtlCol="0" anchor="t">
            <a:normAutofit/>
          </a:bodyPr>
          <a:lstStyle/>
          <a:p>
            <a:pPr algn="ctr">
              <a:lnSpc>
                <a:spcPct val="108000"/>
              </a:lnSpc>
              <a:buNone/>
            </a:pPr>
            <a:r>
              <a:rPr sz="1100">
                <a:solidFill>
                  <a:srgbClr val="64748B"/>
                </a:solidFill>
                <a:latin typeface="Aptos"/>
              </a:rPr>
              <a:t>REST. JSON. Idempotente. Webhooks signés HMAC. Sandbox fourni le jour même de la signature.</a:t>
            </a:r>
          </a:p>
        </p:txBody>
      </p:sp>
      <p:sp>
        <p:nvSpPr>
          <p:cNvPr id="766" name="r"/>
          <p:cNvSpPr/>
          <p:nvPr/>
        </p:nvSpPr>
        <p:spPr>
          <a:xfrm>
            <a:off x="5063216" y="2430000"/>
            <a:ext cx="2065263" cy="73152"/>
          </a:xfrm>
          <a:prstGeom prst="rect">
            <a:avLst/>
          </a:prstGeom>
          <a:solidFill>
            <a:srgbClr val="2563EB"/>
          </a:solidFill>
          <a:ln>
            <a:noFill/>
          </a:ln>
        </p:spPr>
        <p:txBody>
          <a:bodyPr/>
          <a:lstStyle/>
          <a:p>
            <a:endParaRPr lang="en-US"/>
          </a:p>
        </p:txBody>
      </p:sp>
      <p:sp>
        <p:nvSpPr>
          <p:cNvPr id="767" name="r"/>
          <p:cNvSpPr/>
          <p:nvPr/>
        </p:nvSpPr>
        <p:spPr>
          <a:xfrm>
            <a:off x="5063216" y="2520000"/>
            <a:ext cx="2065263" cy="2960000"/>
          </a:xfrm>
          <a:prstGeom prst="rect">
            <a:avLst/>
          </a:prstGeom>
          <a:solidFill>
            <a:srgbClr val="F8FAFC"/>
          </a:solidFill>
          <a:ln w="9525">
            <a:solidFill>
              <a:srgbClr val="E2E8F0"/>
            </a:solidFill>
            <a:prstDash val="solid"/>
          </a:ln>
        </p:spPr>
        <p:txBody>
          <a:bodyPr/>
          <a:lstStyle/>
          <a:p>
            <a:endParaRPr lang="en-US"/>
          </a:p>
        </p:txBody>
      </p:sp>
      <p:sp>
        <p:nvSpPr>
          <p:cNvPr id="768" name="t"/>
          <p:cNvSpPr txBox="1"/>
          <p:nvPr/>
        </p:nvSpPr>
        <p:spPr>
          <a:xfrm>
            <a:off x="5209520" y="2660000"/>
            <a:ext cx="1772655" cy="268224"/>
          </a:xfrm>
          <a:prstGeom prst="rect">
            <a:avLst/>
          </a:prstGeom>
          <a:noFill/>
        </p:spPr>
        <p:txBody>
          <a:bodyPr wrap="square" lIns="0" tIns="0" rIns="0" bIns="0" rtlCol="0" anchor="t">
            <a:normAutofit/>
          </a:bodyPr>
          <a:lstStyle/>
          <a:p>
            <a:pPr algn="l">
              <a:buNone/>
            </a:pPr>
            <a:r>
              <a:rPr sz="1200" b="1">
                <a:solidFill>
                  <a:srgbClr val="2563EB"/>
                </a:solidFill>
                <a:latin typeface="Aptos"/>
              </a:rPr>
              <a:t>03</a:t>
            </a:r>
          </a:p>
        </p:txBody>
      </p:sp>
      <p:pic>
        <p:nvPicPr>
          <p:cNvPr id="769" name="icon"/>
          <p:cNvPicPr>
            <a:picLocks noChangeAspect="1"/>
          </p:cNvPicPr>
          <p:nvPr/>
        </p:nvPicPr>
        <p:blipFill>
          <a:blip r:embed="rId5"/>
          <a:stretch>
            <a:fillRect/>
          </a:stretch>
        </p:blipFill>
        <p:spPr>
          <a:xfrm>
            <a:off x="5795847" y="2760000"/>
            <a:ext cx="600000" cy="600000"/>
          </a:xfrm>
          <a:prstGeom prst="rect">
            <a:avLst/>
          </a:prstGeom>
        </p:spPr>
      </p:pic>
      <p:sp>
        <p:nvSpPr>
          <p:cNvPr id="770" name="t"/>
          <p:cNvSpPr txBox="1"/>
          <p:nvPr/>
        </p:nvSpPr>
        <p:spPr>
          <a:xfrm>
            <a:off x="5063216" y="3560000"/>
            <a:ext cx="2065263" cy="620000"/>
          </a:xfrm>
          <a:prstGeom prst="rect">
            <a:avLst/>
          </a:prstGeom>
          <a:noFill/>
        </p:spPr>
        <p:txBody>
          <a:bodyPr wrap="square" lIns="0" tIns="0" rIns="0" bIns="0" rtlCol="0" anchor="t">
            <a:normAutofit/>
          </a:bodyPr>
          <a:lstStyle/>
          <a:p>
            <a:pPr algn="ctr">
              <a:lnSpc>
                <a:spcPct val="104000"/>
              </a:lnSpc>
              <a:buNone/>
            </a:pPr>
            <a:r>
              <a:rPr sz="1867" b="1">
                <a:solidFill>
                  <a:srgbClr val="0B1437"/>
                </a:solidFill>
                <a:latin typeface="Aptos Display"/>
              </a:rPr>
              <a:t>Compte bancaire</a:t>
            </a:r>
          </a:p>
        </p:txBody>
      </p:sp>
      <p:sp>
        <p:nvSpPr>
          <p:cNvPr id="771" name="t"/>
          <p:cNvSpPr txBox="1"/>
          <p:nvPr/>
        </p:nvSpPr>
        <p:spPr>
          <a:xfrm>
            <a:off x="5153216" y="4220000"/>
            <a:ext cx="1885263" cy="1180000"/>
          </a:xfrm>
          <a:prstGeom prst="rect">
            <a:avLst/>
          </a:prstGeom>
          <a:noFill/>
        </p:spPr>
        <p:txBody>
          <a:bodyPr wrap="square" lIns="0" tIns="0" rIns="0" bIns="0" rtlCol="0" anchor="t">
            <a:normAutofit/>
          </a:bodyPr>
          <a:lstStyle/>
          <a:p>
            <a:pPr algn="ctr">
              <a:lnSpc>
                <a:spcPct val="108000"/>
              </a:lnSpc>
              <a:buNone/>
            </a:pPr>
            <a:r>
              <a:rPr sz="1100">
                <a:solidFill>
                  <a:srgbClr val="64748B"/>
                </a:solidFill>
                <a:latin typeface="Aptos"/>
              </a:rPr>
              <a:t>Détenu auprès d’une banque canadienne de premier rang. Séparé par client. Entrants et sortants dans le même compte.</a:t>
            </a:r>
          </a:p>
        </p:txBody>
      </p:sp>
      <p:sp>
        <p:nvSpPr>
          <p:cNvPr id="772" name="r"/>
          <p:cNvSpPr/>
          <p:nvPr/>
        </p:nvSpPr>
        <p:spPr>
          <a:xfrm>
            <a:off x="7274784" y="2430000"/>
            <a:ext cx="2065263" cy="73152"/>
          </a:xfrm>
          <a:prstGeom prst="rect">
            <a:avLst/>
          </a:prstGeom>
          <a:solidFill>
            <a:srgbClr val="2563EB"/>
          </a:solidFill>
          <a:ln>
            <a:noFill/>
          </a:ln>
        </p:spPr>
        <p:txBody>
          <a:bodyPr/>
          <a:lstStyle/>
          <a:p>
            <a:endParaRPr lang="en-US"/>
          </a:p>
        </p:txBody>
      </p:sp>
      <p:sp>
        <p:nvSpPr>
          <p:cNvPr id="773" name="r"/>
          <p:cNvSpPr/>
          <p:nvPr/>
        </p:nvSpPr>
        <p:spPr>
          <a:xfrm>
            <a:off x="7274784" y="2520000"/>
            <a:ext cx="2065263" cy="2960000"/>
          </a:xfrm>
          <a:prstGeom prst="rect">
            <a:avLst/>
          </a:prstGeom>
          <a:solidFill>
            <a:srgbClr val="F8FAFC"/>
          </a:solidFill>
          <a:ln w="9525">
            <a:solidFill>
              <a:srgbClr val="E2E8F0"/>
            </a:solidFill>
            <a:prstDash val="solid"/>
          </a:ln>
        </p:spPr>
        <p:txBody>
          <a:bodyPr/>
          <a:lstStyle/>
          <a:p>
            <a:endParaRPr lang="en-US"/>
          </a:p>
        </p:txBody>
      </p:sp>
      <p:sp>
        <p:nvSpPr>
          <p:cNvPr id="774" name="t"/>
          <p:cNvSpPr txBox="1"/>
          <p:nvPr/>
        </p:nvSpPr>
        <p:spPr>
          <a:xfrm>
            <a:off x="7421088" y="2660000"/>
            <a:ext cx="1772655" cy="268224"/>
          </a:xfrm>
          <a:prstGeom prst="rect">
            <a:avLst/>
          </a:prstGeom>
          <a:noFill/>
        </p:spPr>
        <p:txBody>
          <a:bodyPr wrap="square" lIns="0" tIns="0" rIns="0" bIns="0" rtlCol="0" anchor="t">
            <a:normAutofit/>
          </a:bodyPr>
          <a:lstStyle/>
          <a:p>
            <a:pPr algn="l">
              <a:buNone/>
            </a:pPr>
            <a:r>
              <a:rPr sz="1200" b="1">
                <a:solidFill>
                  <a:srgbClr val="2563EB"/>
                </a:solidFill>
                <a:latin typeface="Aptos"/>
              </a:rPr>
              <a:t>04</a:t>
            </a:r>
          </a:p>
        </p:txBody>
      </p:sp>
      <p:pic>
        <p:nvPicPr>
          <p:cNvPr id="775" name="icon"/>
          <p:cNvPicPr>
            <a:picLocks noChangeAspect="1"/>
          </p:cNvPicPr>
          <p:nvPr/>
        </p:nvPicPr>
        <p:blipFill>
          <a:blip r:embed="rId6"/>
          <a:stretch>
            <a:fillRect/>
          </a:stretch>
        </p:blipFill>
        <p:spPr>
          <a:xfrm>
            <a:off x="8007415" y="2760000"/>
            <a:ext cx="600000" cy="600000"/>
          </a:xfrm>
          <a:prstGeom prst="rect">
            <a:avLst/>
          </a:prstGeom>
        </p:spPr>
      </p:pic>
      <p:sp>
        <p:nvSpPr>
          <p:cNvPr id="776" name="t"/>
          <p:cNvSpPr txBox="1"/>
          <p:nvPr/>
        </p:nvSpPr>
        <p:spPr>
          <a:xfrm>
            <a:off x="7274784" y="3560000"/>
            <a:ext cx="2065263" cy="620000"/>
          </a:xfrm>
          <a:prstGeom prst="rect">
            <a:avLst/>
          </a:prstGeom>
          <a:noFill/>
        </p:spPr>
        <p:txBody>
          <a:bodyPr wrap="square" lIns="0" tIns="0" rIns="0" bIns="0" rtlCol="0" anchor="t">
            <a:normAutofit/>
          </a:bodyPr>
          <a:lstStyle/>
          <a:p>
            <a:pPr algn="ctr">
              <a:lnSpc>
                <a:spcPct val="104000"/>
              </a:lnSpc>
              <a:buNone/>
            </a:pPr>
            <a:r>
              <a:rPr sz="1867" b="1">
                <a:solidFill>
                  <a:srgbClr val="0B1437"/>
                </a:solidFill>
                <a:latin typeface="Aptos Display"/>
              </a:rPr>
              <a:t>Flux de financement</a:t>
            </a:r>
          </a:p>
        </p:txBody>
      </p:sp>
      <p:sp>
        <p:nvSpPr>
          <p:cNvPr id="777" name="t"/>
          <p:cNvSpPr txBox="1"/>
          <p:nvPr/>
        </p:nvSpPr>
        <p:spPr>
          <a:xfrm>
            <a:off x="7364784" y="4220000"/>
            <a:ext cx="1885263" cy="1180000"/>
          </a:xfrm>
          <a:prstGeom prst="rect">
            <a:avLst/>
          </a:prstGeom>
          <a:noFill/>
        </p:spPr>
        <p:txBody>
          <a:bodyPr wrap="square" lIns="0" tIns="0" rIns="0" bIns="0" rtlCol="0" anchor="t">
            <a:normAutofit/>
          </a:bodyPr>
          <a:lstStyle/>
          <a:p>
            <a:pPr algn="ctr">
              <a:lnSpc>
                <a:spcPct val="108000"/>
              </a:lnSpc>
              <a:buNone/>
            </a:pPr>
            <a:r>
              <a:rPr sz="1100">
                <a:solidFill>
                  <a:srgbClr val="64748B"/>
                </a:solidFill>
                <a:latin typeface="Aptos"/>
              </a:rPr>
              <a:t>Demande Interac e-Transfer à l’image de marque, par courriel et Web sécurisé. Les clients financent et reçoivent une confirmation instantanée.</a:t>
            </a:r>
          </a:p>
        </p:txBody>
      </p:sp>
      <p:sp>
        <p:nvSpPr>
          <p:cNvPr id="778" name="r"/>
          <p:cNvSpPr/>
          <p:nvPr/>
        </p:nvSpPr>
        <p:spPr>
          <a:xfrm>
            <a:off x="9486352" y="2430000"/>
            <a:ext cx="2065263" cy="73152"/>
          </a:xfrm>
          <a:prstGeom prst="rect">
            <a:avLst/>
          </a:prstGeom>
          <a:solidFill>
            <a:srgbClr val="2563EB"/>
          </a:solidFill>
          <a:ln>
            <a:noFill/>
          </a:ln>
        </p:spPr>
        <p:txBody>
          <a:bodyPr/>
          <a:lstStyle/>
          <a:p>
            <a:endParaRPr lang="en-US"/>
          </a:p>
        </p:txBody>
      </p:sp>
      <p:sp>
        <p:nvSpPr>
          <p:cNvPr id="779" name="r"/>
          <p:cNvSpPr/>
          <p:nvPr/>
        </p:nvSpPr>
        <p:spPr>
          <a:xfrm>
            <a:off x="9486352" y="2520000"/>
            <a:ext cx="2065263" cy="2960000"/>
          </a:xfrm>
          <a:prstGeom prst="rect">
            <a:avLst/>
          </a:prstGeom>
          <a:solidFill>
            <a:srgbClr val="F8FAFC"/>
          </a:solidFill>
          <a:ln w="9525">
            <a:solidFill>
              <a:srgbClr val="E2E8F0"/>
            </a:solidFill>
            <a:prstDash val="solid"/>
          </a:ln>
        </p:spPr>
        <p:txBody>
          <a:bodyPr/>
          <a:lstStyle/>
          <a:p>
            <a:endParaRPr lang="en-US"/>
          </a:p>
        </p:txBody>
      </p:sp>
      <p:sp>
        <p:nvSpPr>
          <p:cNvPr id="780" name="t"/>
          <p:cNvSpPr txBox="1"/>
          <p:nvPr/>
        </p:nvSpPr>
        <p:spPr>
          <a:xfrm>
            <a:off x="9632656" y="2660000"/>
            <a:ext cx="1772655" cy="268224"/>
          </a:xfrm>
          <a:prstGeom prst="rect">
            <a:avLst/>
          </a:prstGeom>
          <a:noFill/>
        </p:spPr>
        <p:txBody>
          <a:bodyPr wrap="square" lIns="0" tIns="0" rIns="0" bIns="0" rtlCol="0" anchor="t">
            <a:normAutofit/>
          </a:bodyPr>
          <a:lstStyle/>
          <a:p>
            <a:pPr algn="l">
              <a:buNone/>
            </a:pPr>
            <a:r>
              <a:rPr sz="1200" b="1">
                <a:solidFill>
                  <a:srgbClr val="2563EB"/>
                </a:solidFill>
                <a:latin typeface="Aptos"/>
              </a:rPr>
              <a:t>05</a:t>
            </a:r>
          </a:p>
        </p:txBody>
      </p:sp>
      <p:pic>
        <p:nvPicPr>
          <p:cNvPr id="781" name="icon"/>
          <p:cNvPicPr>
            <a:picLocks noChangeAspect="1"/>
          </p:cNvPicPr>
          <p:nvPr/>
        </p:nvPicPr>
        <p:blipFill>
          <a:blip r:embed="rId7"/>
          <a:stretch>
            <a:fillRect/>
          </a:stretch>
        </p:blipFill>
        <p:spPr>
          <a:xfrm>
            <a:off x="10218983" y="2760000"/>
            <a:ext cx="600000" cy="600000"/>
          </a:xfrm>
          <a:prstGeom prst="rect">
            <a:avLst/>
          </a:prstGeom>
        </p:spPr>
      </p:pic>
      <p:sp>
        <p:nvSpPr>
          <p:cNvPr id="782" name="t"/>
          <p:cNvSpPr txBox="1"/>
          <p:nvPr/>
        </p:nvSpPr>
        <p:spPr>
          <a:xfrm>
            <a:off x="9486352" y="3560000"/>
            <a:ext cx="2065263" cy="620000"/>
          </a:xfrm>
          <a:prstGeom prst="rect">
            <a:avLst/>
          </a:prstGeom>
          <a:noFill/>
        </p:spPr>
        <p:txBody>
          <a:bodyPr wrap="square" lIns="0" tIns="0" rIns="0" bIns="0" rtlCol="0" anchor="t">
            <a:normAutofit/>
          </a:bodyPr>
          <a:lstStyle/>
          <a:p>
            <a:pPr algn="ctr">
              <a:lnSpc>
                <a:spcPct val="104000"/>
              </a:lnSpc>
              <a:buNone/>
            </a:pPr>
            <a:r>
              <a:rPr sz="1867" b="1">
                <a:solidFill>
                  <a:srgbClr val="0B1437"/>
                </a:solidFill>
                <a:latin typeface="Aptos Display"/>
              </a:rPr>
              <a:t>Rails d’encaissement et de paiement</a:t>
            </a:r>
          </a:p>
        </p:txBody>
      </p:sp>
      <p:sp>
        <p:nvSpPr>
          <p:cNvPr id="783" name="t"/>
          <p:cNvSpPr txBox="1"/>
          <p:nvPr/>
        </p:nvSpPr>
        <p:spPr>
          <a:xfrm>
            <a:off x="9576352" y="4220000"/>
            <a:ext cx="1885263" cy="1180000"/>
          </a:xfrm>
          <a:prstGeom prst="rect">
            <a:avLst/>
          </a:prstGeom>
          <a:noFill/>
        </p:spPr>
        <p:txBody>
          <a:bodyPr wrap="square" lIns="0" tIns="0" rIns="0" bIns="0" rtlCol="0" anchor="t">
            <a:normAutofit/>
          </a:bodyPr>
          <a:lstStyle/>
          <a:p>
            <a:pPr algn="ctr">
              <a:lnSpc>
                <a:spcPct val="108000"/>
              </a:lnSpc>
              <a:buNone/>
            </a:pPr>
            <a:r>
              <a:rPr sz="1100">
                <a:solidFill>
                  <a:srgbClr val="64748B"/>
                </a:solidFill>
                <a:latin typeface="Aptos"/>
              </a:rPr>
              <a:t>Demande Interac e-Transfer pour encaisser, EFT et e-Transfer pour payer. Canada. Une API.</a:t>
            </a:r>
          </a:p>
        </p:txBody>
      </p:sp>
      <p:sp>
        <p:nvSpPr>
          <p:cNvPr id="784" name="r"/>
          <p:cNvSpPr/>
          <p:nvPr/>
        </p:nvSpPr>
        <p:spPr>
          <a:xfrm>
            <a:off x="640080" y="5827776"/>
            <a:ext cx="73152" cy="365760"/>
          </a:xfrm>
          <a:prstGeom prst="rect">
            <a:avLst/>
          </a:prstGeom>
          <a:solidFill>
            <a:srgbClr val="2563EB"/>
          </a:solidFill>
          <a:ln>
            <a:noFill/>
          </a:ln>
        </p:spPr>
        <p:txBody>
          <a:bodyPr/>
          <a:lstStyle/>
          <a:p>
            <a:endParaRPr lang="en-US"/>
          </a:p>
        </p:txBody>
      </p:sp>
      <p:sp>
        <p:nvSpPr>
          <p:cNvPr id="785" name="t"/>
          <p:cNvSpPr txBox="1"/>
          <p:nvPr/>
        </p:nvSpPr>
        <p:spPr>
          <a:xfrm>
            <a:off x="823440" y="5852160"/>
            <a:ext cx="2600000" cy="341376"/>
          </a:xfrm>
          <a:prstGeom prst="rect">
            <a:avLst/>
          </a:prstGeom>
          <a:noFill/>
        </p:spPr>
        <p:txBody>
          <a:bodyPr wrap="square" lIns="0" tIns="0" rIns="0" bIns="0" rtlCol="0" anchor="t">
            <a:normAutofit/>
          </a:bodyPr>
          <a:lstStyle/>
          <a:p>
            <a:pPr algn="l">
              <a:buNone/>
            </a:pPr>
            <a:r>
              <a:rPr sz="1467" b="1">
                <a:solidFill>
                  <a:srgbClr val="0B1437"/>
                </a:solidFill>
                <a:latin typeface="Aptos Display"/>
              </a:rPr>
              <a:t>Conçu pour la rapidité.</a:t>
            </a:r>
          </a:p>
        </p:txBody>
      </p:sp>
      <p:sp>
        <p:nvSpPr>
          <p:cNvPr id="786" name="t"/>
          <p:cNvSpPr txBox="1"/>
          <p:nvPr/>
        </p:nvSpPr>
        <p:spPr>
          <a:xfrm>
            <a:off x="4020000" y="5827776"/>
            <a:ext cx="2300000" cy="250000"/>
          </a:xfrm>
          <a:prstGeom prst="rect">
            <a:avLst/>
          </a:prstGeom>
          <a:noFill/>
        </p:spPr>
        <p:txBody>
          <a:bodyPr wrap="square" lIns="0" tIns="0" rIns="0" bIns="0" rtlCol="0" anchor="t">
            <a:normAutofit/>
          </a:bodyPr>
          <a:lstStyle/>
          <a:p>
            <a:pPr algn="l">
              <a:buNone/>
            </a:pPr>
            <a:r>
              <a:rPr sz="1600" b="1">
                <a:solidFill>
                  <a:srgbClr val="0B1437"/>
                </a:solidFill>
                <a:latin typeface="Aptos Display"/>
              </a:rPr>
              <a:t>&lt; 30 min</a:t>
            </a:r>
          </a:p>
        </p:txBody>
      </p:sp>
      <p:sp>
        <p:nvSpPr>
          <p:cNvPr id="787" name="t"/>
          <p:cNvSpPr txBox="1"/>
          <p:nvPr/>
        </p:nvSpPr>
        <p:spPr>
          <a:xfrm>
            <a:off x="4020000" y="6090000"/>
            <a:ext cx="2300000" cy="200000"/>
          </a:xfrm>
          <a:prstGeom prst="rect">
            <a:avLst/>
          </a:prstGeom>
          <a:noFill/>
        </p:spPr>
        <p:txBody>
          <a:bodyPr wrap="square" lIns="0" tIns="0" rIns="0" bIns="0" rtlCol="0" anchor="t">
            <a:normAutofit/>
          </a:bodyPr>
          <a:lstStyle/>
          <a:p>
            <a:pPr algn="l">
              <a:buNone/>
            </a:pPr>
            <a:r>
              <a:rPr sz="1000" b="1">
                <a:solidFill>
                  <a:srgbClr val="2563EB"/>
                </a:solidFill>
                <a:latin typeface="Aptos"/>
              </a:rPr>
              <a:t>DEMANDE INTERAC</a:t>
            </a:r>
          </a:p>
        </p:txBody>
      </p:sp>
      <p:sp>
        <p:nvSpPr>
          <p:cNvPr id="788" name="t"/>
          <p:cNvSpPr txBox="1"/>
          <p:nvPr/>
        </p:nvSpPr>
        <p:spPr>
          <a:xfrm>
            <a:off x="6650000" y="5827776"/>
            <a:ext cx="2300000" cy="250000"/>
          </a:xfrm>
          <a:prstGeom prst="rect">
            <a:avLst/>
          </a:prstGeom>
          <a:noFill/>
        </p:spPr>
        <p:txBody>
          <a:bodyPr wrap="square" lIns="0" tIns="0" rIns="0" bIns="0" rtlCol="0" anchor="t">
            <a:normAutofit/>
          </a:bodyPr>
          <a:lstStyle/>
          <a:p>
            <a:pPr algn="l">
              <a:buNone/>
            </a:pPr>
            <a:r>
              <a:rPr sz="1600" b="1">
                <a:solidFill>
                  <a:srgbClr val="0B1437"/>
                </a:solidFill>
                <a:latin typeface="Aptos Display"/>
              </a:rPr>
              <a:t>T + 1</a:t>
            </a:r>
          </a:p>
        </p:txBody>
      </p:sp>
      <p:sp>
        <p:nvSpPr>
          <p:cNvPr id="789" name="t"/>
          <p:cNvSpPr txBox="1"/>
          <p:nvPr/>
        </p:nvSpPr>
        <p:spPr>
          <a:xfrm>
            <a:off x="6650000" y="6090000"/>
            <a:ext cx="2300000" cy="200000"/>
          </a:xfrm>
          <a:prstGeom prst="rect">
            <a:avLst/>
          </a:prstGeom>
          <a:noFill/>
        </p:spPr>
        <p:txBody>
          <a:bodyPr wrap="square" lIns="0" tIns="0" rIns="0" bIns="0" rtlCol="0" anchor="t">
            <a:normAutofit/>
          </a:bodyPr>
          <a:lstStyle/>
          <a:p>
            <a:pPr algn="l">
              <a:buNone/>
            </a:pPr>
            <a:r>
              <a:rPr sz="1000" b="1">
                <a:solidFill>
                  <a:srgbClr val="2563EB"/>
                </a:solidFill>
                <a:latin typeface="Aptos"/>
              </a:rPr>
              <a:t>RÈGLEMENT EFT</a:t>
            </a:r>
          </a:p>
        </p:txBody>
      </p:sp>
      <p:sp>
        <p:nvSpPr>
          <p:cNvPr id="790" name="t"/>
          <p:cNvSpPr txBox="1"/>
          <p:nvPr/>
        </p:nvSpPr>
        <p:spPr>
          <a:xfrm>
            <a:off x="9250000" y="5827776"/>
            <a:ext cx="2300000" cy="250000"/>
          </a:xfrm>
          <a:prstGeom prst="rect">
            <a:avLst/>
          </a:prstGeom>
          <a:noFill/>
        </p:spPr>
        <p:txBody>
          <a:bodyPr wrap="square" lIns="0" tIns="0" rIns="0" bIns="0" rtlCol="0" anchor="t">
            <a:normAutofit/>
          </a:bodyPr>
          <a:lstStyle/>
          <a:p>
            <a:pPr algn="l">
              <a:buNone/>
            </a:pPr>
            <a:r>
              <a:rPr sz="1600" b="1">
                <a:solidFill>
                  <a:srgbClr val="0B1437"/>
                </a:solidFill>
                <a:latin typeface="Aptos Display"/>
              </a:rPr>
              <a:t>99,99 %</a:t>
            </a:r>
          </a:p>
        </p:txBody>
      </p:sp>
      <p:sp>
        <p:nvSpPr>
          <p:cNvPr id="791" name="t"/>
          <p:cNvSpPr txBox="1"/>
          <p:nvPr/>
        </p:nvSpPr>
        <p:spPr>
          <a:xfrm>
            <a:off x="9250000" y="6090000"/>
            <a:ext cx="2300000" cy="200000"/>
          </a:xfrm>
          <a:prstGeom prst="rect">
            <a:avLst/>
          </a:prstGeom>
          <a:noFill/>
        </p:spPr>
        <p:txBody>
          <a:bodyPr wrap="square" lIns="0" tIns="0" rIns="0" bIns="0" rtlCol="0" anchor="t">
            <a:normAutofit/>
          </a:bodyPr>
          <a:lstStyle/>
          <a:p>
            <a:pPr algn="l">
              <a:buNone/>
            </a:pPr>
            <a:r>
              <a:rPr sz="1000" b="1">
                <a:solidFill>
                  <a:srgbClr val="2563EB"/>
                </a:solidFill>
                <a:latin typeface="Aptos"/>
              </a:rPr>
              <a:t>SLA DISPONIBILITÉ</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256032"/>
          </a:xfrm>
          <a:prstGeom prst="rect">
            <a:avLst/>
          </a:prstGeom>
          <a:noFill/>
          <a:ln/>
        </p:spPr>
        <p:txBody>
          <a:bodyPr wrap="square" rtlCol="0" anchor="ctr">
            <a:normAutofit/>
          </a:bodyPr>
          <a:lstStyle/>
          <a:p>
            <a:pPr marL="0" indent="0">
              <a:buNone/>
            </a:pPr>
            <a:r>
              <a:rPr sz="1100" b="1">
                <a:solidFill>
                  <a:srgbClr val="2563EB"/>
                </a:solidFill>
                <a:latin typeface="JetBrains Mono"/>
              </a:rPr>
              <a:t>DREAM PAYMENTS</a:t>
            </a:r>
            <a:endParaRPr lang="en-US" sz="1100" dirty="0"/>
          </a:p>
        </p:txBody>
      </p:sp>
      <p:sp>
        <p:nvSpPr>
          <p:cNvPr id="3" name="Text 1"/>
          <p:cNvSpPr/>
          <p:nvPr/>
        </p:nvSpPr>
        <p:spPr>
          <a:xfrm>
            <a:off x="640080" y="749808"/>
            <a:ext cx="8229600" cy="237744"/>
          </a:xfrm>
          <a:prstGeom prst="rect">
            <a:avLst/>
          </a:prstGeom>
          <a:noFill/>
          <a:ln/>
        </p:spPr>
        <p:txBody>
          <a:bodyPr wrap="square" rtlCol="0" anchor="ctr">
            <a:normAutofit/>
          </a:bodyPr>
          <a:lstStyle/>
          <a:p>
            <a:pPr marL="0" indent="0">
              <a:buNone/>
            </a:pPr>
            <a:r>
              <a:rPr sz="950">
                <a:solidFill>
                  <a:srgbClr val="64748B"/>
                </a:solidFill>
                <a:latin typeface="JetBrains Mono"/>
              </a:rPr>
              <a:t>04 · FONCTIONNEMENT</a:t>
            </a:r>
            <a:endParaRPr lang="en-US" sz="950" dirty="0"/>
          </a:p>
        </p:txBody>
      </p:sp>
      <p:sp>
        <p:nvSpPr>
          <p:cNvPr id="4" name="Shape 2"/>
          <p:cNvSpPr/>
          <p:nvPr/>
        </p:nvSpPr>
        <p:spPr>
          <a:xfrm>
            <a:off x="640080" y="1078992"/>
            <a:ext cx="10911535" cy="0"/>
          </a:xfrm>
          <a:prstGeom prst="line">
            <a:avLst/>
          </a:prstGeom>
          <a:noFill/>
          <a:ln w="12700">
            <a:solidFill>
              <a:srgbClr val="E6EBF2"/>
            </a:solidFill>
            <a:prstDash val="solid"/>
          </a:ln>
        </p:spPr>
        <p:txBody>
          <a:bodyPr/>
          <a:lstStyle/>
          <a:p>
            <a:endParaRPr lang="en-US"/>
          </a:p>
        </p:txBody>
      </p:sp>
      <p:sp>
        <p:nvSpPr>
          <p:cNvPr id="5" name="Text 3"/>
          <p:cNvSpPr/>
          <p:nvPr/>
        </p:nvSpPr>
        <p:spPr>
          <a:xfrm>
            <a:off x="640080" y="1298448"/>
            <a:ext cx="10911535" cy="566928"/>
          </a:xfrm>
          <a:prstGeom prst="rect">
            <a:avLst/>
          </a:prstGeom>
          <a:noFill/>
          <a:ln/>
        </p:spPr>
        <p:txBody>
          <a:bodyPr wrap="square" lIns="0" tIns="0" rIns="0" bIns="0" rtlCol="0" anchor="ctr">
            <a:normAutofit/>
          </a:bodyPr>
          <a:lstStyle/>
          <a:p>
            <a:pPr marL="0" indent="0">
              <a:buNone/>
            </a:pPr>
            <a:r>
              <a:rPr sz="2700" b="1">
                <a:solidFill>
                  <a:srgbClr val="0B1437"/>
                </a:solidFill>
                <a:latin typeface="Aptos Display"/>
              </a:rPr>
              <a:t>De la demande au règlement rapproché.</a:t>
            </a:r>
            <a:endParaRPr lang="en-US" sz="2700" dirty="0"/>
          </a:p>
        </p:txBody>
      </p:sp>
      <p:sp>
        <p:nvSpPr>
          <p:cNvPr id="6" name="Shape 4"/>
          <p:cNvSpPr/>
          <p:nvPr/>
        </p:nvSpPr>
        <p:spPr>
          <a:xfrm>
            <a:off x="640080" y="2514600"/>
            <a:ext cx="2384984" cy="2606040"/>
          </a:xfrm>
          <a:prstGeom prst="roundRect">
            <a:avLst>
              <a:gd name="adj" fmla="val 2300"/>
            </a:avLst>
          </a:prstGeom>
          <a:solidFill>
            <a:srgbClr val="F6F8FC"/>
          </a:solidFill>
          <a:ln w="12700">
            <a:solidFill>
              <a:srgbClr val="E6EBF2"/>
            </a:solidFill>
            <a:prstDash val="solid"/>
          </a:ln>
          <a:effectLst>
            <a:outerShdw blurRad="127000" dist="38100" dir="5400000" algn="bl" rotWithShape="0">
              <a:srgbClr val="1E2A52">
                <a:alpha val="13000"/>
              </a:srgbClr>
            </a:outerShdw>
          </a:effectLst>
        </p:spPr>
        <p:txBody>
          <a:bodyPr/>
          <a:lstStyle/>
          <a:p>
            <a:endParaRPr lang="en-US"/>
          </a:p>
        </p:txBody>
      </p:sp>
      <p:sp>
        <p:nvSpPr>
          <p:cNvPr id="7" name="Shape 5"/>
          <p:cNvSpPr/>
          <p:nvPr/>
        </p:nvSpPr>
        <p:spPr>
          <a:xfrm>
            <a:off x="676656" y="2505456"/>
            <a:ext cx="2311832" cy="64008"/>
          </a:xfrm>
          <a:prstGeom prst="roundRect">
            <a:avLst>
              <a:gd name="adj" fmla="val 28571"/>
            </a:avLst>
          </a:prstGeom>
          <a:solidFill>
            <a:srgbClr val="2563EB"/>
          </a:solidFill>
          <a:ln/>
        </p:spPr>
        <p:txBody>
          <a:bodyPr/>
          <a:lstStyle/>
          <a:p>
            <a:endParaRPr lang="en-US"/>
          </a:p>
        </p:txBody>
      </p:sp>
      <p:pic>
        <p:nvPicPr>
          <p:cNvPr id="8" name="Image 0" descr="assets/fi_send_ink.png"/>
          <p:cNvPicPr>
            <a:picLocks noChangeAspect="1"/>
          </p:cNvPicPr>
          <p:nvPr/>
        </p:nvPicPr>
        <p:blipFill>
          <a:blip r:embed="rId3"/>
          <a:stretch>
            <a:fillRect/>
          </a:stretch>
        </p:blipFill>
        <p:spPr>
          <a:xfrm>
            <a:off x="1521676" y="2898648"/>
            <a:ext cx="621792" cy="621792"/>
          </a:xfrm>
          <a:prstGeom prst="rect">
            <a:avLst/>
          </a:prstGeom>
        </p:spPr>
      </p:pic>
      <p:sp>
        <p:nvSpPr>
          <p:cNvPr id="9" name="Text 6"/>
          <p:cNvSpPr/>
          <p:nvPr/>
        </p:nvSpPr>
        <p:spPr>
          <a:xfrm>
            <a:off x="640080" y="3721608"/>
            <a:ext cx="2384984" cy="274320"/>
          </a:xfrm>
          <a:prstGeom prst="rect">
            <a:avLst/>
          </a:prstGeom>
          <a:noFill/>
          <a:ln/>
        </p:spPr>
        <p:txBody>
          <a:bodyPr wrap="square" rtlCol="0" anchor="ctr">
            <a:normAutofit/>
          </a:bodyPr>
          <a:lstStyle/>
          <a:p>
            <a:pPr marL="0" indent="0" algn="ctr">
              <a:buNone/>
            </a:pPr>
            <a:r>
              <a:rPr sz="900" b="1">
                <a:solidFill>
                  <a:srgbClr val="2563EB"/>
                </a:solidFill>
                <a:latin typeface="JetBrains Mono"/>
              </a:rPr>
              <a:t>ÉTAPE 01</a:t>
            </a:r>
            <a:endParaRPr lang="en-US" sz="900" dirty="0"/>
          </a:p>
        </p:txBody>
      </p:sp>
      <p:sp>
        <p:nvSpPr>
          <p:cNvPr id="10" name="Text 7"/>
          <p:cNvSpPr/>
          <p:nvPr/>
        </p:nvSpPr>
        <p:spPr>
          <a:xfrm>
            <a:off x="777240" y="3977640"/>
            <a:ext cx="2110664" cy="365760"/>
          </a:xfrm>
          <a:prstGeom prst="rect">
            <a:avLst/>
          </a:prstGeom>
          <a:noFill/>
          <a:ln/>
        </p:spPr>
        <p:txBody>
          <a:bodyPr wrap="square" lIns="0" tIns="0" rIns="0" bIns="0" rtlCol="0" anchor="ctr">
            <a:normAutofit/>
          </a:bodyPr>
          <a:lstStyle/>
          <a:p>
            <a:pPr marL="0" indent="0" algn="ctr">
              <a:buNone/>
            </a:pPr>
            <a:r>
              <a:rPr sz="1700" b="1">
                <a:solidFill>
                  <a:srgbClr val="0B1437"/>
                </a:solidFill>
                <a:latin typeface="Aptos Display"/>
              </a:rPr>
              <a:t>Demande</a:t>
            </a:r>
            <a:endParaRPr lang="en-US" sz="1700" dirty="0"/>
          </a:p>
        </p:txBody>
      </p:sp>
      <p:sp>
        <p:nvSpPr>
          <p:cNvPr id="11" name="Text 8"/>
          <p:cNvSpPr/>
          <p:nvPr/>
        </p:nvSpPr>
        <p:spPr>
          <a:xfrm>
            <a:off x="841248" y="4343400"/>
            <a:ext cx="1982648" cy="640080"/>
          </a:xfrm>
          <a:prstGeom prst="rect">
            <a:avLst/>
          </a:prstGeom>
          <a:noFill/>
          <a:ln/>
        </p:spPr>
        <p:txBody>
          <a:bodyPr wrap="square" lIns="0" tIns="0" rIns="0" bIns="0" rtlCol="0" anchor="ctr">
            <a:normAutofit/>
          </a:bodyPr>
          <a:lstStyle/>
          <a:p>
            <a:pPr marL="0" indent="0" algn="ctr">
              <a:lnSpc>
                <a:spcPts val="1450"/>
              </a:lnSpc>
              <a:buNone/>
            </a:pPr>
            <a:r>
              <a:rPr sz="1100">
                <a:solidFill>
                  <a:srgbClr val="64748B"/>
                </a:solidFill>
                <a:latin typeface="Aptos"/>
              </a:rPr>
              <a:t>Demande EFT ou Interac e-Transfer émise à la PME cliente via API</a:t>
            </a:r>
            <a:endParaRPr lang="en-US" sz="1100" dirty="0"/>
          </a:p>
        </p:txBody>
      </p:sp>
      <p:pic>
        <p:nvPicPr>
          <p:cNvPr id="12" name="Image 1" descr="assets/fi_arrow_blue.png"/>
          <p:cNvPicPr>
            <a:picLocks noChangeAspect="1"/>
          </p:cNvPicPr>
          <p:nvPr/>
        </p:nvPicPr>
        <p:blipFill>
          <a:blip r:embed="rId4"/>
          <a:stretch>
            <a:fillRect/>
          </a:stretch>
        </p:blipFill>
        <p:spPr>
          <a:xfrm>
            <a:off x="3134792" y="3429000"/>
            <a:ext cx="237744" cy="237744"/>
          </a:xfrm>
          <a:prstGeom prst="rect">
            <a:avLst/>
          </a:prstGeom>
        </p:spPr>
      </p:pic>
      <p:sp>
        <p:nvSpPr>
          <p:cNvPr id="13" name="Shape 9"/>
          <p:cNvSpPr/>
          <p:nvPr/>
        </p:nvSpPr>
        <p:spPr>
          <a:xfrm>
            <a:off x="3482264" y="2514600"/>
            <a:ext cx="2384984" cy="2606040"/>
          </a:xfrm>
          <a:prstGeom prst="roundRect">
            <a:avLst>
              <a:gd name="adj" fmla="val 2300"/>
            </a:avLst>
          </a:prstGeom>
          <a:solidFill>
            <a:srgbClr val="F6F8FC"/>
          </a:solidFill>
          <a:ln w="12700">
            <a:solidFill>
              <a:srgbClr val="E6EBF2"/>
            </a:solidFill>
            <a:prstDash val="solid"/>
          </a:ln>
          <a:effectLst>
            <a:outerShdw blurRad="127000" dist="38100" dir="5400000" algn="bl" rotWithShape="0">
              <a:srgbClr val="1E2A52">
                <a:alpha val="13000"/>
              </a:srgbClr>
            </a:outerShdw>
          </a:effectLst>
        </p:spPr>
        <p:txBody>
          <a:bodyPr/>
          <a:lstStyle/>
          <a:p>
            <a:endParaRPr lang="en-US"/>
          </a:p>
        </p:txBody>
      </p:sp>
      <p:sp>
        <p:nvSpPr>
          <p:cNvPr id="14" name="Shape 10"/>
          <p:cNvSpPr/>
          <p:nvPr/>
        </p:nvSpPr>
        <p:spPr>
          <a:xfrm>
            <a:off x="3518840" y="2505456"/>
            <a:ext cx="2311832" cy="64008"/>
          </a:xfrm>
          <a:prstGeom prst="roundRect">
            <a:avLst>
              <a:gd name="adj" fmla="val 28571"/>
            </a:avLst>
          </a:prstGeom>
          <a:solidFill>
            <a:srgbClr val="2563EB"/>
          </a:solidFill>
          <a:ln/>
        </p:spPr>
        <p:txBody>
          <a:bodyPr/>
          <a:lstStyle/>
          <a:p>
            <a:endParaRPr lang="en-US"/>
          </a:p>
        </p:txBody>
      </p:sp>
      <p:pic>
        <p:nvPicPr>
          <p:cNvPr id="15" name="Image 2" descr="assets/fi_users_ink.png"/>
          <p:cNvPicPr>
            <a:picLocks noChangeAspect="1"/>
          </p:cNvPicPr>
          <p:nvPr/>
        </p:nvPicPr>
        <p:blipFill>
          <a:blip r:embed="rId5"/>
          <a:stretch>
            <a:fillRect/>
          </a:stretch>
        </p:blipFill>
        <p:spPr>
          <a:xfrm>
            <a:off x="4363860" y="2898648"/>
            <a:ext cx="621792" cy="621792"/>
          </a:xfrm>
          <a:prstGeom prst="rect">
            <a:avLst/>
          </a:prstGeom>
        </p:spPr>
      </p:pic>
      <p:sp>
        <p:nvSpPr>
          <p:cNvPr id="16" name="Text 11"/>
          <p:cNvSpPr/>
          <p:nvPr/>
        </p:nvSpPr>
        <p:spPr>
          <a:xfrm>
            <a:off x="3482264" y="3721608"/>
            <a:ext cx="2384984" cy="274320"/>
          </a:xfrm>
          <a:prstGeom prst="rect">
            <a:avLst/>
          </a:prstGeom>
          <a:noFill/>
          <a:ln/>
        </p:spPr>
        <p:txBody>
          <a:bodyPr wrap="square" rtlCol="0" anchor="ctr">
            <a:normAutofit/>
          </a:bodyPr>
          <a:lstStyle/>
          <a:p>
            <a:pPr marL="0" indent="0" algn="ctr">
              <a:buNone/>
            </a:pPr>
            <a:r>
              <a:rPr sz="900" b="1">
                <a:solidFill>
                  <a:srgbClr val="2563EB"/>
                </a:solidFill>
                <a:latin typeface="JetBrains Mono"/>
              </a:rPr>
              <a:t>ÉTAPE 02</a:t>
            </a:r>
            <a:endParaRPr lang="en-US" sz="900" dirty="0"/>
          </a:p>
        </p:txBody>
      </p:sp>
      <p:sp>
        <p:nvSpPr>
          <p:cNvPr id="17" name="Text 12"/>
          <p:cNvSpPr/>
          <p:nvPr/>
        </p:nvSpPr>
        <p:spPr>
          <a:xfrm>
            <a:off x="3619424" y="3977640"/>
            <a:ext cx="2110664" cy="365760"/>
          </a:xfrm>
          <a:prstGeom prst="rect">
            <a:avLst/>
          </a:prstGeom>
          <a:noFill/>
          <a:ln/>
        </p:spPr>
        <p:txBody>
          <a:bodyPr wrap="square" lIns="0" tIns="0" rIns="0" bIns="0" rtlCol="0" anchor="ctr">
            <a:normAutofit/>
          </a:bodyPr>
          <a:lstStyle/>
          <a:p>
            <a:pPr marL="0" indent="0" algn="ctr">
              <a:buNone/>
            </a:pPr>
            <a:r>
              <a:rPr sz="1700" b="1">
                <a:solidFill>
                  <a:srgbClr val="0B1437"/>
                </a:solidFill>
                <a:latin typeface="Aptos Display"/>
              </a:rPr>
              <a:t>Financer</a:t>
            </a:r>
            <a:endParaRPr lang="en-US" sz="1700" dirty="0"/>
          </a:p>
        </p:txBody>
      </p:sp>
      <p:sp>
        <p:nvSpPr>
          <p:cNvPr id="18" name="Text 13"/>
          <p:cNvSpPr/>
          <p:nvPr/>
        </p:nvSpPr>
        <p:spPr>
          <a:xfrm>
            <a:off x="3683432" y="4343400"/>
            <a:ext cx="1982648" cy="640080"/>
          </a:xfrm>
          <a:prstGeom prst="rect">
            <a:avLst/>
          </a:prstGeom>
          <a:noFill/>
          <a:ln/>
        </p:spPr>
        <p:txBody>
          <a:bodyPr wrap="square" lIns="0" tIns="0" rIns="0" bIns="0" rtlCol="0" anchor="ctr">
            <a:normAutofit/>
          </a:bodyPr>
          <a:lstStyle/>
          <a:p>
            <a:pPr marL="0" indent="0" algn="ctr">
              <a:lnSpc>
                <a:spcPts val="1450"/>
              </a:lnSpc>
              <a:buNone/>
            </a:pPr>
            <a:r>
              <a:rPr sz="1100">
                <a:solidFill>
                  <a:srgbClr val="64748B"/>
                </a:solidFill>
                <a:latin typeface="Aptos"/>
              </a:rPr>
              <a:t>Le client finance depuis sa banque dans un parcours fluide</a:t>
            </a:r>
            <a:endParaRPr lang="en-US" sz="1100" dirty="0"/>
          </a:p>
        </p:txBody>
      </p:sp>
      <p:pic>
        <p:nvPicPr>
          <p:cNvPr id="19" name="Image 3" descr="assets/fi_arrow_blue.png"/>
          <p:cNvPicPr>
            <a:picLocks noChangeAspect="1"/>
          </p:cNvPicPr>
          <p:nvPr/>
        </p:nvPicPr>
        <p:blipFill>
          <a:blip r:embed="rId4"/>
          <a:stretch>
            <a:fillRect/>
          </a:stretch>
        </p:blipFill>
        <p:spPr>
          <a:xfrm>
            <a:off x="5976976" y="3429000"/>
            <a:ext cx="237744" cy="237744"/>
          </a:xfrm>
          <a:prstGeom prst="rect">
            <a:avLst/>
          </a:prstGeom>
        </p:spPr>
      </p:pic>
      <p:sp>
        <p:nvSpPr>
          <p:cNvPr id="20" name="Shape 14"/>
          <p:cNvSpPr/>
          <p:nvPr/>
        </p:nvSpPr>
        <p:spPr>
          <a:xfrm>
            <a:off x="6324448" y="2514600"/>
            <a:ext cx="2384984" cy="2606040"/>
          </a:xfrm>
          <a:prstGeom prst="roundRect">
            <a:avLst>
              <a:gd name="adj" fmla="val 2300"/>
            </a:avLst>
          </a:prstGeom>
          <a:solidFill>
            <a:srgbClr val="F6F8FC"/>
          </a:solidFill>
          <a:ln w="12700">
            <a:solidFill>
              <a:srgbClr val="E6EBF2"/>
            </a:solidFill>
            <a:prstDash val="solid"/>
          </a:ln>
          <a:effectLst>
            <a:outerShdw blurRad="127000" dist="38100" dir="5400000" algn="bl" rotWithShape="0">
              <a:srgbClr val="1E2A52">
                <a:alpha val="13000"/>
              </a:srgbClr>
            </a:outerShdw>
          </a:effectLst>
        </p:spPr>
        <p:txBody>
          <a:bodyPr/>
          <a:lstStyle/>
          <a:p>
            <a:endParaRPr lang="en-US"/>
          </a:p>
        </p:txBody>
      </p:sp>
      <p:sp>
        <p:nvSpPr>
          <p:cNvPr id="21" name="Shape 15"/>
          <p:cNvSpPr/>
          <p:nvPr/>
        </p:nvSpPr>
        <p:spPr>
          <a:xfrm>
            <a:off x="6361024" y="2505456"/>
            <a:ext cx="2311832" cy="64008"/>
          </a:xfrm>
          <a:prstGeom prst="roundRect">
            <a:avLst>
              <a:gd name="adj" fmla="val 28571"/>
            </a:avLst>
          </a:prstGeom>
          <a:solidFill>
            <a:srgbClr val="2563EB"/>
          </a:solidFill>
          <a:ln/>
        </p:spPr>
        <p:txBody>
          <a:bodyPr/>
          <a:lstStyle/>
          <a:p>
            <a:endParaRPr lang="en-US"/>
          </a:p>
        </p:txBody>
      </p:sp>
      <p:pic>
        <p:nvPicPr>
          <p:cNvPr id="22" name="Image 4" descr="assets/fi_file_ink.png"/>
          <p:cNvPicPr>
            <a:picLocks noChangeAspect="1"/>
          </p:cNvPicPr>
          <p:nvPr/>
        </p:nvPicPr>
        <p:blipFill>
          <a:blip r:embed="rId6"/>
          <a:stretch>
            <a:fillRect/>
          </a:stretch>
        </p:blipFill>
        <p:spPr>
          <a:xfrm>
            <a:off x="7206044" y="2898648"/>
            <a:ext cx="621792" cy="621792"/>
          </a:xfrm>
          <a:prstGeom prst="rect">
            <a:avLst/>
          </a:prstGeom>
        </p:spPr>
      </p:pic>
      <p:sp>
        <p:nvSpPr>
          <p:cNvPr id="23" name="Text 16"/>
          <p:cNvSpPr/>
          <p:nvPr/>
        </p:nvSpPr>
        <p:spPr>
          <a:xfrm>
            <a:off x="6324448" y="3721608"/>
            <a:ext cx="2384984" cy="274320"/>
          </a:xfrm>
          <a:prstGeom prst="rect">
            <a:avLst/>
          </a:prstGeom>
          <a:noFill/>
          <a:ln/>
        </p:spPr>
        <p:txBody>
          <a:bodyPr wrap="square" rtlCol="0" anchor="ctr">
            <a:normAutofit/>
          </a:bodyPr>
          <a:lstStyle/>
          <a:p>
            <a:pPr marL="0" indent="0" algn="ctr">
              <a:buNone/>
            </a:pPr>
            <a:r>
              <a:rPr sz="900" b="1">
                <a:solidFill>
                  <a:srgbClr val="2563EB"/>
                </a:solidFill>
                <a:latin typeface="JetBrains Mono"/>
              </a:rPr>
              <a:t>ÉTAPE 03</a:t>
            </a:r>
            <a:endParaRPr lang="en-US" sz="900" dirty="0"/>
          </a:p>
        </p:txBody>
      </p:sp>
      <p:sp>
        <p:nvSpPr>
          <p:cNvPr id="24" name="Text 17"/>
          <p:cNvSpPr/>
          <p:nvPr/>
        </p:nvSpPr>
        <p:spPr>
          <a:xfrm>
            <a:off x="6461608" y="3977640"/>
            <a:ext cx="2110664" cy="365760"/>
          </a:xfrm>
          <a:prstGeom prst="rect">
            <a:avLst/>
          </a:prstGeom>
          <a:noFill/>
          <a:ln/>
        </p:spPr>
        <p:txBody>
          <a:bodyPr wrap="square" lIns="0" tIns="0" rIns="0" bIns="0" rtlCol="0" anchor="ctr">
            <a:normAutofit/>
          </a:bodyPr>
          <a:lstStyle/>
          <a:p>
            <a:pPr marL="0" indent="0" algn="ctr">
              <a:buNone/>
            </a:pPr>
            <a:r>
              <a:rPr sz="1700" b="1">
                <a:solidFill>
                  <a:srgbClr val="0B1437"/>
                </a:solidFill>
                <a:latin typeface="Aptos Display"/>
              </a:rPr>
              <a:t>Rapprocher</a:t>
            </a:r>
            <a:endParaRPr lang="en-US" sz="1700" dirty="0"/>
          </a:p>
        </p:txBody>
      </p:sp>
      <p:sp>
        <p:nvSpPr>
          <p:cNvPr id="25" name="Text 18"/>
          <p:cNvSpPr/>
          <p:nvPr/>
        </p:nvSpPr>
        <p:spPr>
          <a:xfrm>
            <a:off x="6525616" y="4343400"/>
            <a:ext cx="1982648" cy="640080"/>
          </a:xfrm>
          <a:prstGeom prst="rect">
            <a:avLst/>
          </a:prstGeom>
          <a:noFill/>
          <a:ln/>
        </p:spPr>
        <p:txBody>
          <a:bodyPr wrap="square" lIns="0" tIns="0" rIns="0" bIns="0" rtlCol="0" anchor="ctr">
            <a:normAutofit/>
          </a:bodyPr>
          <a:lstStyle/>
          <a:p>
            <a:pPr marL="0" indent="0" algn="ctr">
              <a:lnSpc>
                <a:spcPts val="1450"/>
              </a:lnSpc>
              <a:buNone/>
            </a:pPr>
            <a:r>
              <a:rPr sz="1100">
                <a:solidFill>
                  <a:srgbClr val="64748B"/>
                </a:solidFill>
                <a:latin typeface="Aptos"/>
              </a:rPr>
              <a:t>Apparié automatiquement et rapporté dans le portail opérationnel</a:t>
            </a:r>
            <a:endParaRPr lang="en-US" sz="1100" dirty="0"/>
          </a:p>
        </p:txBody>
      </p:sp>
      <p:pic>
        <p:nvPicPr>
          <p:cNvPr id="26" name="Image 5" descr="assets/fi_arrow_blue.png"/>
          <p:cNvPicPr>
            <a:picLocks noChangeAspect="1"/>
          </p:cNvPicPr>
          <p:nvPr/>
        </p:nvPicPr>
        <p:blipFill>
          <a:blip r:embed="rId4"/>
          <a:stretch>
            <a:fillRect/>
          </a:stretch>
        </p:blipFill>
        <p:spPr>
          <a:xfrm>
            <a:off x="8819159" y="3429000"/>
            <a:ext cx="237744" cy="237744"/>
          </a:xfrm>
          <a:prstGeom prst="rect">
            <a:avLst/>
          </a:prstGeom>
        </p:spPr>
      </p:pic>
      <p:sp>
        <p:nvSpPr>
          <p:cNvPr id="27" name="Shape 19"/>
          <p:cNvSpPr/>
          <p:nvPr/>
        </p:nvSpPr>
        <p:spPr>
          <a:xfrm>
            <a:off x="9166631" y="2514600"/>
            <a:ext cx="2384984" cy="2606040"/>
          </a:xfrm>
          <a:prstGeom prst="roundRect">
            <a:avLst>
              <a:gd name="adj" fmla="val 2300"/>
            </a:avLst>
          </a:prstGeom>
          <a:solidFill>
            <a:srgbClr val="F6F8FC"/>
          </a:solidFill>
          <a:ln w="12700">
            <a:solidFill>
              <a:srgbClr val="E6EBF2"/>
            </a:solidFill>
            <a:prstDash val="solid"/>
          </a:ln>
          <a:effectLst>
            <a:outerShdw blurRad="127000" dist="38100" dir="5400000" algn="bl" rotWithShape="0">
              <a:srgbClr val="1E2A52">
                <a:alpha val="13000"/>
              </a:srgbClr>
            </a:outerShdw>
          </a:effectLst>
        </p:spPr>
        <p:txBody>
          <a:bodyPr/>
          <a:lstStyle/>
          <a:p>
            <a:endParaRPr lang="en-US"/>
          </a:p>
        </p:txBody>
      </p:sp>
      <p:sp>
        <p:nvSpPr>
          <p:cNvPr id="28" name="Shape 20"/>
          <p:cNvSpPr/>
          <p:nvPr/>
        </p:nvSpPr>
        <p:spPr>
          <a:xfrm>
            <a:off x="9203207" y="2505456"/>
            <a:ext cx="2311832" cy="64008"/>
          </a:xfrm>
          <a:prstGeom prst="roundRect">
            <a:avLst>
              <a:gd name="adj" fmla="val 28571"/>
            </a:avLst>
          </a:prstGeom>
          <a:solidFill>
            <a:srgbClr val="2563EB"/>
          </a:solidFill>
          <a:ln/>
        </p:spPr>
        <p:txBody>
          <a:bodyPr/>
          <a:lstStyle/>
          <a:p>
            <a:endParaRPr lang="en-US"/>
          </a:p>
        </p:txBody>
      </p:sp>
      <p:pic>
        <p:nvPicPr>
          <p:cNvPr id="29" name="Image 6" descr="assets/fi_db_ink.png"/>
          <p:cNvPicPr>
            <a:picLocks noChangeAspect="1"/>
          </p:cNvPicPr>
          <p:nvPr/>
        </p:nvPicPr>
        <p:blipFill>
          <a:blip r:embed="rId7"/>
          <a:stretch>
            <a:fillRect/>
          </a:stretch>
        </p:blipFill>
        <p:spPr>
          <a:xfrm>
            <a:off x="10048227" y="2898648"/>
            <a:ext cx="621792" cy="621792"/>
          </a:xfrm>
          <a:prstGeom prst="rect">
            <a:avLst/>
          </a:prstGeom>
        </p:spPr>
      </p:pic>
      <p:sp>
        <p:nvSpPr>
          <p:cNvPr id="30" name="Text 21"/>
          <p:cNvSpPr/>
          <p:nvPr/>
        </p:nvSpPr>
        <p:spPr>
          <a:xfrm>
            <a:off x="9166631" y="3721608"/>
            <a:ext cx="2384984" cy="274320"/>
          </a:xfrm>
          <a:prstGeom prst="rect">
            <a:avLst/>
          </a:prstGeom>
          <a:noFill/>
          <a:ln/>
        </p:spPr>
        <p:txBody>
          <a:bodyPr wrap="square" rtlCol="0" anchor="ctr">
            <a:normAutofit/>
          </a:bodyPr>
          <a:lstStyle/>
          <a:p>
            <a:pPr marL="0" indent="0" algn="ctr">
              <a:buNone/>
            </a:pPr>
            <a:r>
              <a:rPr sz="900" b="1">
                <a:solidFill>
                  <a:srgbClr val="2563EB"/>
                </a:solidFill>
                <a:latin typeface="JetBrains Mono"/>
              </a:rPr>
              <a:t>ÉTAPE 04</a:t>
            </a:r>
            <a:endParaRPr lang="en-US" sz="900" dirty="0"/>
          </a:p>
        </p:txBody>
      </p:sp>
      <p:sp>
        <p:nvSpPr>
          <p:cNvPr id="31" name="Text 22"/>
          <p:cNvSpPr/>
          <p:nvPr/>
        </p:nvSpPr>
        <p:spPr>
          <a:xfrm>
            <a:off x="9303791" y="3977640"/>
            <a:ext cx="2110664" cy="365760"/>
          </a:xfrm>
          <a:prstGeom prst="rect">
            <a:avLst/>
          </a:prstGeom>
          <a:noFill/>
          <a:ln/>
        </p:spPr>
        <p:txBody>
          <a:bodyPr wrap="square" lIns="0" tIns="0" rIns="0" bIns="0" rtlCol="0" anchor="ctr">
            <a:normAutofit/>
          </a:bodyPr>
          <a:lstStyle/>
          <a:p>
            <a:pPr marL="0" indent="0" algn="ctr">
              <a:buNone/>
            </a:pPr>
            <a:r>
              <a:rPr sz="1700" b="1">
                <a:solidFill>
                  <a:srgbClr val="0B1437"/>
                </a:solidFill>
                <a:latin typeface="Aptos Display"/>
              </a:rPr>
              <a:t>Payer</a:t>
            </a:r>
            <a:endParaRPr lang="en-US" sz="1700" dirty="0"/>
          </a:p>
        </p:txBody>
      </p:sp>
      <p:sp>
        <p:nvSpPr>
          <p:cNvPr id="32" name="Text 23"/>
          <p:cNvSpPr/>
          <p:nvPr/>
        </p:nvSpPr>
        <p:spPr>
          <a:xfrm>
            <a:off x="9367799" y="4343400"/>
            <a:ext cx="1982648" cy="640080"/>
          </a:xfrm>
          <a:prstGeom prst="rect">
            <a:avLst/>
          </a:prstGeom>
          <a:noFill/>
          <a:ln/>
        </p:spPr>
        <p:txBody>
          <a:bodyPr wrap="square" lIns="0" tIns="0" rIns="0" bIns="0" rtlCol="0" anchor="ctr">
            <a:normAutofit/>
          </a:bodyPr>
          <a:lstStyle/>
          <a:p>
            <a:pPr marL="0" indent="0" algn="ctr">
              <a:lnSpc>
                <a:spcPts val="1450"/>
              </a:lnSpc>
              <a:buNone/>
            </a:pPr>
            <a:r>
              <a:rPr sz="1100">
                <a:solidFill>
                  <a:srgbClr val="64748B"/>
                </a:solidFill>
                <a:latin typeface="Aptos"/>
              </a:rPr>
              <a:t>Paiement EFT ou e-Transfer vers le fournisseur ou l’employé</a:t>
            </a:r>
            <a:endParaRPr lang="en-US" sz="1100" dirty="0"/>
          </a:p>
        </p:txBody>
      </p:sp>
      <p:sp>
        <p:nvSpPr>
          <p:cNvPr id="33" name="Shape 24"/>
          <p:cNvSpPr/>
          <p:nvPr/>
        </p:nvSpPr>
        <p:spPr>
          <a:xfrm>
            <a:off x="640080" y="5486400"/>
            <a:ext cx="10911535" cy="502920"/>
          </a:xfrm>
          <a:prstGeom prst="roundRect">
            <a:avLst>
              <a:gd name="adj" fmla="val 10909"/>
            </a:avLst>
          </a:prstGeom>
          <a:solidFill>
            <a:srgbClr val="F1F5FB"/>
          </a:solidFill>
          <a:ln/>
        </p:spPr>
        <p:txBody>
          <a:bodyPr/>
          <a:lstStyle/>
          <a:p>
            <a:endParaRPr lang="en-US"/>
          </a:p>
        </p:txBody>
      </p:sp>
      <p:sp>
        <p:nvSpPr>
          <p:cNvPr id="34" name="Text 25"/>
          <p:cNvSpPr/>
          <p:nvPr/>
        </p:nvSpPr>
        <p:spPr>
          <a:xfrm>
            <a:off x="640080" y="5486400"/>
            <a:ext cx="10911535" cy="502920"/>
          </a:xfrm>
          <a:prstGeom prst="rect">
            <a:avLst/>
          </a:prstGeom>
          <a:noFill/>
          <a:ln/>
        </p:spPr>
        <p:txBody>
          <a:bodyPr wrap="square" lIns="0" tIns="0" rIns="0" bIns="0" rtlCol="0" anchor="ctr">
            <a:normAutofit/>
          </a:bodyPr>
          <a:lstStyle/>
          <a:p>
            <a:pPr marL="0" indent="0" algn="ctr">
              <a:buNone/>
            </a:pPr>
            <a:r>
              <a:rPr sz="1300">
                <a:solidFill>
                  <a:srgbClr val="64748B"/>
                </a:solidFill>
                <a:latin typeface="Aptos"/>
              </a:rPr>
              <a:t>Payeurs  PME clientes     Bénéficiaires  fournisseurs et employés</a:t>
            </a:r>
            <a:endParaRPr lang="en-US" sz="1300" dirty="0"/>
          </a:p>
        </p:txBody>
      </p:sp>
      <p:sp>
        <p:nvSpPr>
          <p:cNvPr id="35" name="Text 26"/>
          <p:cNvSpPr/>
          <p:nvPr/>
        </p:nvSpPr>
        <p:spPr>
          <a:xfrm>
            <a:off x="640080" y="6455664"/>
            <a:ext cx="9144000" cy="274320"/>
          </a:xfrm>
          <a:prstGeom prst="rect">
            <a:avLst/>
          </a:prstGeom>
          <a:noFill/>
          <a:ln/>
        </p:spPr>
        <p:txBody>
          <a:bodyPr wrap="square" rtlCol="0" anchor="ctr">
            <a:normAutofit/>
          </a:bodyPr>
          <a:lstStyle/>
          <a:p>
            <a:pPr marL="0" indent="0">
              <a:buNone/>
            </a:pPr>
            <a:r>
              <a:rPr sz="750">
                <a:solidFill>
                  <a:srgbClr val="94A3B8"/>
                </a:solidFill>
                <a:latin typeface="JetBrains Mono"/>
              </a:rPr>
              <a:t>DREAM PAYMENTS  ·  HUB DE PAIEMENTS D’AFFAIRES  ·  PROPOSITION COMMERCIALE</a:t>
            </a:r>
            <a:endParaRPr lang="en-US" sz="750" dirty="0"/>
          </a:p>
        </p:txBody>
      </p:sp>
      <p:sp>
        <p:nvSpPr>
          <p:cNvPr id="36" name="Text 27"/>
          <p:cNvSpPr/>
          <p:nvPr/>
        </p:nvSpPr>
        <p:spPr>
          <a:xfrm>
            <a:off x="10637215" y="6455664"/>
            <a:ext cx="914400" cy="274320"/>
          </a:xfrm>
          <a:prstGeom prst="rect">
            <a:avLst/>
          </a:prstGeom>
          <a:noFill/>
          <a:ln/>
        </p:spPr>
        <p:txBody>
          <a:bodyPr wrap="square" rtlCol="0" anchor="ctr">
            <a:normAutofit/>
          </a:bodyPr>
          <a:lstStyle/>
          <a:p>
            <a:pPr marL="0" indent="0" algn="r">
              <a:buNone/>
            </a:pPr>
            <a:r>
              <a:rPr sz="800" b="1">
                <a:solidFill>
                  <a:srgbClr val="2563EB"/>
                </a:solidFill>
                <a:latin typeface="JetBrains Mono"/>
              </a:rPr>
              <a:t>08</a:t>
            </a:r>
            <a:endParaRPr lang="en-US" sz="800" dirty="0"/>
          </a:p>
        </p:txBody>
      </p:sp>
      <p:sp>
        <p:nvSpPr>
          <p:cNvPr id="950" name="subtitle"/>
          <p:cNvSpPr txBox="1"/>
          <p:nvPr/>
        </p:nvSpPr>
        <p:spPr>
          <a:xfrm>
            <a:off x="640080" y="1874520"/>
            <a:ext cx="10728655" cy="590000"/>
          </a:xfrm>
          <a:prstGeom prst="rect">
            <a:avLst/>
          </a:prstGeom>
          <a:noFill/>
        </p:spPr>
        <p:txBody>
          <a:bodyPr wrap="square" lIns="0" tIns="0" rIns="0" bIns="0" anchor="t">
            <a:normAutofit/>
          </a:bodyPr>
          <a:lstStyle/>
          <a:p>
            <a:pPr algn="l">
              <a:lnSpc>
                <a:spcPct val="108000"/>
              </a:lnSpc>
              <a:buNone/>
            </a:pPr>
            <a:r>
              <a:rPr sz="1200">
                <a:solidFill>
                  <a:srgbClr val="64748B"/>
                </a:solidFill>
                <a:latin typeface="Aptos"/>
              </a:rPr>
              <a:t>Comment un paiement circule de bout en bout : 60 Seconds émet une demande Interac e-Transfer, le client finance, Dream valide et rapproche les fonds, puis paie le fournisseur ou l’employé par EFT ou e-Transfer. Chaque étape est suivie, afin que l’argent entrant corresponde toujours à l’argent sortant.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256032"/>
          </a:xfrm>
          <a:prstGeom prst="rect">
            <a:avLst/>
          </a:prstGeom>
          <a:noFill/>
          <a:ln/>
        </p:spPr>
        <p:txBody>
          <a:bodyPr wrap="square" rtlCol="0" anchor="ctr">
            <a:normAutofit/>
          </a:bodyPr>
          <a:lstStyle/>
          <a:p>
            <a:pPr marL="0" indent="0">
              <a:buNone/>
            </a:pPr>
            <a:r>
              <a:rPr sz="1100" b="1">
                <a:solidFill>
                  <a:srgbClr val="2563EB"/>
                </a:solidFill>
                <a:latin typeface="JetBrains Mono"/>
              </a:rPr>
              <a:t>DREAM PAYMENTS</a:t>
            </a:r>
            <a:endParaRPr lang="en-US" sz="1100" dirty="0"/>
          </a:p>
        </p:txBody>
      </p:sp>
      <p:sp>
        <p:nvSpPr>
          <p:cNvPr id="3" name="Text 1"/>
          <p:cNvSpPr/>
          <p:nvPr/>
        </p:nvSpPr>
        <p:spPr>
          <a:xfrm>
            <a:off x="640080" y="749808"/>
            <a:ext cx="8229600" cy="237744"/>
          </a:xfrm>
          <a:prstGeom prst="rect">
            <a:avLst/>
          </a:prstGeom>
          <a:noFill/>
          <a:ln/>
        </p:spPr>
        <p:txBody>
          <a:bodyPr wrap="square" rtlCol="0" anchor="ctr">
            <a:normAutofit/>
          </a:bodyPr>
          <a:lstStyle/>
          <a:p>
            <a:pPr marL="0" indent="0">
              <a:buNone/>
            </a:pPr>
            <a:r>
              <a:rPr sz="950">
                <a:solidFill>
                  <a:srgbClr val="64748B"/>
                </a:solidFill>
                <a:latin typeface="JetBrains Mono"/>
              </a:rPr>
              <a:t>05 · ARCHITECTURE</a:t>
            </a:r>
            <a:endParaRPr lang="en-US" sz="950" dirty="0"/>
          </a:p>
        </p:txBody>
      </p:sp>
      <p:sp>
        <p:nvSpPr>
          <p:cNvPr id="4" name="Shape 2"/>
          <p:cNvSpPr/>
          <p:nvPr/>
        </p:nvSpPr>
        <p:spPr>
          <a:xfrm>
            <a:off x="640080" y="1078992"/>
            <a:ext cx="10911535" cy="0"/>
          </a:xfrm>
          <a:prstGeom prst="line">
            <a:avLst/>
          </a:prstGeom>
          <a:noFill/>
          <a:ln w="12700">
            <a:solidFill>
              <a:srgbClr val="E6EBF2"/>
            </a:solidFill>
            <a:prstDash val="solid"/>
          </a:ln>
        </p:spPr>
        <p:txBody>
          <a:bodyPr/>
          <a:lstStyle/>
          <a:p>
            <a:endParaRPr lang="en-US"/>
          </a:p>
        </p:txBody>
      </p:sp>
      <p:sp>
        <p:nvSpPr>
          <p:cNvPr id="5" name="Text 3"/>
          <p:cNvSpPr/>
          <p:nvPr/>
        </p:nvSpPr>
        <p:spPr>
          <a:xfrm>
            <a:off x="640080" y="1298448"/>
            <a:ext cx="10911535" cy="566928"/>
          </a:xfrm>
          <a:prstGeom prst="rect">
            <a:avLst/>
          </a:prstGeom>
          <a:noFill/>
          <a:ln/>
        </p:spPr>
        <p:txBody>
          <a:bodyPr wrap="square" lIns="0" tIns="0" rIns="0" bIns="0" rtlCol="0" anchor="ctr">
            <a:normAutofit/>
          </a:bodyPr>
          <a:lstStyle/>
          <a:p>
            <a:pPr marL="0" indent="0">
              <a:buNone/>
            </a:pPr>
            <a:r>
              <a:rPr sz="2700" b="1">
                <a:solidFill>
                  <a:srgbClr val="0B1437"/>
                </a:solidFill>
                <a:latin typeface="Aptos Display"/>
              </a:rPr>
              <a:t>L’architecture, de haut en bas.</a:t>
            </a:r>
            <a:endParaRPr lang="en-US" sz="2700" dirty="0"/>
          </a:p>
        </p:txBody>
      </p:sp>
      <p:sp>
        <p:nvSpPr>
          <p:cNvPr id="55" name="Text 48"/>
          <p:cNvSpPr/>
          <p:nvPr/>
        </p:nvSpPr>
        <p:spPr>
          <a:xfrm>
            <a:off x="640080" y="6455664"/>
            <a:ext cx="9144000" cy="274320"/>
          </a:xfrm>
          <a:prstGeom prst="rect">
            <a:avLst/>
          </a:prstGeom>
          <a:noFill/>
          <a:ln/>
        </p:spPr>
        <p:txBody>
          <a:bodyPr wrap="square" rtlCol="0" anchor="ctr">
            <a:normAutofit/>
          </a:bodyPr>
          <a:lstStyle/>
          <a:p>
            <a:pPr marL="0" indent="0">
              <a:buNone/>
            </a:pPr>
            <a:r>
              <a:rPr sz="750">
                <a:solidFill>
                  <a:srgbClr val="94A3B8"/>
                </a:solidFill>
                <a:latin typeface="JetBrains Mono"/>
              </a:rPr>
              <a:t>DREAM PAYMENTS  ·  HUB DE PAIEMENTS D’AFFAIRES  ·  PROPOSITION COMMERCIALE</a:t>
            </a:r>
            <a:endParaRPr lang="en-US" sz="750" dirty="0"/>
          </a:p>
        </p:txBody>
      </p:sp>
      <p:sp>
        <p:nvSpPr>
          <p:cNvPr id="56" name="Text 49"/>
          <p:cNvSpPr/>
          <p:nvPr/>
        </p:nvSpPr>
        <p:spPr>
          <a:xfrm>
            <a:off x="10637215" y="6455664"/>
            <a:ext cx="914400" cy="274320"/>
          </a:xfrm>
          <a:prstGeom prst="rect">
            <a:avLst/>
          </a:prstGeom>
          <a:noFill/>
          <a:ln/>
        </p:spPr>
        <p:txBody>
          <a:bodyPr wrap="square" rtlCol="0" anchor="ctr">
            <a:normAutofit/>
          </a:bodyPr>
          <a:lstStyle/>
          <a:p>
            <a:pPr marL="0" indent="0" algn="r">
              <a:buNone/>
            </a:pPr>
            <a:r>
              <a:rPr sz="800" b="1">
                <a:solidFill>
                  <a:srgbClr val="2563EB"/>
                </a:solidFill>
                <a:latin typeface="JetBrains Mono"/>
              </a:rPr>
              <a:t>09</a:t>
            </a:r>
            <a:endParaRPr lang="en-US" sz="800" dirty="0"/>
          </a:p>
        </p:txBody>
      </p:sp>
      <p:sp>
        <p:nvSpPr>
          <p:cNvPr id="6" name="t"/>
          <p:cNvSpPr txBox="1"/>
          <p:nvPr/>
        </p:nvSpPr>
        <p:spPr>
          <a:xfrm>
            <a:off x="640080" y="2370000"/>
            <a:ext cx="1600000" cy="230000"/>
          </a:xfrm>
          <a:prstGeom prst="rect">
            <a:avLst/>
          </a:prstGeom>
          <a:noFill/>
          <a:ln/>
        </p:spPr>
        <p:txBody>
          <a:bodyPr wrap="square" lIns="0" tIns="0" rIns="0" bIns="0" rtlCol="0" anchor="t">
            <a:normAutofit/>
          </a:bodyPr>
          <a:lstStyle/>
          <a:p>
            <a:pPr marL="0" indent="0" algn="l">
              <a:buNone/>
            </a:pPr>
            <a:r>
              <a:rPr sz="850">
                <a:solidFill>
                  <a:srgbClr val="2563EB"/>
                </a:solidFill>
                <a:latin typeface="JetBrains Mono"/>
              </a:rPr>
              <a:t>COUCHE 01</a:t>
            </a:r>
          </a:p>
        </p:txBody>
      </p:sp>
      <p:sp>
        <p:nvSpPr>
          <p:cNvPr id="7" name="t"/>
          <p:cNvSpPr txBox="1"/>
          <p:nvPr/>
        </p:nvSpPr>
        <p:spPr>
          <a:xfrm>
            <a:off x="640080" y="2600000"/>
            <a:ext cx="1640000" cy="360000"/>
          </a:xfrm>
          <a:prstGeom prst="rect">
            <a:avLst/>
          </a:prstGeom>
          <a:noFill/>
          <a:ln/>
        </p:spPr>
        <p:txBody>
          <a:bodyPr wrap="square" lIns="0" tIns="0" rIns="0" bIns="0" rtlCol="0" anchor="t">
            <a:normAutofit/>
          </a:bodyPr>
          <a:lstStyle/>
          <a:p>
            <a:pPr marL="0" indent="0" algn="l">
              <a:buNone/>
            </a:pPr>
            <a:r>
              <a:rPr sz="1250">
                <a:solidFill>
                  <a:srgbClr val="0B1437"/>
                </a:solidFill>
                <a:latin typeface="Aptos Display"/>
              </a:rPr>
              <a:t>Qui paie</a:t>
            </a:r>
          </a:p>
        </p:txBody>
      </p:sp>
      <p:sp>
        <p:nvSpPr>
          <p:cNvPr id="8" name="b1"/>
          <p:cNvSpPr/>
          <p:nvPr/>
        </p:nvSpPr>
        <p:spPr>
          <a:xfrm>
            <a:off x="2331720" y="2300000"/>
            <a:ext cx="9219895" cy="470000"/>
          </a:xfrm>
          <a:prstGeom prst="roundRect">
            <a:avLst>
              <a:gd name="adj" fmla="val 12000"/>
            </a:avLst>
          </a:prstGeom>
          <a:solidFill>
            <a:srgbClr val="F6F8FC"/>
          </a:solidFill>
          <a:ln w="12700">
            <a:solidFill>
              <a:srgbClr val="E6EBF2"/>
            </a:solidFill>
            <a:prstDash val="solid"/>
          </a:ln>
          <a:effectLst>
            <a:outerShdw blurRad="127000" dist="38100" dir="5400000" algn="bl" rotWithShape="0">
              <a:srgbClr val="1E2A52">
                <a:alpha val="13000"/>
              </a:srgbClr>
            </a:outerShdw>
          </a:effectLst>
        </p:spPr>
        <p:txBody>
          <a:bodyPr/>
          <a:lstStyle/>
          <a:p>
            <a:endParaRPr/>
          </a:p>
        </p:txBody>
      </p:sp>
      <p:pic>
        <p:nvPicPr>
          <p:cNvPr id="9" name="ic"/>
          <p:cNvPicPr/>
          <p:nvPr/>
        </p:nvPicPr>
        <p:blipFill>
          <a:blip r:embed="rId3"/>
          <a:stretch>
            <a:fillRect/>
          </a:stretch>
        </p:blipFill>
        <p:spPr>
          <a:xfrm>
            <a:off x="2581720" y="2385000"/>
            <a:ext cx="300000" cy="300000"/>
          </a:xfrm>
          <a:prstGeom prst="rect">
            <a:avLst/>
          </a:prstGeom>
        </p:spPr>
      </p:pic>
      <p:sp>
        <p:nvSpPr>
          <p:cNvPr id="10" name="t"/>
          <p:cNvSpPr txBox="1"/>
          <p:nvPr/>
        </p:nvSpPr>
        <p:spPr>
          <a:xfrm>
            <a:off x="3011720" y="2405000"/>
            <a:ext cx="8319895" cy="260000"/>
          </a:xfrm>
          <a:prstGeom prst="rect">
            <a:avLst/>
          </a:prstGeom>
          <a:noFill/>
          <a:ln/>
        </p:spPr>
        <p:txBody>
          <a:bodyPr wrap="square" lIns="0" tIns="0" rIns="0" bIns="0" rtlCol="0" anchor="t">
            <a:normAutofit/>
          </a:bodyPr>
          <a:lstStyle/>
          <a:p>
            <a:pPr marL="0" indent="0" algn="l">
              <a:buNone/>
            </a:pPr>
            <a:r>
              <a:rPr sz="1500" b="1">
                <a:solidFill>
                  <a:srgbClr val="0B1437"/>
                </a:solidFill>
                <a:latin typeface="Aptos Display"/>
              </a:rPr>
              <a:t>PME   ·   Entreprises   ·   Clients</a:t>
            </a:r>
          </a:p>
        </p:txBody>
      </p:sp>
      <p:sp>
        <p:nvSpPr>
          <p:cNvPr id="11" name="t"/>
          <p:cNvSpPr txBox="1"/>
          <p:nvPr/>
        </p:nvSpPr>
        <p:spPr>
          <a:xfrm>
            <a:off x="3011720" y="2620000"/>
            <a:ext cx="8319895" cy="200000"/>
          </a:xfrm>
          <a:prstGeom prst="rect">
            <a:avLst/>
          </a:prstGeom>
          <a:noFill/>
          <a:ln/>
        </p:spPr>
        <p:txBody>
          <a:bodyPr wrap="square" lIns="0" tIns="0" rIns="0" bIns="0" rtlCol="0" anchor="t">
            <a:normAutofit/>
          </a:bodyPr>
          <a:lstStyle/>
          <a:p>
            <a:pPr marL="0" indent="0" algn="l">
              <a:buNone/>
            </a:pPr>
            <a:r>
              <a:rPr sz="1000">
                <a:solidFill>
                  <a:srgbClr val="64748B"/>
                </a:solidFill>
                <a:latin typeface="Aptos"/>
              </a:rPr>
              <a:t>Ils interagissent uniquement avec l’expérience 60 Seconds.</a:t>
            </a:r>
          </a:p>
        </p:txBody>
      </p:sp>
      <p:sp>
        <p:nvSpPr>
          <p:cNvPr id="12" name="t"/>
          <p:cNvSpPr txBox="1"/>
          <p:nvPr/>
        </p:nvSpPr>
        <p:spPr>
          <a:xfrm>
            <a:off x="6801667" y="2790000"/>
            <a:ext cx="280000" cy="120000"/>
          </a:xfrm>
          <a:prstGeom prst="rect">
            <a:avLst/>
          </a:prstGeom>
          <a:noFill/>
          <a:ln/>
        </p:spPr>
        <p:txBody>
          <a:bodyPr wrap="square" lIns="0" tIns="0" rIns="0" bIns="0" rtlCol="0" anchor="ctr">
            <a:normAutofit/>
          </a:bodyPr>
          <a:lstStyle/>
          <a:p>
            <a:pPr marL="0" indent="0" algn="ctr">
              <a:buNone/>
            </a:pPr>
            <a:r>
              <a:rPr sz="1100">
                <a:solidFill>
                  <a:srgbClr val="94A3B8"/>
                </a:solidFill>
                <a:latin typeface="Aptos"/>
              </a:rPr>
              <a:t>▾</a:t>
            </a:r>
          </a:p>
        </p:txBody>
      </p:sp>
      <p:sp>
        <p:nvSpPr>
          <p:cNvPr id="13" name="t"/>
          <p:cNvSpPr txBox="1"/>
          <p:nvPr/>
        </p:nvSpPr>
        <p:spPr>
          <a:xfrm>
            <a:off x="640080" y="2950000"/>
            <a:ext cx="1600000" cy="230000"/>
          </a:xfrm>
          <a:prstGeom prst="rect">
            <a:avLst/>
          </a:prstGeom>
          <a:noFill/>
          <a:ln/>
        </p:spPr>
        <p:txBody>
          <a:bodyPr wrap="square" lIns="0" tIns="0" rIns="0" bIns="0" rtlCol="0" anchor="t">
            <a:normAutofit/>
          </a:bodyPr>
          <a:lstStyle/>
          <a:p>
            <a:pPr marL="0" indent="0" algn="l">
              <a:buNone/>
            </a:pPr>
            <a:r>
              <a:rPr sz="850">
                <a:solidFill>
                  <a:srgbClr val="2563EB"/>
                </a:solidFill>
                <a:latin typeface="JetBrains Mono"/>
              </a:rPr>
              <a:t>COUCHE 02</a:t>
            </a:r>
          </a:p>
        </p:txBody>
      </p:sp>
      <p:sp>
        <p:nvSpPr>
          <p:cNvPr id="14" name="t"/>
          <p:cNvSpPr txBox="1"/>
          <p:nvPr/>
        </p:nvSpPr>
        <p:spPr>
          <a:xfrm>
            <a:off x="640080" y="3180000"/>
            <a:ext cx="1640000" cy="360000"/>
          </a:xfrm>
          <a:prstGeom prst="rect">
            <a:avLst/>
          </a:prstGeom>
          <a:noFill/>
          <a:ln/>
        </p:spPr>
        <p:txBody>
          <a:bodyPr wrap="square" lIns="0" tIns="0" rIns="0" bIns="0" rtlCol="0" anchor="t">
            <a:normAutofit/>
          </a:bodyPr>
          <a:lstStyle/>
          <a:p>
            <a:pPr marL="0" indent="0" algn="l">
              <a:buNone/>
            </a:pPr>
            <a:r>
              <a:rPr sz="1250">
                <a:solidFill>
                  <a:srgbClr val="0B1437"/>
                </a:solidFill>
                <a:latin typeface="Aptos Display"/>
              </a:rPr>
              <a:t>60 Seconds</a:t>
            </a:r>
          </a:p>
        </p:txBody>
      </p:sp>
      <p:sp>
        <p:nvSpPr>
          <p:cNvPr id="15" name="b2"/>
          <p:cNvSpPr/>
          <p:nvPr/>
        </p:nvSpPr>
        <p:spPr>
          <a:xfrm>
            <a:off x="2331720" y="2880000"/>
            <a:ext cx="9219895" cy="470000"/>
          </a:xfrm>
          <a:prstGeom prst="roundRect">
            <a:avLst>
              <a:gd name="adj" fmla="val 12000"/>
            </a:avLst>
          </a:prstGeom>
          <a:solidFill>
            <a:srgbClr val="F6F8FC"/>
          </a:solidFill>
          <a:ln w="12700">
            <a:solidFill>
              <a:srgbClr val="E6EBF2"/>
            </a:solidFill>
            <a:prstDash val="solid"/>
          </a:ln>
          <a:effectLst>
            <a:outerShdw blurRad="127000" dist="38100" dir="5400000" algn="bl" rotWithShape="0">
              <a:srgbClr val="1E2A52">
                <a:alpha val="13000"/>
              </a:srgbClr>
            </a:outerShdw>
          </a:effectLst>
        </p:spPr>
        <p:txBody>
          <a:bodyPr/>
          <a:lstStyle/>
          <a:p>
            <a:endParaRPr/>
          </a:p>
        </p:txBody>
      </p:sp>
      <p:pic>
        <p:nvPicPr>
          <p:cNvPr id="16" name="ic"/>
          <p:cNvPicPr/>
          <p:nvPr/>
        </p:nvPicPr>
        <p:blipFill>
          <a:blip r:embed="rId4"/>
          <a:stretch>
            <a:fillRect/>
          </a:stretch>
        </p:blipFill>
        <p:spPr>
          <a:xfrm>
            <a:off x="2581720" y="2965000"/>
            <a:ext cx="300000" cy="300000"/>
          </a:xfrm>
          <a:prstGeom prst="rect">
            <a:avLst/>
          </a:prstGeom>
        </p:spPr>
      </p:pic>
      <p:sp>
        <p:nvSpPr>
          <p:cNvPr id="17" name="t"/>
          <p:cNvSpPr txBox="1"/>
          <p:nvPr/>
        </p:nvSpPr>
        <p:spPr>
          <a:xfrm>
            <a:off x="3011720" y="2985000"/>
            <a:ext cx="8319895" cy="260000"/>
          </a:xfrm>
          <a:prstGeom prst="rect">
            <a:avLst/>
          </a:prstGeom>
          <a:noFill/>
          <a:ln/>
        </p:spPr>
        <p:txBody>
          <a:bodyPr wrap="square" lIns="0" tIns="0" rIns="0" bIns="0" rtlCol="0" anchor="t">
            <a:normAutofit/>
          </a:bodyPr>
          <a:lstStyle/>
          <a:p>
            <a:pPr marL="0" indent="0" algn="l">
              <a:buNone/>
            </a:pPr>
            <a:r>
              <a:rPr sz="1500" b="1">
                <a:solidFill>
                  <a:srgbClr val="0B1437"/>
                </a:solidFill>
                <a:latin typeface="Aptos Display"/>
              </a:rPr>
              <a:t>Plateforme 60 Seconds</a:t>
            </a:r>
          </a:p>
        </p:txBody>
      </p:sp>
      <p:sp>
        <p:nvSpPr>
          <p:cNvPr id="18" name="t"/>
          <p:cNvSpPr txBox="1"/>
          <p:nvPr/>
        </p:nvSpPr>
        <p:spPr>
          <a:xfrm>
            <a:off x="3011720" y="3200000"/>
            <a:ext cx="8319895" cy="200000"/>
          </a:xfrm>
          <a:prstGeom prst="rect">
            <a:avLst/>
          </a:prstGeom>
          <a:noFill/>
          <a:ln/>
        </p:spPr>
        <p:txBody>
          <a:bodyPr wrap="square" lIns="0" tIns="0" rIns="0" bIns="0" rtlCol="0" anchor="t">
            <a:normAutofit/>
          </a:bodyPr>
          <a:lstStyle/>
          <a:p>
            <a:pPr marL="0" indent="0" algn="l">
              <a:buNone/>
            </a:pPr>
            <a:r>
              <a:rPr sz="1000">
                <a:solidFill>
                  <a:srgbClr val="64748B"/>
                </a:solidFill>
                <a:latin typeface="Aptos"/>
              </a:rPr>
              <a:t>L’interface à l’image de marque où les entreprises initient les paiements.</a:t>
            </a:r>
          </a:p>
        </p:txBody>
      </p:sp>
      <p:sp>
        <p:nvSpPr>
          <p:cNvPr id="19" name="t"/>
          <p:cNvSpPr txBox="1"/>
          <p:nvPr/>
        </p:nvSpPr>
        <p:spPr>
          <a:xfrm>
            <a:off x="6801667" y="3370000"/>
            <a:ext cx="280000" cy="120000"/>
          </a:xfrm>
          <a:prstGeom prst="rect">
            <a:avLst/>
          </a:prstGeom>
          <a:noFill/>
          <a:ln/>
        </p:spPr>
        <p:txBody>
          <a:bodyPr wrap="square" lIns="0" tIns="0" rIns="0" bIns="0" rtlCol="0" anchor="ctr">
            <a:normAutofit/>
          </a:bodyPr>
          <a:lstStyle/>
          <a:p>
            <a:pPr marL="0" indent="0" algn="ctr">
              <a:buNone/>
            </a:pPr>
            <a:r>
              <a:rPr sz="1100">
                <a:solidFill>
                  <a:srgbClr val="94A3B8"/>
                </a:solidFill>
                <a:latin typeface="Aptos"/>
              </a:rPr>
              <a:t>▾</a:t>
            </a:r>
          </a:p>
        </p:txBody>
      </p:sp>
      <p:sp>
        <p:nvSpPr>
          <p:cNvPr id="20" name="t"/>
          <p:cNvSpPr txBox="1"/>
          <p:nvPr/>
        </p:nvSpPr>
        <p:spPr>
          <a:xfrm>
            <a:off x="640080" y="3490000"/>
            <a:ext cx="1600000" cy="230000"/>
          </a:xfrm>
          <a:prstGeom prst="rect">
            <a:avLst/>
          </a:prstGeom>
          <a:noFill/>
          <a:ln/>
        </p:spPr>
        <p:txBody>
          <a:bodyPr wrap="square" lIns="0" tIns="0" rIns="0" bIns="0" rtlCol="0" anchor="t">
            <a:normAutofit/>
          </a:bodyPr>
          <a:lstStyle/>
          <a:p>
            <a:pPr marL="0" indent="0" algn="l">
              <a:buNone/>
            </a:pPr>
            <a:r>
              <a:rPr sz="850">
                <a:solidFill>
                  <a:srgbClr val="2563EB"/>
                </a:solidFill>
                <a:latin typeface="JetBrains Mono"/>
              </a:rPr>
              <a:t>COUCHE 03</a:t>
            </a:r>
          </a:p>
        </p:txBody>
      </p:sp>
      <p:sp>
        <p:nvSpPr>
          <p:cNvPr id="21" name="t"/>
          <p:cNvSpPr txBox="1"/>
          <p:nvPr/>
        </p:nvSpPr>
        <p:spPr>
          <a:xfrm>
            <a:off x="640080" y="3720000"/>
            <a:ext cx="1640000" cy="360000"/>
          </a:xfrm>
          <a:prstGeom prst="rect">
            <a:avLst/>
          </a:prstGeom>
          <a:noFill/>
          <a:ln/>
        </p:spPr>
        <p:txBody>
          <a:bodyPr wrap="square" lIns="0" tIns="0" rIns="0" bIns="0" rtlCol="0" anchor="t">
            <a:normAutofit/>
          </a:bodyPr>
          <a:lstStyle/>
          <a:p>
            <a:pPr marL="0" indent="0" algn="l">
              <a:buNone/>
            </a:pPr>
            <a:r>
              <a:rPr sz="1250">
                <a:solidFill>
                  <a:srgbClr val="0B1437"/>
                </a:solidFill>
                <a:latin typeface="Aptos Display"/>
              </a:rPr>
              <a:t>API Dream</a:t>
            </a:r>
          </a:p>
        </p:txBody>
      </p:sp>
      <p:sp>
        <p:nvSpPr>
          <p:cNvPr id="22" name="b3"/>
          <p:cNvSpPr/>
          <p:nvPr/>
        </p:nvSpPr>
        <p:spPr>
          <a:xfrm>
            <a:off x="2331720" y="3460000"/>
            <a:ext cx="9219895" cy="380000"/>
          </a:xfrm>
          <a:prstGeom prst="roundRect">
            <a:avLst>
              <a:gd name="adj" fmla="val 11000"/>
            </a:avLst>
          </a:prstGeom>
          <a:solidFill>
            <a:srgbClr val="0B1437"/>
          </a:solidFill>
          <a:ln>
            <a:noFill/>
          </a:ln>
          <a:effectLst>
            <a:outerShdw blurRad="127000" dist="38100" dir="5400000" algn="bl" rotWithShape="0">
              <a:srgbClr val="1E2A52">
                <a:alpha val="13000"/>
              </a:srgbClr>
            </a:outerShdw>
          </a:effectLst>
        </p:spPr>
        <p:txBody>
          <a:bodyPr/>
          <a:lstStyle/>
          <a:p>
            <a:endParaRPr/>
          </a:p>
        </p:txBody>
      </p:sp>
      <p:pic>
        <p:nvPicPr>
          <p:cNvPr id="23" name="ic"/>
          <p:cNvPicPr/>
          <p:nvPr/>
        </p:nvPicPr>
        <p:blipFill>
          <a:blip r:embed="rId5"/>
          <a:stretch>
            <a:fillRect/>
          </a:stretch>
        </p:blipFill>
        <p:spPr>
          <a:xfrm>
            <a:off x="2581720" y="3525000"/>
            <a:ext cx="250000" cy="250000"/>
          </a:xfrm>
          <a:prstGeom prst="rect">
            <a:avLst/>
          </a:prstGeom>
        </p:spPr>
      </p:pic>
      <p:sp>
        <p:nvSpPr>
          <p:cNvPr id="24" name="t"/>
          <p:cNvSpPr txBox="1"/>
          <p:nvPr/>
        </p:nvSpPr>
        <p:spPr>
          <a:xfrm>
            <a:off x="2931720" y="3460000"/>
            <a:ext cx="8419895" cy="380000"/>
          </a:xfrm>
          <a:prstGeom prst="rect">
            <a:avLst/>
          </a:prstGeom>
          <a:noFill/>
          <a:ln/>
        </p:spPr>
        <p:txBody>
          <a:bodyPr wrap="square" lIns="0" tIns="0" rIns="0" bIns="0" rtlCol="0" anchor="ctr">
            <a:normAutofit/>
          </a:bodyPr>
          <a:lstStyle/>
          <a:p>
            <a:pPr marL="0" indent="0" algn="l">
              <a:buNone/>
            </a:pPr>
            <a:r>
              <a:rPr sz="1000">
                <a:solidFill>
                  <a:srgbClr val="A5B4FC"/>
                </a:solidFill>
                <a:latin typeface="JetBrains Mono"/>
              </a:rPr>
              <a:t>L’API DREAM      intégrée à la plateforme 60 Seconds   ·   COLLECT + SETTLE</a:t>
            </a:r>
          </a:p>
        </p:txBody>
      </p:sp>
      <p:sp>
        <p:nvSpPr>
          <p:cNvPr id="25" name="t"/>
          <p:cNvSpPr txBox="1"/>
          <p:nvPr/>
        </p:nvSpPr>
        <p:spPr>
          <a:xfrm>
            <a:off x="6801667" y="3860000"/>
            <a:ext cx="280000" cy="120000"/>
          </a:xfrm>
          <a:prstGeom prst="rect">
            <a:avLst/>
          </a:prstGeom>
          <a:noFill/>
          <a:ln/>
        </p:spPr>
        <p:txBody>
          <a:bodyPr wrap="square" lIns="0" tIns="0" rIns="0" bIns="0" rtlCol="0" anchor="ctr">
            <a:normAutofit/>
          </a:bodyPr>
          <a:lstStyle/>
          <a:p>
            <a:pPr marL="0" indent="0" algn="ctr">
              <a:buNone/>
            </a:pPr>
            <a:r>
              <a:rPr sz="1100">
                <a:solidFill>
                  <a:srgbClr val="94A3B8"/>
                </a:solidFill>
                <a:latin typeface="Aptos"/>
              </a:rPr>
              <a:t>▾</a:t>
            </a:r>
          </a:p>
        </p:txBody>
      </p:sp>
      <p:sp>
        <p:nvSpPr>
          <p:cNvPr id="26" name="t"/>
          <p:cNvSpPr txBox="1"/>
          <p:nvPr/>
        </p:nvSpPr>
        <p:spPr>
          <a:xfrm>
            <a:off x="640080" y="4020000"/>
            <a:ext cx="1600000" cy="230000"/>
          </a:xfrm>
          <a:prstGeom prst="rect">
            <a:avLst/>
          </a:prstGeom>
          <a:noFill/>
          <a:ln/>
        </p:spPr>
        <p:txBody>
          <a:bodyPr wrap="square" lIns="0" tIns="0" rIns="0" bIns="0" rtlCol="0" anchor="t">
            <a:normAutofit/>
          </a:bodyPr>
          <a:lstStyle/>
          <a:p>
            <a:pPr marL="0" indent="0" algn="l">
              <a:buNone/>
            </a:pPr>
            <a:r>
              <a:rPr sz="850">
                <a:solidFill>
                  <a:srgbClr val="2563EB"/>
                </a:solidFill>
                <a:latin typeface="JetBrains Mono"/>
              </a:rPr>
              <a:t>COUCHE 04</a:t>
            </a:r>
          </a:p>
        </p:txBody>
      </p:sp>
      <p:sp>
        <p:nvSpPr>
          <p:cNvPr id="27" name="t"/>
          <p:cNvSpPr txBox="1"/>
          <p:nvPr/>
        </p:nvSpPr>
        <p:spPr>
          <a:xfrm>
            <a:off x="640080" y="4250000"/>
            <a:ext cx="1640000" cy="360000"/>
          </a:xfrm>
          <a:prstGeom prst="rect">
            <a:avLst/>
          </a:prstGeom>
          <a:noFill/>
          <a:ln/>
        </p:spPr>
        <p:txBody>
          <a:bodyPr wrap="square" lIns="0" tIns="0" rIns="0" bIns="0" rtlCol="0" anchor="t">
            <a:normAutofit/>
          </a:bodyPr>
          <a:lstStyle/>
          <a:p>
            <a:pPr marL="0" indent="0" algn="l">
              <a:buNone/>
            </a:pPr>
            <a:r>
              <a:rPr sz="1250">
                <a:solidFill>
                  <a:srgbClr val="0B1437"/>
                </a:solidFill>
                <a:latin typeface="Aptos Display"/>
              </a:rPr>
              <a:t>DreamPay</a:t>
            </a:r>
          </a:p>
        </p:txBody>
      </p:sp>
      <p:sp>
        <p:nvSpPr>
          <p:cNvPr id="28" name="fb"/>
          <p:cNvSpPr/>
          <p:nvPr/>
        </p:nvSpPr>
        <p:spPr>
          <a:xfrm>
            <a:off x="2331720" y="3950000"/>
            <a:ext cx="4509947" cy="1620000"/>
          </a:xfrm>
          <a:prstGeom prst="roundRect">
            <a:avLst>
              <a:gd name="adj" fmla="val 7000"/>
            </a:avLst>
          </a:prstGeom>
          <a:solidFill>
            <a:srgbClr val="F6F8FC"/>
          </a:solidFill>
          <a:ln w="12700">
            <a:solidFill>
              <a:srgbClr val="E6EBF2"/>
            </a:solidFill>
            <a:prstDash val="solid"/>
          </a:ln>
          <a:effectLst>
            <a:outerShdw blurRad="127000" dist="38100" dir="5400000" algn="bl" rotWithShape="0">
              <a:srgbClr val="1E2A52">
                <a:alpha val="13000"/>
              </a:srgbClr>
            </a:outerShdw>
          </a:effectLst>
        </p:spPr>
        <p:txBody>
          <a:bodyPr/>
          <a:lstStyle/>
          <a:p>
            <a:endParaRPr/>
          </a:p>
        </p:txBody>
      </p:sp>
      <p:sp>
        <p:nvSpPr>
          <p:cNvPr id="29" name="bar"/>
          <p:cNvSpPr/>
          <p:nvPr/>
        </p:nvSpPr>
        <p:spPr>
          <a:xfrm>
            <a:off x="2368296" y="3940856"/>
            <a:ext cx="4436795" cy="64008"/>
          </a:xfrm>
          <a:prstGeom prst="roundRect">
            <a:avLst>
              <a:gd name="adj" fmla="val 40000"/>
            </a:avLst>
          </a:prstGeom>
          <a:solidFill>
            <a:srgbClr val="2563EB"/>
          </a:solidFill>
          <a:ln>
            <a:noFill/>
          </a:ln>
        </p:spPr>
        <p:txBody>
          <a:bodyPr/>
          <a:lstStyle/>
          <a:p>
            <a:endParaRPr/>
          </a:p>
        </p:txBody>
      </p:sp>
      <p:pic>
        <p:nvPicPr>
          <p:cNvPr id="30" name="ic"/>
          <p:cNvPicPr/>
          <p:nvPr/>
        </p:nvPicPr>
        <p:blipFill>
          <a:blip r:embed="rId6"/>
          <a:stretch>
            <a:fillRect/>
          </a:stretch>
        </p:blipFill>
        <p:spPr>
          <a:xfrm>
            <a:off x="2531720" y="4070000"/>
            <a:ext cx="300000" cy="300000"/>
          </a:xfrm>
          <a:prstGeom prst="rect">
            <a:avLst/>
          </a:prstGeom>
        </p:spPr>
      </p:pic>
      <p:sp>
        <p:nvSpPr>
          <p:cNvPr id="31" name="t"/>
          <p:cNvSpPr txBox="1"/>
          <p:nvPr/>
        </p:nvSpPr>
        <p:spPr>
          <a:xfrm>
            <a:off x="2891720" y="4100000"/>
            <a:ext cx="3809947" cy="250000"/>
          </a:xfrm>
          <a:prstGeom prst="rect">
            <a:avLst/>
          </a:prstGeom>
          <a:noFill/>
          <a:ln/>
        </p:spPr>
        <p:txBody>
          <a:bodyPr wrap="square" lIns="0" tIns="0" rIns="0" bIns="0" rtlCol="0" anchor="t">
            <a:normAutofit/>
          </a:bodyPr>
          <a:lstStyle/>
          <a:p>
            <a:pPr marL="0" indent="0" algn="l">
              <a:buNone/>
            </a:pPr>
            <a:r>
              <a:rPr sz="1000">
                <a:solidFill>
                  <a:srgbClr val="2563EB"/>
                </a:solidFill>
                <a:latin typeface="JetBrains Mono"/>
              </a:rPr>
              <a:t>ENCAISSEMENTS   ·   depuis les clients</a:t>
            </a:r>
          </a:p>
        </p:txBody>
      </p:sp>
      <p:sp>
        <p:nvSpPr>
          <p:cNvPr id="32" name="mc"/>
          <p:cNvSpPr/>
          <p:nvPr/>
        </p:nvSpPr>
        <p:spPr>
          <a:xfrm>
            <a:off x="2491720" y="4420000"/>
            <a:ext cx="1323315" cy="1000000"/>
          </a:xfrm>
          <a:prstGeom prst="roundRect">
            <a:avLst>
              <a:gd name="adj" fmla="val 10000"/>
            </a:avLst>
          </a:prstGeom>
          <a:solidFill>
            <a:srgbClr val="FFFFFF"/>
          </a:solidFill>
          <a:ln w="9525">
            <a:solidFill>
              <a:srgbClr val="E6EBF2"/>
            </a:solidFill>
            <a:prstDash val="solid"/>
          </a:ln>
        </p:spPr>
        <p:txBody>
          <a:bodyPr/>
          <a:lstStyle/>
          <a:p>
            <a:endParaRPr/>
          </a:p>
        </p:txBody>
      </p:sp>
      <p:pic>
        <p:nvPicPr>
          <p:cNvPr id="33" name="ic"/>
          <p:cNvPicPr/>
          <p:nvPr/>
        </p:nvPicPr>
        <p:blipFill>
          <a:blip r:embed="rId7"/>
          <a:stretch>
            <a:fillRect/>
          </a:stretch>
        </p:blipFill>
        <p:spPr>
          <a:xfrm>
            <a:off x="3003377" y="4550000"/>
            <a:ext cx="300000" cy="300000"/>
          </a:xfrm>
          <a:prstGeom prst="rect">
            <a:avLst/>
          </a:prstGeom>
        </p:spPr>
      </p:pic>
      <p:sp>
        <p:nvSpPr>
          <p:cNvPr id="34" name="t"/>
          <p:cNvSpPr txBox="1"/>
          <p:nvPr/>
        </p:nvSpPr>
        <p:spPr>
          <a:xfrm>
            <a:off x="2491720" y="4890000"/>
            <a:ext cx="1323315" cy="210000"/>
          </a:xfrm>
          <a:prstGeom prst="rect">
            <a:avLst/>
          </a:prstGeom>
          <a:noFill/>
          <a:ln/>
        </p:spPr>
        <p:txBody>
          <a:bodyPr wrap="square" lIns="0" tIns="0" rIns="0" bIns="0" rtlCol="0" anchor="t">
            <a:normAutofit/>
          </a:bodyPr>
          <a:lstStyle/>
          <a:p>
            <a:pPr marL="0" indent="0" algn="ctr">
              <a:buNone/>
            </a:pPr>
            <a:r>
              <a:rPr sz="1050" b="1">
                <a:solidFill>
                  <a:srgbClr val="0B1437"/>
                </a:solidFill>
                <a:latin typeface="Aptos Display"/>
              </a:rPr>
              <a:t>Demande</a:t>
            </a:r>
          </a:p>
        </p:txBody>
      </p:sp>
      <p:sp>
        <p:nvSpPr>
          <p:cNvPr id="35" name="t"/>
          <p:cNvSpPr txBox="1"/>
          <p:nvPr/>
        </p:nvSpPr>
        <p:spPr>
          <a:xfrm>
            <a:off x="2551720" y="5110000"/>
            <a:ext cx="1203315" cy="300000"/>
          </a:xfrm>
          <a:prstGeom prst="rect">
            <a:avLst/>
          </a:prstGeom>
          <a:noFill/>
          <a:ln/>
        </p:spPr>
        <p:txBody>
          <a:bodyPr wrap="square" lIns="0" tIns="0" rIns="0" bIns="0" rtlCol="0" anchor="t">
            <a:normAutofit/>
          </a:bodyPr>
          <a:lstStyle/>
          <a:p>
            <a:pPr marL="0" indent="0" algn="ctr">
              <a:lnSpc>
                <a:spcPts val="900"/>
              </a:lnSpc>
              <a:buNone/>
            </a:pPr>
            <a:r>
              <a:rPr sz="800">
                <a:solidFill>
                  <a:srgbClr val="64748B"/>
                </a:solidFill>
                <a:latin typeface="Aptos"/>
              </a:rPr>
              <a:t>Émettre une demande e-Transfer</a:t>
            </a:r>
          </a:p>
        </p:txBody>
      </p:sp>
      <p:sp>
        <p:nvSpPr>
          <p:cNvPr id="36" name="mc"/>
          <p:cNvSpPr/>
          <p:nvPr/>
        </p:nvSpPr>
        <p:spPr>
          <a:xfrm>
            <a:off x="3925035" y="4420000"/>
            <a:ext cx="1323315" cy="1000000"/>
          </a:xfrm>
          <a:prstGeom prst="roundRect">
            <a:avLst>
              <a:gd name="adj" fmla="val 10000"/>
            </a:avLst>
          </a:prstGeom>
          <a:solidFill>
            <a:srgbClr val="FFFFFF"/>
          </a:solidFill>
          <a:ln w="9525">
            <a:solidFill>
              <a:srgbClr val="E6EBF2"/>
            </a:solidFill>
            <a:prstDash val="solid"/>
          </a:ln>
        </p:spPr>
        <p:txBody>
          <a:bodyPr/>
          <a:lstStyle/>
          <a:p>
            <a:endParaRPr/>
          </a:p>
        </p:txBody>
      </p:sp>
      <p:pic>
        <p:nvPicPr>
          <p:cNvPr id="37" name="ic"/>
          <p:cNvPicPr/>
          <p:nvPr/>
        </p:nvPicPr>
        <p:blipFill>
          <a:blip r:embed="rId8"/>
          <a:stretch>
            <a:fillRect/>
          </a:stretch>
        </p:blipFill>
        <p:spPr>
          <a:xfrm>
            <a:off x="4436692" y="4550000"/>
            <a:ext cx="300000" cy="300000"/>
          </a:xfrm>
          <a:prstGeom prst="rect">
            <a:avLst/>
          </a:prstGeom>
        </p:spPr>
      </p:pic>
      <p:sp>
        <p:nvSpPr>
          <p:cNvPr id="38" name="t"/>
          <p:cNvSpPr txBox="1"/>
          <p:nvPr/>
        </p:nvSpPr>
        <p:spPr>
          <a:xfrm>
            <a:off x="3925035" y="4890000"/>
            <a:ext cx="1323315" cy="210000"/>
          </a:xfrm>
          <a:prstGeom prst="rect">
            <a:avLst/>
          </a:prstGeom>
          <a:noFill/>
          <a:ln/>
        </p:spPr>
        <p:txBody>
          <a:bodyPr wrap="square" lIns="0" tIns="0" rIns="0" bIns="0" rtlCol="0" anchor="t">
            <a:normAutofit/>
          </a:bodyPr>
          <a:lstStyle/>
          <a:p>
            <a:pPr marL="0" indent="0" algn="ctr">
              <a:buNone/>
            </a:pPr>
            <a:r>
              <a:rPr sz="1050" b="1">
                <a:solidFill>
                  <a:srgbClr val="0B1437"/>
                </a:solidFill>
                <a:latin typeface="Aptos Display"/>
              </a:rPr>
              <a:t>Valider</a:t>
            </a:r>
          </a:p>
        </p:txBody>
      </p:sp>
      <p:sp>
        <p:nvSpPr>
          <p:cNvPr id="39" name="t"/>
          <p:cNvSpPr txBox="1"/>
          <p:nvPr/>
        </p:nvSpPr>
        <p:spPr>
          <a:xfrm>
            <a:off x="3985035" y="5110000"/>
            <a:ext cx="1203315" cy="300000"/>
          </a:xfrm>
          <a:prstGeom prst="rect">
            <a:avLst/>
          </a:prstGeom>
          <a:noFill/>
          <a:ln/>
        </p:spPr>
        <p:txBody>
          <a:bodyPr wrap="square" lIns="0" tIns="0" rIns="0" bIns="0" rtlCol="0" anchor="t">
            <a:normAutofit/>
          </a:bodyPr>
          <a:lstStyle/>
          <a:p>
            <a:pPr marL="0" indent="0" algn="ctr">
              <a:lnSpc>
                <a:spcPts val="900"/>
              </a:lnSpc>
              <a:buNone/>
            </a:pPr>
            <a:r>
              <a:rPr sz="800">
                <a:solidFill>
                  <a:srgbClr val="64748B"/>
                </a:solidFill>
                <a:latin typeface="Aptos"/>
              </a:rPr>
              <a:t>KYC, LBA, filtrage</a:t>
            </a:r>
          </a:p>
        </p:txBody>
      </p:sp>
      <p:sp>
        <p:nvSpPr>
          <p:cNvPr id="40" name="mc"/>
          <p:cNvSpPr/>
          <p:nvPr/>
        </p:nvSpPr>
        <p:spPr>
          <a:xfrm>
            <a:off x="5358350" y="4420000"/>
            <a:ext cx="1323315" cy="1000000"/>
          </a:xfrm>
          <a:prstGeom prst="roundRect">
            <a:avLst>
              <a:gd name="adj" fmla="val 10000"/>
            </a:avLst>
          </a:prstGeom>
          <a:solidFill>
            <a:srgbClr val="FFFFFF"/>
          </a:solidFill>
          <a:ln w="9525">
            <a:solidFill>
              <a:srgbClr val="E6EBF2"/>
            </a:solidFill>
            <a:prstDash val="solid"/>
          </a:ln>
        </p:spPr>
        <p:txBody>
          <a:bodyPr/>
          <a:lstStyle/>
          <a:p>
            <a:endParaRPr/>
          </a:p>
        </p:txBody>
      </p:sp>
      <p:pic>
        <p:nvPicPr>
          <p:cNvPr id="41" name="ic"/>
          <p:cNvPicPr/>
          <p:nvPr/>
        </p:nvPicPr>
        <p:blipFill>
          <a:blip r:embed="rId9"/>
          <a:stretch>
            <a:fillRect/>
          </a:stretch>
        </p:blipFill>
        <p:spPr>
          <a:xfrm>
            <a:off x="5870007" y="4550000"/>
            <a:ext cx="300000" cy="300000"/>
          </a:xfrm>
          <a:prstGeom prst="rect">
            <a:avLst/>
          </a:prstGeom>
        </p:spPr>
      </p:pic>
      <p:sp>
        <p:nvSpPr>
          <p:cNvPr id="42" name="t"/>
          <p:cNvSpPr txBox="1"/>
          <p:nvPr/>
        </p:nvSpPr>
        <p:spPr>
          <a:xfrm>
            <a:off x="5358350" y="4890000"/>
            <a:ext cx="1323315" cy="210000"/>
          </a:xfrm>
          <a:prstGeom prst="rect">
            <a:avLst/>
          </a:prstGeom>
          <a:noFill/>
          <a:ln/>
        </p:spPr>
        <p:txBody>
          <a:bodyPr wrap="square" lIns="0" tIns="0" rIns="0" bIns="0" rtlCol="0" anchor="t">
            <a:normAutofit/>
          </a:bodyPr>
          <a:lstStyle/>
          <a:p>
            <a:pPr marL="0" indent="0" algn="ctr">
              <a:buNone/>
            </a:pPr>
            <a:r>
              <a:rPr sz="1050" b="1">
                <a:solidFill>
                  <a:srgbClr val="0B1437"/>
                </a:solidFill>
                <a:latin typeface="Aptos Display"/>
              </a:rPr>
              <a:t>Rapprocher</a:t>
            </a:r>
          </a:p>
        </p:txBody>
      </p:sp>
      <p:sp>
        <p:nvSpPr>
          <p:cNvPr id="43" name="t"/>
          <p:cNvSpPr txBox="1"/>
          <p:nvPr/>
        </p:nvSpPr>
        <p:spPr>
          <a:xfrm>
            <a:off x="5418350" y="5110000"/>
            <a:ext cx="1203315" cy="300000"/>
          </a:xfrm>
          <a:prstGeom prst="rect">
            <a:avLst/>
          </a:prstGeom>
          <a:noFill/>
          <a:ln/>
        </p:spPr>
        <p:txBody>
          <a:bodyPr wrap="square" lIns="0" tIns="0" rIns="0" bIns="0" rtlCol="0" anchor="t">
            <a:normAutofit/>
          </a:bodyPr>
          <a:lstStyle/>
          <a:p>
            <a:pPr marL="0" indent="0" algn="ctr">
              <a:lnSpc>
                <a:spcPts val="900"/>
              </a:lnSpc>
              <a:buNone/>
            </a:pPr>
            <a:r>
              <a:rPr sz="800">
                <a:solidFill>
                  <a:srgbClr val="64748B"/>
                </a:solidFill>
                <a:latin typeface="Aptos"/>
              </a:rPr>
              <a:t>Associer les fonds à leur source</a:t>
            </a:r>
          </a:p>
        </p:txBody>
      </p:sp>
      <p:sp>
        <p:nvSpPr>
          <p:cNvPr id="44" name="fb"/>
          <p:cNvSpPr/>
          <p:nvPr/>
        </p:nvSpPr>
        <p:spPr>
          <a:xfrm>
            <a:off x="7041667" y="3950000"/>
            <a:ext cx="4509947" cy="1620000"/>
          </a:xfrm>
          <a:prstGeom prst="roundRect">
            <a:avLst>
              <a:gd name="adj" fmla="val 7000"/>
            </a:avLst>
          </a:prstGeom>
          <a:solidFill>
            <a:srgbClr val="F6F8FC"/>
          </a:solidFill>
          <a:ln w="12700">
            <a:solidFill>
              <a:srgbClr val="E6EBF2"/>
            </a:solidFill>
            <a:prstDash val="solid"/>
          </a:ln>
          <a:effectLst>
            <a:outerShdw blurRad="127000" dist="38100" dir="5400000" algn="bl" rotWithShape="0">
              <a:srgbClr val="1E2A52">
                <a:alpha val="13000"/>
              </a:srgbClr>
            </a:outerShdw>
          </a:effectLst>
        </p:spPr>
        <p:txBody>
          <a:bodyPr/>
          <a:lstStyle/>
          <a:p>
            <a:endParaRPr/>
          </a:p>
        </p:txBody>
      </p:sp>
      <p:sp>
        <p:nvSpPr>
          <p:cNvPr id="45" name="bar"/>
          <p:cNvSpPr/>
          <p:nvPr/>
        </p:nvSpPr>
        <p:spPr>
          <a:xfrm>
            <a:off x="7078243" y="3940856"/>
            <a:ext cx="4436795" cy="64008"/>
          </a:xfrm>
          <a:prstGeom prst="roundRect">
            <a:avLst>
              <a:gd name="adj" fmla="val 40000"/>
            </a:avLst>
          </a:prstGeom>
          <a:solidFill>
            <a:srgbClr val="7C5CFF"/>
          </a:solidFill>
          <a:ln>
            <a:noFill/>
          </a:ln>
        </p:spPr>
        <p:txBody>
          <a:bodyPr/>
          <a:lstStyle/>
          <a:p>
            <a:endParaRPr/>
          </a:p>
        </p:txBody>
      </p:sp>
      <p:pic>
        <p:nvPicPr>
          <p:cNvPr id="46" name="ic"/>
          <p:cNvPicPr/>
          <p:nvPr/>
        </p:nvPicPr>
        <p:blipFill>
          <a:blip r:embed="rId10"/>
          <a:stretch>
            <a:fillRect/>
          </a:stretch>
        </p:blipFill>
        <p:spPr>
          <a:xfrm>
            <a:off x="7241667" y="4070000"/>
            <a:ext cx="300000" cy="300000"/>
          </a:xfrm>
          <a:prstGeom prst="rect">
            <a:avLst/>
          </a:prstGeom>
        </p:spPr>
      </p:pic>
      <p:sp>
        <p:nvSpPr>
          <p:cNvPr id="47" name="t"/>
          <p:cNvSpPr txBox="1"/>
          <p:nvPr/>
        </p:nvSpPr>
        <p:spPr>
          <a:xfrm>
            <a:off x="7601667" y="4100000"/>
            <a:ext cx="3809947" cy="250000"/>
          </a:xfrm>
          <a:prstGeom prst="rect">
            <a:avLst/>
          </a:prstGeom>
          <a:noFill/>
          <a:ln/>
        </p:spPr>
        <p:txBody>
          <a:bodyPr wrap="square" lIns="0" tIns="0" rIns="0" bIns="0" rtlCol="0" anchor="t">
            <a:normAutofit/>
          </a:bodyPr>
          <a:lstStyle/>
          <a:p>
            <a:pPr marL="0" indent="0" algn="l">
              <a:buNone/>
            </a:pPr>
            <a:r>
              <a:rPr sz="1000">
                <a:solidFill>
                  <a:srgbClr val="7C5CFF"/>
                </a:solidFill>
                <a:latin typeface="JetBrains Mono"/>
              </a:rPr>
              <a:t>PAIEMENTS SORTANTS   ·   aux fournisseurs et employés</a:t>
            </a:r>
          </a:p>
        </p:txBody>
      </p:sp>
      <p:sp>
        <p:nvSpPr>
          <p:cNvPr id="48" name="mc"/>
          <p:cNvSpPr/>
          <p:nvPr/>
        </p:nvSpPr>
        <p:spPr>
          <a:xfrm>
            <a:off x="7201667" y="4420000"/>
            <a:ext cx="1323315" cy="1000000"/>
          </a:xfrm>
          <a:prstGeom prst="roundRect">
            <a:avLst>
              <a:gd name="adj" fmla="val 10000"/>
            </a:avLst>
          </a:prstGeom>
          <a:solidFill>
            <a:srgbClr val="FFFFFF"/>
          </a:solidFill>
          <a:ln w="9525">
            <a:solidFill>
              <a:srgbClr val="E6EBF2"/>
            </a:solidFill>
            <a:prstDash val="solid"/>
          </a:ln>
        </p:spPr>
        <p:txBody>
          <a:bodyPr/>
          <a:lstStyle/>
          <a:p>
            <a:endParaRPr/>
          </a:p>
        </p:txBody>
      </p:sp>
      <p:pic>
        <p:nvPicPr>
          <p:cNvPr id="49" name="ic"/>
          <p:cNvPicPr/>
          <p:nvPr/>
        </p:nvPicPr>
        <p:blipFill>
          <a:blip r:embed="rId11"/>
          <a:stretch>
            <a:fillRect/>
          </a:stretch>
        </p:blipFill>
        <p:spPr>
          <a:xfrm>
            <a:off x="7713324" y="4550000"/>
            <a:ext cx="300000" cy="300000"/>
          </a:xfrm>
          <a:prstGeom prst="rect">
            <a:avLst/>
          </a:prstGeom>
        </p:spPr>
      </p:pic>
      <p:sp>
        <p:nvSpPr>
          <p:cNvPr id="50" name="t"/>
          <p:cNvSpPr txBox="1"/>
          <p:nvPr/>
        </p:nvSpPr>
        <p:spPr>
          <a:xfrm>
            <a:off x="7201667" y="4890000"/>
            <a:ext cx="1323315" cy="210000"/>
          </a:xfrm>
          <a:prstGeom prst="rect">
            <a:avLst/>
          </a:prstGeom>
          <a:noFill/>
          <a:ln/>
        </p:spPr>
        <p:txBody>
          <a:bodyPr wrap="square" lIns="0" tIns="0" rIns="0" bIns="0" rtlCol="0" anchor="t">
            <a:normAutofit/>
          </a:bodyPr>
          <a:lstStyle/>
          <a:p>
            <a:pPr marL="0" indent="0" algn="ctr">
              <a:buNone/>
            </a:pPr>
            <a:r>
              <a:rPr sz="1050" b="1">
                <a:solidFill>
                  <a:srgbClr val="0B1437"/>
                </a:solidFill>
                <a:latin typeface="Aptos Display"/>
              </a:rPr>
              <a:t>Agréger</a:t>
            </a:r>
          </a:p>
        </p:txBody>
      </p:sp>
      <p:sp>
        <p:nvSpPr>
          <p:cNvPr id="51" name="t"/>
          <p:cNvSpPr txBox="1"/>
          <p:nvPr/>
        </p:nvSpPr>
        <p:spPr>
          <a:xfrm>
            <a:off x="7261667" y="5110000"/>
            <a:ext cx="1203315" cy="300000"/>
          </a:xfrm>
          <a:prstGeom prst="rect">
            <a:avLst/>
          </a:prstGeom>
          <a:noFill/>
          <a:ln/>
        </p:spPr>
        <p:txBody>
          <a:bodyPr wrap="square" lIns="0" tIns="0" rIns="0" bIns="0" rtlCol="0" anchor="t">
            <a:normAutofit/>
          </a:bodyPr>
          <a:lstStyle/>
          <a:p>
            <a:pPr marL="0" indent="0" algn="ctr">
              <a:lnSpc>
                <a:spcPts val="900"/>
              </a:lnSpc>
              <a:buNone/>
            </a:pPr>
            <a:r>
              <a:rPr sz="800">
                <a:solidFill>
                  <a:srgbClr val="64748B"/>
                </a:solidFill>
                <a:latin typeface="Aptos"/>
              </a:rPr>
              <a:t>Regrouper par bénéficiaire</a:t>
            </a:r>
          </a:p>
        </p:txBody>
      </p:sp>
      <p:sp>
        <p:nvSpPr>
          <p:cNvPr id="52" name="mc"/>
          <p:cNvSpPr/>
          <p:nvPr/>
        </p:nvSpPr>
        <p:spPr>
          <a:xfrm>
            <a:off x="8634982" y="4420000"/>
            <a:ext cx="1323315" cy="1000000"/>
          </a:xfrm>
          <a:prstGeom prst="roundRect">
            <a:avLst>
              <a:gd name="adj" fmla="val 10000"/>
            </a:avLst>
          </a:prstGeom>
          <a:solidFill>
            <a:srgbClr val="FFFFFF"/>
          </a:solidFill>
          <a:ln w="9525">
            <a:solidFill>
              <a:srgbClr val="E6EBF2"/>
            </a:solidFill>
            <a:prstDash val="solid"/>
          </a:ln>
        </p:spPr>
        <p:txBody>
          <a:bodyPr/>
          <a:lstStyle/>
          <a:p>
            <a:endParaRPr/>
          </a:p>
        </p:txBody>
      </p:sp>
      <p:pic>
        <p:nvPicPr>
          <p:cNvPr id="53" name="ic"/>
          <p:cNvPicPr/>
          <p:nvPr/>
        </p:nvPicPr>
        <p:blipFill>
          <a:blip r:embed="rId12"/>
          <a:stretch>
            <a:fillRect/>
          </a:stretch>
        </p:blipFill>
        <p:spPr>
          <a:xfrm>
            <a:off x="9146639" y="4550000"/>
            <a:ext cx="300000" cy="300000"/>
          </a:xfrm>
          <a:prstGeom prst="rect">
            <a:avLst/>
          </a:prstGeom>
        </p:spPr>
      </p:pic>
      <p:sp>
        <p:nvSpPr>
          <p:cNvPr id="54" name="t"/>
          <p:cNvSpPr txBox="1"/>
          <p:nvPr/>
        </p:nvSpPr>
        <p:spPr>
          <a:xfrm>
            <a:off x="8634982" y="4890000"/>
            <a:ext cx="1323315" cy="210000"/>
          </a:xfrm>
          <a:prstGeom prst="rect">
            <a:avLst/>
          </a:prstGeom>
          <a:noFill/>
          <a:ln/>
        </p:spPr>
        <p:txBody>
          <a:bodyPr wrap="square" lIns="0" tIns="0" rIns="0" bIns="0" rtlCol="0" anchor="t">
            <a:normAutofit/>
          </a:bodyPr>
          <a:lstStyle/>
          <a:p>
            <a:pPr marL="0" indent="0" algn="ctr">
              <a:buNone/>
            </a:pPr>
            <a:r>
              <a:rPr sz="1050" b="1">
                <a:solidFill>
                  <a:srgbClr val="0B1437"/>
                </a:solidFill>
                <a:latin typeface="Aptos Display"/>
              </a:rPr>
              <a:t>Régler</a:t>
            </a:r>
          </a:p>
        </p:txBody>
      </p:sp>
      <p:sp>
        <p:nvSpPr>
          <p:cNvPr id="57" name="t"/>
          <p:cNvSpPr txBox="1"/>
          <p:nvPr/>
        </p:nvSpPr>
        <p:spPr>
          <a:xfrm>
            <a:off x="8694982" y="5110000"/>
            <a:ext cx="1203315" cy="300000"/>
          </a:xfrm>
          <a:prstGeom prst="rect">
            <a:avLst/>
          </a:prstGeom>
          <a:noFill/>
          <a:ln/>
        </p:spPr>
        <p:txBody>
          <a:bodyPr wrap="square" lIns="0" tIns="0" rIns="0" bIns="0" rtlCol="0" anchor="t">
            <a:normAutofit/>
          </a:bodyPr>
          <a:lstStyle/>
          <a:p>
            <a:pPr marL="0" indent="0" algn="ctr">
              <a:lnSpc>
                <a:spcPts val="900"/>
              </a:lnSpc>
              <a:buNone/>
            </a:pPr>
            <a:r>
              <a:rPr sz="800">
                <a:solidFill>
                  <a:srgbClr val="64748B"/>
                </a:solidFill>
                <a:latin typeface="Aptos"/>
              </a:rPr>
              <a:t>Sortants EFT et e-Transfer</a:t>
            </a:r>
          </a:p>
        </p:txBody>
      </p:sp>
      <p:sp>
        <p:nvSpPr>
          <p:cNvPr id="58" name="mc"/>
          <p:cNvSpPr/>
          <p:nvPr/>
        </p:nvSpPr>
        <p:spPr>
          <a:xfrm>
            <a:off x="10068297" y="4420000"/>
            <a:ext cx="1323315" cy="1000000"/>
          </a:xfrm>
          <a:prstGeom prst="roundRect">
            <a:avLst>
              <a:gd name="adj" fmla="val 10000"/>
            </a:avLst>
          </a:prstGeom>
          <a:solidFill>
            <a:srgbClr val="FFFFFF"/>
          </a:solidFill>
          <a:ln w="9525">
            <a:solidFill>
              <a:srgbClr val="E6EBF2"/>
            </a:solidFill>
            <a:prstDash val="solid"/>
          </a:ln>
        </p:spPr>
        <p:txBody>
          <a:bodyPr/>
          <a:lstStyle/>
          <a:p>
            <a:endParaRPr/>
          </a:p>
        </p:txBody>
      </p:sp>
      <p:pic>
        <p:nvPicPr>
          <p:cNvPr id="59" name="ic"/>
          <p:cNvPicPr/>
          <p:nvPr/>
        </p:nvPicPr>
        <p:blipFill>
          <a:blip r:embed="rId13"/>
          <a:stretch>
            <a:fillRect/>
          </a:stretch>
        </p:blipFill>
        <p:spPr>
          <a:xfrm>
            <a:off x="10579954" y="4550000"/>
            <a:ext cx="300000" cy="300000"/>
          </a:xfrm>
          <a:prstGeom prst="rect">
            <a:avLst/>
          </a:prstGeom>
        </p:spPr>
      </p:pic>
      <p:sp>
        <p:nvSpPr>
          <p:cNvPr id="60" name="t"/>
          <p:cNvSpPr txBox="1"/>
          <p:nvPr/>
        </p:nvSpPr>
        <p:spPr>
          <a:xfrm>
            <a:off x="10068297" y="4890000"/>
            <a:ext cx="1323315" cy="210000"/>
          </a:xfrm>
          <a:prstGeom prst="rect">
            <a:avLst/>
          </a:prstGeom>
          <a:noFill/>
          <a:ln/>
        </p:spPr>
        <p:txBody>
          <a:bodyPr wrap="square" lIns="0" tIns="0" rIns="0" bIns="0" rtlCol="0" anchor="t">
            <a:normAutofit/>
          </a:bodyPr>
          <a:lstStyle/>
          <a:p>
            <a:pPr marL="0" indent="0" algn="ctr">
              <a:buNone/>
            </a:pPr>
            <a:r>
              <a:rPr sz="1050" b="1">
                <a:solidFill>
                  <a:srgbClr val="0B1437"/>
                </a:solidFill>
                <a:latin typeface="Aptos Display"/>
              </a:rPr>
              <a:t>Rapporter</a:t>
            </a:r>
          </a:p>
        </p:txBody>
      </p:sp>
      <p:sp>
        <p:nvSpPr>
          <p:cNvPr id="61" name="t"/>
          <p:cNvSpPr txBox="1"/>
          <p:nvPr/>
        </p:nvSpPr>
        <p:spPr>
          <a:xfrm>
            <a:off x="10128297" y="5110000"/>
            <a:ext cx="1203315" cy="300000"/>
          </a:xfrm>
          <a:prstGeom prst="rect">
            <a:avLst/>
          </a:prstGeom>
          <a:noFill/>
          <a:ln/>
        </p:spPr>
        <p:txBody>
          <a:bodyPr wrap="square" lIns="0" tIns="0" rIns="0" bIns="0" rtlCol="0" anchor="t">
            <a:normAutofit/>
          </a:bodyPr>
          <a:lstStyle/>
          <a:p>
            <a:pPr marL="0" indent="0" algn="ctr">
              <a:lnSpc>
                <a:spcPts val="900"/>
              </a:lnSpc>
              <a:buNone/>
            </a:pPr>
            <a:r>
              <a:rPr sz="800">
                <a:solidFill>
                  <a:srgbClr val="64748B"/>
                </a:solidFill>
                <a:latin typeface="Aptos"/>
              </a:rPr>
              <a:t>Fichiers et confirmations</a:t>
            </a:r>
          </a:p>
        </p:txBody>
      </p:sp>
      <p:sp>
        <p:nvSpPr>
          <p:cNvPr id="62" name="t"/>
          <p:cNvSpPr txBox="1"/>
          <p:nvPr/>
        </p:nvSpPr>
        <p:spPr>
          <a:xfrm>
            <a:off x="6801667" y="5590000"/>
            <a:ext cx="280000" cy="120000"/>
          </a:xfrm>
          <a:prstGeom prst="rect">
            <a:avLst/>
          </a:prstGeom>
          <a:noFill/>
          <a:ln/>
        </p:spPr>
        <p:txBody>
          <a:bodyPr wrap="square" lIns="0" tIns="0" rIns="0" bIns="0" rtlCol="0" anchor="ctr">
            <a:normAutofit/>
          </a:bodyPr>
          <a:lstStyle/>
          <a:p>
            <a:pPr marL="0" indent="0" algn="ctr">
              <a:buNone/>
            </a:pPr>
            <a:r>
              <a:rPr sz="1100">
                <a:solidFill>
                  <a:srgbClr val="94A3B8"/>
                </a:solidFill>
                <a:latin typeface="Aptos"/>
              </a:rPr>
              <a:t>▾</a:t>
            </a:r>
          </a:p>
        </p:txBody>
      </p:sp>
      <p:sp>
        <p:nvSpPr>
          <p:cNvPr id="63" name="t"/>
          <p:cNvSpPr txBox="1"/>
          <p:nvPr/>
        </p:nvSpPr>
        <p:spPr>
          <a:xfrm>
            <a:off x="640080" y="5750000"/>
            <a:ext cx="1600000" cy="230000"/>
          </a:xfrm>
          <a:prstGeom prst="rect">
            <a:avLst/>
          </a:prstGeom>
          <a:noFill/>
          <a:ln/>
        </p:spPr>
        <p:txBody>
          <a:bodyPr wrap="square" lIns="0" tIns="0" rIns="0" bIns="0" rtlCol="0" anchor="t">
            <a:normAutofit/>
          </a:bodyPr>
          <a:lstStyle/>
          <a:p>
            <a:pPr marL="0" indent="0" algn="l">
              <a:buNone/>
            </a:pPr>
            <a:r>
              <a:rPr sz="850">
                <a:solidFill>
                  <a:srgbClr val="2563EB"/>
                </a:solidFill>
                <a:latin typeface="JetBrains Mono"/>
              </a:rPr>
              <a:t>COUCHE 05</a:t>
            </a:r>
          </a:p>
        </p:txBody>
      </p:sp>
      <p:sp>
        <p:nvSpPr>
          <p:cNvPr id="960" name="t"/>
          <p:cNvSpPr txBox="1"/>
          <p:nvPr/>
        </p:nvSpPr>
        <p:spPr>
          <a:xfrm>
            <a:off x="640080" y="5980000"/>
            <a:ext cx="1640000" cy="360000"/>
          </a:xfrm>
          <a:prstGeom prst="rect">
            <a:avLst/>
          </a:prstGeom>
          <a:noFill/>
          <a:ln/>
        </p:spPr>
        <p:txBody>
          <a:bodyPr wrap="square" lIns="0" tIns="0" rIns="0" bIns="0" rtlCol="0" anchor="t">
            <a:normAutofit/>
          </a:bodyPr>
          <a:lstStyle/>
          <a:p>
            <a:pPr marL="0" indent="0" algn="l">
              <a:buNone/>
            </a:pPr>
            <a:r>
              <a:rPr sz="1250">
                <a:solidFill>
                  <a:srgbClr val="0B1437"/>
                </a:solidFill>
                <a:latin typeface="Aptos Display"/>
              </a:rPr>
              <a:t>Les rails</a:t>
            </a:r>
          </a:p>
        </p:txBody>
      </p:sp>
      <p:sp>
        <p:nvSpPr>
          <p:cNvPr id="961" name="t"/>
          <p:cNvSpPr txBox="1"/>
          <p:nvPr/>
        </p:nvSpPr>
        <p:spPr>
          <a:xfrm>
            <a:off x="2331720" y="5680000"/>
            <a:ext cx="4509947" cy="230000"/>
          </a:xfrm>
          <a:prstGeom prst="rect">
            <a:avLst/>
          </a:prstGeom>
          <a:noFill/>
          <a:ln/>
        </p:spPr>
        <p:txBody>
          <a:bodyPr wrap="square" lIns="0" tIns="0" rIns="0" bIns="0" rtlCol="0" anchor="t">
            <a:normAutofit/>
          </a:bodyPr>
          <a:lstStyle/>
          <a:p>
            <a:pPr marL="0" indent="0" algn="l">
              <a:buNone/>
            </a:pPr>
            <a:r>
              <a:rPr sz="850">
                <a:solidFill>
                  <a:srgbClr val="1D4ED8"/>
                </a:solidFill>
                <a:latin typeface="JetBrains Mono"/>
              </a:rPr>
              <a:t>RAILS D’ENCAISSEMENT</a:t>
            </a:r>
          </a:p>
        </p:txBody>
      </p:sp>
      <p:sp>
        <p:nvSpPr>
          <p:cNvPr id="962" name="rc"/>
          <p:cNvSpPr/>
          <p:nvPr/>
        </p:nvSpPr>
        <p:spPr>
          <a:xfrm>
            <a:off x="2331720" y="5940000"/>
            <a:ext cx="2104972" cy="360000"/>
          </a:xfrm>
          <a:prstGeom prst="roundRect">
            <a:avLst>
              <a:gd name="adj" fmla="val 12000"/>
            </a:avLst>
          </a:prstGeom>
          <a:solidFill>
            <a:srgbClr val="EEF2FF"/>
          </a:solidFill>
          <a:ln w="9525">
            <a:solidFill>
              <a:srgbClr val="DBE4FF"/>
            </a:solidFill>
            <a:prstDash val="solid"/>
          </a:ln>
        </p:spPr>
        <p:txBody>
          <a:bodyPr/>
          <a:lstStyle/>
          <a:p>
            <a:endParaRPr/>
          </a:p>
        </p:txBody>
      </p:sp>
      <p:sp>
        <p:nvSpPr>
          <p:cNvPr id="963" name="t"/>
          <p:cNvSpPr txBox="1"/>
          <p:nvPr/>
        </p:nvSpPr>
        <p:spPr>
          <a:xfrm>
            <a:off x="2331720" y="5940000"/>
            <a:ext cx="2104972" cy="360000"/>
          </a:xfrm>
          <a:prstGeom prst="rect">
            <a:avLst/>
          </a:prstGeom>
          <a:noFill/>
          <a:ln/>
        </p:spPr>
        <p:txBody>
          <a:bodyPr wrap="square" lIns="0" tIns="0" rIns="0" bIns="0" rtlCol="0" anchor="ctr">
            <a:normAutofit/>
          </a:bodyPr>
          <a:lstStyle/>
          <a:p>
            <a:pPr marL="0" indent="0" algn="ctr">
              <a:buNone/>
            </a:pPr>
            <a:r>
              <a:rPr sz="950">
                <a:solidFill>
                  <a:srgbClr val="1D4ED8"/>
                </a:solidFill>
                <a:latin typeface="JetBrains Mono"/>
              </a:rPr>
              <a:t>Demande e-Transfer</a:t>
            </a:r>
          </a:p>
        </p:txBody>
      </p:sp>
      <p:sp>
        <p:nvSpPr>
          <p:cNvPr id="964" name="t"/>
          <p:cNvSpPr txBox="1"/>
          <p:nvPr/>
        </p:nvSpPr>
        <p:spPr>
          <a:xfrm>
            <a:off x="7041667" y="5680000"/>
            <a:ext cx="4509947" cy="230000"/>
          </a:xfrm>
          <a:prstGeom prst="rect">
            <a:avLst/>
          </a:prstGeom>
          <a:noFill/>
          <a:ln/>
        </p:spPr>
        <p:txBody>
          <a:bodyPr wrap="square" lIns="0" tIns="0" rIns="0" bIns="0" rtlCol="0" anchor="t">
            <a:normAutofit/>
          </a:bodyPr>
          <a:lstStyle/>
          <a:p>
            <a:pPr marL="0" indent="0" algn="l">
              <a:buNone/>
            </a:pPr>
            <a:r>
              <a:rPr sz="850">
                <a:solidFill>
                  <a:srgbClr val="6D4AFF"/>
                </a:solidFill>
                <a:latin typeface="JetBrains Mono"/>
              </a:rPr>
              <a:t>RAILS DE PAIEMENT</a:t>
            </a:r>
          </a:p>
        </p:txBody>
      </p:sp>
      <p:sp>
        <p:nvSpPr>
          <p:cNvPr id="965" name="rc"/>
          <p:cNvSpPr/>
          <p:nvPr/>
        </p:nvSpPr>
        <p:spPr>
          <a:xfrm>
            <a:off x="7041667" y="5940000"/>
            <a:ext cx="1250000" cy="360000"/>
          </a:xfrm>
          <a:prstGeom prst="roundRect">
            <a:avLst>
              <a:gd name="adj" fmla="val 12000"/>
            </a:avLst>
          </a:prstGeom>
          <a:solidFill>
            <a:srgbClr val="F1EEFF"/>
          </a:solidFill>
          <a:ln w="9525">
            <a:solidFill>
              <a:srgbClr val="E3DBFF"/>
            </a:solidFill>
            <a:prstDash val="solid"/>
          </a:ln>
        </p:spPr>
        <p:txBody>
          <a:bodyPr/>
          <a:lstStyle/>
          <a:p>
            <a:endParaRPr/>
          </a:p>
        </p:txBody>
      </p:sp>
      <p:sp>
        <p:nvSpPr>
          <p:cNvPr id="966" name="t"/>
          <p:cNvSpPr txBox="1"/>
          <p:nvPr/>
        </p:nvSpPr>
        <p:spPr>
          <a:xfrm>
            <a:off x="7041667" y="5940000"/>
            <a:ext cx="1250000" cy="360000"/>
          </a:xfrm>
          <a:prstGeom prst="rect">
            <a:avLst/>
          </a:prstGeom>
          <a:noFill/>
          <a:ln/>
        </p:spPr>
        <p:txBody>
          <a:bodyPr wrap="square" lIns="0" tIns="0" rIns="0" bIns="0" rtlCol="0" anchor="ctr">
            <a:normAutofit/>
          </a:bodyPr>
          <a:lstStyle/>
          <a:p>
            <a:pPr marL="0" indent="0" algn="ctr">
              <a:buNone/>
            </a:pPr>
            <a:r>
              <a:rPr sz="950">
                <a:solidFill>
                  <a:srgbClr val="6D4AFF"/>
                </a:solidFill>
                <a:latin typeface="JetBrains Mono"/>
              </a:rPr>
              <a:t>EFT</a:t>
            </a:r>
          </a:p>
        </p:txBody>
      </p:sp>
      <p:sp>
        <p:nvSpPr>
          <p:cNvPr id="967" name="rc"/>
          <p:cNvSpPr/>
          <p:nvPr/>
        </p:nvSpPr>
        <p:spPr>
          <a:xfrm>
            <a:off x="8411667" y="5940000"/>
            <a:ext cx="2300000" cy="360000"/>
          </a:xfrm>
          <a:prstGeom prst="roundRect">
            <a:avLst>
              <a:gd name="adj" fmla="val 12000"/>
            </a:avLst>
          </a:prstGeom>
          <a:solidFill>
            <a:srgbClr val="F1EEFF"/>
          </a:solidFill>
          <a:ln w="9525">
            <a:solidFill>
              <a:srgbClr val="E3DBFF"/>
            </a:solidFill>
            <a:prstDash val="solid"/>
          </a:ln>
        </p:spPr>
        <p:txBody>
          <a:bodyPr/>
          <a:lstStyle/>
          <a:p>
            <a:endParaRPr/>
          </a:p>
        </p:txBody>
      </p:sp>
      <p:sp>
        <p:nvSpPr>
          <p:cNvPr id="968" name="t"/>
          <p:cNvSpPr txBox="1"/>
          <p:nvPr/>
        </p:nvSpPr>
        <p:spPr>
          <a:xfrm>
            <a:off x="8411667" y="5940000"/>
            <a:ext cx="2300000" cy="360000"/>
          </a:xfrm>
          <a:prstGeom prst="rect">
            <a:avLst/>
          </a:prstGeom>
          <a:noFill/>
          <a:ln/>
        </p:spPr>
        <p:txBody>
          <a:bodyPr wrap="square" lIns="0" tIns="0" rIns="0" bIns="0" rtlCol="0" anchor="ctr">
            <a:normAutofit/>
          </a:bodyPr>
          <a:lstStyle/>
          <a:p>
            <a:pPr marL="0" indent="0" algn="ctr">
              <a:buNone/>
            </a:pPr>
            <a:r>
              <a:rPr sz="950">
                <a:solidFill>
                  <a:srgbClr val="6D4AFF"/>
                </a:solidFill>
                <a:latin typeface="JetBrains Mono"/>
              </a:rPr>
              <a:t>Paiements e-Transfer</a:t>
            </a:r>
          </a:p>
        </p:txBody>
      </p:sp>
      <p:pic>
        <p:nvPicPr>
          <p:cNvPr id="969" name="ic"/>
          <p:cNvPicPr/>
          <p:nvPr/>
        </p:nvPicPr>
        <p:blipFill>
          <a:blip r:embed="rId14"/>
          <a:stretch>
            <a:fillRect/>
          </a:stretch>
        </p:blipFill>
        <p:spPr>
          <a:xfrm>
            <a:off x="10821667" y="5970000"/>
            <a:ext cx="300000" cy="300000"/>
          </a:xfrm>
          <a:prstGeom prst="rect">
            <a:avLst/>
          </a:prstGeom>
        </p:spPr>
      </p:pic>
      <p:sp>
        <p:nvSpPr>
          <p:cNvPr id="971" name="t"/>
          <p:cNvSpPr txBox="1"/>
          <p:nvPr/>
        </p:nvSpPr>
        <p:spPr>
          <a:xfrm>
            <a:off x="11161667" y="5940000"/>
            <a:ext cx="1000000" cy="360000"/>
          </a:xfrm>
          <a:prstGeom prst="rect">
            <a:avLst/>
          </a:prstGeom>
          <a:noFill/>
          <a:ln/>
        </p:spPr>
        <p:txBody>
          <a:bodyPr wrap="square" lIns="0" tIns="0" rIns="0" bIns="0" rtlCol="0" anchor="ctr">
            <a:normAutofit/>
          </a:bodyPr>
          <a:lstStyle/>
          <a:p>
            <a:pPr marL="0" indent="0" algn="l">
              <a:buNone/>
            </a:pPr>
            <a:r>
              <a:rPr sz="900">
                <a:solidFill>
                  <a:srgbClr val="64748B"/>
                </a:solidFill>
                <a:latin typeface="JetBrains Mono"/>
              </a:rPr>
              <a:t>Fournisseurs et employés</a:t>
            </a:r>
          </a:p>
        </p:txBody>
      </p:sp>
      <p:sp>
        <p:nvSpPr>
          <p:cNvPr id="970" name="subtitle"/>
          <p:cNvSpPr txBox="1"/>
          <p:nvPr/>
        </p:nvSpPr>
        <p:spPr>
          <a:xfrm>
            <a:off x="640080" y="1874520"/>
            <a:ext cx="10728655" cy="380000"/>
          </a:xfrm>
          <a:prstGeom prst="rect">
            <a:avLst/>
          </a:prstGeom>
          <a:noFill/>
        </p:spPr>
        <p:txBody>
          <a:bodyPr wrap="square" lIns="0" tIns="0" rIns="0" bIns="0" anchor="t">
            <a:normAutofit/>
          </a:bodyPr>
          <a:lstStyle/>
          <a:p>
            <a:pPr algn="l">
              <a:lnSpc>
                <a:spcPct val="108000"/>
              </a:lnSpc>
              <a:buNone/>
            </a:pPr>
            <a:r>
              <a:rPr sz="1100">
                <a:solidFill>
                  <a:srgbClr val="64748B"/>
                </a:solidFill>
                <a:latin typeface="Aptos"/>
              </a:rPr>
              <a:t>Voici la pile complète, des entreprises qui paient jusqu’aux rails qui déplacent l’argent. Elle montre précisément où se situent les PME clientes, la plateforme 60 Seconds, l’API Dream et chaque rail, afin de clarifier ce que 60 Seconds touche et ce que Dream opère en dessous.</a:t>
            </a:r>
          </a:p>
        </p:txBody>
      </p:sp>
      <p:sp>
        <p:nvSpPr>
          <p:cNvPr id="973" name="rc">
            <a:extLst>
              <a:ext uri="{FF2B5EF4-FFF2-40B4-BE49-F238E27FC236}">
                <a16:creationId xmlns:a16="http://schemas.microsoft.com/office/drawing/2014/main" id="{E7802527-7288-E81B-ED54-690E03E6AEED}"/>
              </a:ext>
            </a:extLst>
          </p:cNvPr>
          <p:cNvSpPr/>
          <p:nvPr/>
        </p:nvSpPr>
        <p:spPr>
          <a:xfrm>
            <a:off x="4556692" y="5935664"/>
            <a:ext cx="1250000" cy="360000"/>
          </a:xfrm>
          <a:prstGeom prst="roundRect">
            <a:avLst>
              <a:gd name="adj" fmla="val 12000"/>
            </a:avLst>
          </a:prstGeom>
          <a:solidFill>
            <a:srgbClr val="F1EEFF"/>
          </a:solidFill>
          <a:ln w="9525">
            <a:solidFill>
              <a:srgbClr val="E3DBFF"/>
            </a:solidFill>
            <a:prstDash val="solid"/>
          </a:ln>
        </p:spPr>
        <p:txBody>
          <a:bodyPr/>
          <a:lstStyle/>
          <a:p>
            <a:endParaRPr/>
          </a:p>
        </p:txBody>
      </p:sp>
      <p:sp>
        <p:nvSpPr>
          <p:cNvPr id="974" name="t">
            <a:extLst>
              <a:ext uri="{FF2B5EF4-FFF2-40B4-BE49-F238E27FC236}">
                <a16:creationId xmlns:a16="http://schemas.microsoft.com/office/drawing/2014/main" id="{D680ABD3-4657-52A9-06C0-F4F1B9FD63E1}"/>
              </a:ext>
            </a:extLst>
          </p:cNvPr>
          <p:cNvSpPr txBox="1"/>
          <p:nvPr/>
        </p:nvSpPr>
        <p:spPr>
          <a:xfrm>
            <a:off x="4556692" y="5935664"/>
            <a:ext cx="1250000" cy="360000"/>
          </a:xfrm>
          <a:prstGeom prst="rect">
            <a:avLst/>
          </a:prstGeom>
          <a:noFill/>
          <a:ln/>
        </p:spPr>
        <p:txBody>
          <a:bodyPr wrap="square" lIns="0" tIns="0" rIns="0" bIns="0" rtlCol="0" anchor="ctr">
            <a:normAutofit/>
          </a:bodyPr>
          <a:lstStyle/>
          <a:p>
            <a:pPr marL="0" indent="0" algn="ctr">
              <a:buNone/>
            </a:pPr>
            <a:r>
              <a:rPr sz="950">
                <a:solidFill>
                  <a:srgbClr val="6D4AFF"/>
                </a:solidFill>
                <a:latin typeface="JetBrains Mono"/>
              </a:rPr>
              <a:t>EFT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256032"/>
          </a:xfrm>
          <a:prstGeom prst="rect">
            <a:avLst/>
          </a:prstGeom>
          <a:noFill/>
          <a:ln/>
        </p:spPr>
        <p:txBody>
          <a:bodyPr wrap="square" rtlCol="0" anchor="ctr">
            <a:normAutofit/>
          </a:bodyPr>
          <a:lstStyle/>
          <a:p>
            <a:pPr marL="0" indent="0">
              <a:buNone/>
            </a:pPr>
            <a:r>
              <a:rPr sz="1100" b="1">
                <a:solidFill>
                  <a:srgbClr val="2563EB"/>
                </a:solidFill>
                <a:latin typeface="JetBrains Mono"/>
              </a:rPr>
              <a:t>DREAM PAYMENTS</a:t>
            </a:r>
            <a:endParaRPr lang="en-US" sz="1100" dirty="0"/>
          </a:p>
        </p:txBody>
      </p:sp>
      <p:sp>
        <p:nvSpPr>
          <p:cNvPr id="3" name="Text 1"/>
          <p:cNvSpPr/>
          <p:nvPr/>
        </p:nvSpPr>
        <p:spPr>
          <a:xfrm>
            <a:off x="640080" y="749808"/>
            <a:ext cx="8229600" cy="237744"/>
          </a:xfrm>
          <a:prstGeom prst="rect">
            <a:avLst/>
          </a:prstGeom>
          <a:noFill/>
          <a:ln/>
        </p:spPr>
        <p:txBody>
          <a:bodyPr wrap="square" rtlCol="0" anchor="ctr">
            <a:normAutofit/>
          </a:bodyPr>
          <a:lstStyle/>
          <a:p>
            <a:pPr marL="0" indent="0">
              <a:buNone/>
            </a:pPr>
            <a:r>
              <a:rPr sz="950">
                <a:solidFill>
                  <a:srgbClr val="64748B"/>
                </a:solidFill>
                <a:latin typeface="JetBrains Mono"/>
              </a:rPr>
              <a:t>06 · CAPACITÉS</a:t>
            </a:r>
            <a:endParaRPr lang="en-US" sz="950" dirty="0"/>
          </a:p>
        </p:txBody>
      </p:sp>
      <p:sp>
        <p:nvSpPr>
          <p:cNvPr id="4" name="Shape 2"/>
          <p:cNvSpPr/>
          <p:nvPr/>
        </p:nvSpPr>
        <p:spPr>
          <a:xfrm>
            <a:off x="640080" y="1078992"/>
            <a:ext cx="10911535" cy="0"/>
          </a:xfrm>
          <a:prstGeom prst="line">
            <a:avLst/>
          </a:prstGeom>
          <a:noFill/>
          <a:ln w="12700">
            <a:solidFill>
              <a:srgbClr val="E6EBF2"/>
            </a:solidFill>
            <a:prstDash val="solid"/>
          </a:ln>
        </p:spPr>
        <p:txBody>
          <a:bodyPr/>
          <a:lstStyle/>
          <a:p>
            <a:endParaRPr lang="en-US"/>
          </a:p>
        </p:txBody>
      </p:sp>
      <p:sp>
        <p:nvSpPr>
          <p:cNvPr id="5" name="Text 3"/>
          <p:cNvSpPr/>
          <p:nvPr/>
        </p:nvSpPr>
        <p:spPr>
          <a:xfrm>
            <a:off x="640080" y="1298448"/>
            <a:ext cx="10911535" cy="566928"/>
          </a:xfrm>
          <a:prstGeom prst="rect">
            <a:avLst/>
          </a:prstGeom>
          <a:noFill/>
          <a:ln/>
        </p:spPr>
        <p:txBody>
          <a:bodyPr wrap="square" lIns="0" tIns="0" rIns="0" bIns="0" rtlCol="0" anchor="ctr">
            <a:normAutofit/>
          </a:bodyPr>
          <a:lstStyle/>
          <a:p>
            <a:pPr marL="0" indent="0">
              <a:buNone/>
            </a:pPr>
            <a:r>
              <a:rPr sz="2700" b="1">
                <a:solidFill>
                  <a:srgbClr val="0B1437"/>
                </a:solidFill>
                <a:latin typeface="Aptos Display"/>
              </a:rPr>
              <a:t>Tout pour payer à grande échelle.</a:t>
            </a:r>
            <a:endParaRPr lang="en-US" sz="2700" dirty="0"/>
          </a:p>
        </p:txBody>
      </p:sp>
      <p:sp>
        <p:nvSpPr>
          <p:cNvPr id="6" name="Text 4"/>
          <p:cNvSpPr/>
          <p:nvPr/>
        </p:nvSpPr>
        <p:spPr>
          <a:xfrm>
            <a:off x="640080" y="1874520"/>
            <a:ext cx="10728655" cy="680000"/>
          </a:xfrm>
          <a:prstGeom prst="rect">
            <a:avLst/>
          </a:prstGeom>
          <a:noFill/>
          <a:ln/>
        </p:spPr>
        <p:txBody>
          <a:bodyPr wrap="square" lIns="0" tIns="0" rIns="0" bIns="0" anchor="t">
            <a:normAutofit/>
          </a:bodyPr>
          <a:lstStyle/>
          <a:p>
            <a:pPr algn="l">
              <a:lnSpc>
                <a:spcPct val="108000"/>
              </a:lnSpc>
              <a:buNone/>
            </a:pPr>
            <a:r>
              <a:rPr sz="1200">
                <a:solidFill>
                  <a:srgbClr val="64748B"/>
                </a:solidFill>
                <a:latin typeface="Aptos"/>
              </a:rPr>
              <a:t>60 Seconds se branche aux rails, à la pile de conformité et à la console opérationnelle de Dream au moyen d’une seule API. Encaissements, paiements sortants, KYC, vérification, rapprochement et rapports fonctionnent au même endroit, afin que la plateforme puisse augmenter les volumes sans ajouter d’effectifs ni de fournisseurs.</a:t>
            </a:r>
          </a:p>
        </p:txBody>
      </p:sp>
      <p:sp>
        <p:nvSpPr>
          <p:cNvPr id="7" name="Shape 5"/>
          <p:cNvSpPr/>
          <p:nvPr/>
        </p:nvSpPr>
        <p:spPr>
          <a:xfrm>
            <a:off x="640080" y="2606040"/>
            <a:ext cx="3393338" cy="2880360"/>
          </a:xfrm>
          <a:prstGeom prst="roundRect">
            <a:avLst>
              <a:gd name="adj" fmla="val 1905"/>
            </a:avLst>
          </a:prstGeom>
          <a:solidFill>
            <a:srgbClr val="F6F8FC"/>
          </a:solidFill>
          <a:ln w="12700">
            <a:solidFill>
              <a:srgbClr val="E6EBF2"/>
            </a:solidFill>
            <a:prstDash val="solid"/>
          </a:ln>
          <a:effectLst>
            <a:outerShdw blurRad="127000" dist="38100" dir="5400000" algn="bl" rotWithShape="0">
              <a:srgbClr val="1E2A52">
                <a:alpha val="13000"/>
              </a:srgbClr>
            </a:outerShdw>
          </a:effectLst>
        </p:spPr>
        <p:txBody>
          <a:bodyPr/>
          <a:lstStyle/>
          <a:p>
            <a:endParaRPr lang="en-US"/>
          </a:p>
        </p:txBody>
      </p:sp>
      <p:sp>
        <p:nvSpPr>
          <p:cNvPr id="8" name="Shape 6"/>
          <p:cNvSpPr/>
          <p:nvPr/>
        </p:nvSpPr>
        <p:spPr>
          <a:xfrm>
            <a:off x="676656" y="2596896"/>
            <a:ext cx="3320186" cy="64008"/>
          </a:xfrm>
          <a:prstGeom prst="roundRect">
            <a:avLst>
              <a:gd name="adj" fmla="val 28571"/>
            </a:avLst>
          </a:prstGeom>
          <a:solidFill>
            <a:srgbClr val="2563EB"/>
          </a:solidFill>
          <a:ln/>
        </p:spPr>
        <p:txBody>
          <a:bodyPr/>
          <a:lstStyle/>
          <a:p>
            <a:endParaRPr lang="en-US"/>
          </a:p>
        </p:txBody>
      </p:sp>
      <p:pic>
        <p:nvPicPr>
          <p:cNvPr id="9" name="Image 0" descr="assets/fi_zap_ink.png"/>
          <p:cNvPicPr>
            <a:picLocks noChangeAspect="1"/>
          </p:cNvPicPr>
          <p:nvPr/>
        </p:nvPicPr>
        <p:blipFill>
          <a:blip r:embed="rId3"/>
          <a:stretch>
            <a:fillRect/>
          </a:stretch>
        </p:blipFill>
        <p:spPr>
          <a:xfrm>
            <a:off x="2034997" y="2990088"/>
            <a:ext cx="603504" cy="603504"/>
          </a:xfrm>
          <a:prstGeom prst="rect">
            <a:avLst/>
          </a:prstGeom>
        </p:spPr>
      </p:pic>
      <p:sp>
        <p:nvSpPr>
          <p:cNvPr id="10" name="Text 7"/>
          <p:cNvSpPr/>
          <p:nvPr/>
        </p:nvSpPr>
        <p:spPr>
          <a:xfrm>
            <a:off x="822960" y="3794760"/>
            <a:ext cx="3027578" cy="237744"/>
          </a:xfrm>
          <a:prstGeom prst="rect">
            <a:avLst/>
          </a:prstGeom>
          <a:noFill/>
          <a:ln/>
        </p:spPr>
        <p:txBody>
          <a:bodyPr wrap="square" rtlCol="0" anchor="ctr">
            <a:normAutofit/>
          </a:bodyPr>
          <a:lstStyle/>
          <a:p>
            <a:pPr marL="0" indent="0" algn="ctr">
              <a:buNone/>
            </a:pPr>
            <a:r>
              <a:rPr sz="900" b="1">
                <a:solidFill>
                  <a:srgbClr val="2563EB"/>
                </a:solidFill>
                <a:latin typeface="JetBrains Mono"/>
              </a:rPr>
              <a:t>RAPIDE</a:t>
            </a:r>
            <a:endParaRPr lang="en-US" sz="900" dirty="0"/>
          </a:p>
        </p:txBody>
      </p:sp>
      <p:sp>
        <p:nvSpPr>
          <p:cNvPr id="11" name="Text 8"/>
          <p:cNvSpPr/>
          <p:nvPr/>
        </p:nvSpPr>
        <p:spPr>
          <a:xfrm>
            <a:off x="868680" y="4069080"/>
            <a:ext cx="2936138" cy="502920"/>
          </a:xfrm>
          <a:prstGeom prst="rect">
            <a:avLst/>
          </a:prstGeom>
          <a:noFill/>
          <a:ln/>
        </p:spPr>
        <p:txBody>
          <a:bodyPr wrap="square" lIns="0" tIns="0" rIns="0" bIns="0" rtlCol="0" anchor="t">
            <a:normAutofit/>
          </a:bodyPr>
          <a:lstStyle/>
          <a:p>
            <a:pPr marL="0" indent="0" algn="ctr">
              <a:lnSpc>
                <a:spcPts val="1800"/>
              </a:lnSpc>
              <a:buNone/>
            </a:pPr>
            <a:r>
              <a:rPr sz="1600" b="1">
                <a:solidFill>
                  <a:srgbClr val="0B1437"/>
                </a:solidFill>
                <a:latin typeface="Aptos Display"/>
              </a:rPr>
              <a:t>Mouvement d’argent multirail</a:t>
            </a:r>
            <a:endParaRPr lang="en-US" sz="1600" dirty="0"/>
          </a:p>
        </p:txBody>
      </p:sp>
      <p:sp>
        <p:nvSpPr>
          <p:cNvPr id="12" name="Text 9"/>
          <p:cNvSpPr/>
          <p:nvPr/>
        </p:nvSpPr>
        <p:spPr>
          <a:xfrm>
            <a:off x="914400" y="4617720"/>
            <a:ext cx="2844698" cy="685800"/>
          </a:xfrm>
          <a:prstGeom prst="rect">
            <a:avLst/>
          </a:prstGeom>
          <a:noFill/>
          <a:ln/>
        </p:spPr>
        <p:txBody>
          <a:bodyPr wrap="square" lIns="0" tIns="0" rIns="0" bIns="0" rtlCol="0" anchor="t">
            <a:normAutofit/>
          </a:bodyPr>
          <a:lstStyle/>
          <a:p>
            <a:pPr marL="0" indent="0" algn="ctr">
              <a:lnSpc>
                <a:spcPts val="1550"/>
              </a:lnSpc>
              <a:buNone/>
            </a:pPr>
            <a:r>
              <a:rPr sz="1150">
                <a:solidFill>
                  <a:srgbClr val="64748B"/>
                </a:solidFill>
                <a:latin typeface="Aptos"/>
              </a:rPr>
              <a:t>EFT et demande Interac e-Transfer pour encaisser, EFT et paiements e-Transfer pour payer fournisseurs et employés.</a:t>
            </a:r>
            <a:endParaRPr lang="en-US" sz="1150" dirty="0"/>
          </a:p>
        </p:txBody>
      </p:sp>
      <p:sp>
        <p:nvSpPr>
          <p:cNvPr id="13" name="Shape 10"/>
          <p:cNvSpPr/>
          <p:nvPr/>
        </p:nvSpPr>
        <p:spPr>
          <a:xfrm>
            <a:off x="4399178" y="2606040"/>
            <a:ext cx="3393338" cy="2880360"/>
          </a:xfrm>
          <a:prstGeom prst="roundRect">
            <a:avLst>
              <a:gd name="adj" fmla="val 1905"/>
            </a:avLst>
          </a:prstGeom>
          <a:solidFill>
            <a:srgbClr val="F6F8FC"/>
          </a:solidFill>
          <a:ln w="12700">
            <a:solidFill>
              <a:srgbClr val="E6EBF2"/>
            </a:solidFill>
            <a:prstDash val="solid"/>
          </a:ln>
          <a:effectLst>
            <a:outerShdw blurRad="127000" dist="38100" dir="5400000" algn="bl" rotWithShape="0">
              <a:srgbClr val="1E2A52">
                <a:alpha val="13000"/>
              </a:srgbClr>
            </a:outerShdw>
          </a:effectLst>
        </p:spPr>
        <p:txBody>
          <a:bodyPr/>
          <a:lstStyle/>
          <a:p>
            <a:endParaRPr lang="en-US"/>
          </a:p>
        </p:txBody>
      </p:sp>
      <p:sp>
        <p:nvSpPr>
          <p:cNvPr id="14" name="Shape 11"/>
          <p:cNvSpPr/>
          <p:nvPr/>
        </p:nvSpPr>
        <p:spPr>
          <a:xfrm>
            <a:off x="4435754" y="2596896"/>
            <a:ext cx="3320186" cy="64008"/>
          </a:xfrm>
          <a:prstGeom prst="roundRect">
            <a:avLst>
              <a:gd name="adj" fmla="val 28571"/>
            </a:avLst>
          </a:prstGeom>
          <a:solidFill>
            <a:srgbClr val="2563EB"/>
          </a:solidFill>
          <a:ln/>
        </p:spPr>
        <p:txBody>
          <a:bodyPr/>
          <a:lstStyle/>
          <a:p>
            <a:endParaRPr lang="en-US"/>
          </a:p>
        </p:txBody>
      </p:sp>
      <p:pic>
        <p:nvPicPr>
          <p:cNvPr id="15" name="Image 1" descr="assets/fi_code_ink.png"/>
          <p:cNvPicPr>
            <a:picLocks noChangeAspect="1"/>
          </p:cNvPicPr>
          <p:nvPr/>
        </p:nvPicPr>
        <p:blipFill>
          <a:blip r:embed="rId4"/>
          <a:stretch>
            <a:fillRect/>
          </a:stretch>
        </p:blipFill>
        <p:spPr>
          <a:xfrm>
            <a:off x="5794096" y="2990088"/>
            <a:ext cx="603504" cy="603504"/>
          </a:xfrm>
          <a:prstGeom prst="rect">
            <a:avLst/>
          </a:prstGeom>
        </p:spPr>
      </p:pic>
      <p:sp>
        <p:nvSpPr>
          <p:cNvPr id="16" name="Text 12"/>
          <p:cNvSpPr/>
          <p:nvPr/>
        </p:nvSpPr>
        <p:spPr>
          <a:xfrm>
            <a:off x="4582058" y="3794760"/>
            <a:ext cx="3027578" cy="237744"/>
          </a:xfrm>
          <a:prstGeom prst="rect">
            <a:avLst/>
          </a:prstGeom>
          <a:noFill/>
          <a:ln/>
        </p:spPr>
        <p:txBody>
          <a:bodyPr wrap="square" rtlCol="0" anchor="ctr">
            <a:normAutofit/>
          </a:bodyPr>
          <a:lstStyle/>
          <a:p>
            <a:pPr marL="0" indent="0" algn="ctr">
              <a:buNone/>
            </a:pPr>
            <a:r>
              <a:rPr sz="900" b="1">
                <a:solidFill>
                  <a:srgbClr val="2563EB"/>
                </a:solidFill>
                <a:latin typeface="JetBrains Mono"/>
              </a:rPr>
              <a:t>INTÉGRÉ</a:t>
            </a:r>
            <a:endParaRPr lang="en-US" sz="900" dirty="0"/>
          </a:p>
        </p:txBody>
      </p:sp>
      <p:sp>
        <p:nvSpPr>
          <p:cNvPr id="17" name="Text 13"/>
          <p:cNvSpPr/>
          <p:nvPr/>
        </p:nvSpPr>
        <p:spPr>
          <a:xfrm>
            <a:off x="4627778" y="4069080"/>
            <a:ext cx="2936138" cy="502920"/>
          </a:xfrm>
          <a:prstGeom prst="rect">
            <a:avLst/>
          </a:prstGeom>
          <a:noFill/>
          <a:ln/>
        </p:spPr>
        <p:txBody>
          <a:bodyPr wrap="square" lIns="0" tIns="0" rIns="0" bIns="0" rtlCol="0" anchor="t">
            <a:normAutofit/>
          </a:bodyPr>
          <a:lstStyle/>
          <a:p>
            <a:pPr marL="0" indent="0" algn="ctr">
              <a:lnSpc>
                <a:spcPts val="1800"/>
              </a:lnSpc>
              <a:buNone/>
            </a:pPr>
            <a:r>
              <a:rPr sz="1600" b="1">
                <a:solidFill>
                  <a:srgbClr val="0B1437"/>
                </a:solidFill>
                <a:latin typeface="Aptos Display"/>
              </a:rPr>
              <a:t>Intégration API d’abord</a:t>
            </a:r>
            <a:endParaRPr lang="en-US" sz="1600" dirty="0"/>
          </a:p>
        </p:txBody>
      </p:sp>
      <p:sp>
        <p:nvSpPr>
          <p:cNvPr id="18" name="Text 14"/>
          <p:cNvSpPr/>
          <p:nvPr/>
        </p:nvSpPr>
        <p:spPr>
          <a:xfrm>
            <a:off x="4673498" y="4617720"/>
            <a:ext cx="2844698" cy="685800"/>
          </a:xfrm>
          <a:prstGeom prst="rect">
            <a:avLst/>
          </a:prstGeom>
          <a:noFill/>
          <a:ln/>
        </p:spPr>
        <p:txBody>
          <a:bodyPr wrap="square" lIns="0" tIns="0" rIns="0" bIns="0" rtlCol="0" anchor="t">
            <a:normAutofit/>
          </a:bodyPr>
          <a:lstStyle/>
          <a:p>
            <a:pPr marL="0" indent="0" algn="ctr">
              <a:lnSpc>
                <a:spcPts val="1550"/>
              </a:lnSpc>
              <a:buNone/>
            </a:pPr>
            <a:r>
              <a:rPr sz="1150">
                <a:solidFill>
                  <a:srgbClr val="64748B"/>
                </a:solidFill>
                <a:latin typeface="Aptos"/>
              </a:rPr>
              <a:t>Les API COLLECT et SETTLE s’intègrent directement au flux 60 Seconds, avec un portail opérationnel pour les opérations.</a:t>
            </a:r>
            <a:endParaRPr lang="en-US" sz="1150" dirty="0"/>
          </a:p>
        </p:txBody>
      </p:sp>
      <p:sp>
        <p:nvSpPr>
          <p:cNvPr id="19" name="Shape 15"/>
          <p:cNvSpPr/>
          <p:nvPr/>
        </p:nvSpPr>
        <p:spPr>
          <a:xfrm>
            <a:off x="8158277" y="2606040"/>
            <a:ext cx="3393338" cy="2880360"/>
          </a:xfrm>
          <a:prstGeom prst="roundRect">
            <a:avLst>
              <a:gd name="adj" fmla="val 1905"/>
            </a:avLst>
          </a:prstGeom>
          <a:solidFill>
            <a:srgbClr val="F6F8FC"/>
          </a:solidFill>
          <a:ln w="12700">
            <a:solidFill>
              <a:srgbClr val="E6EBF2"/>
            </a:solidFill>
            <a:prstDash val="solid"/>
          </a:ln>
          <a:effectLst>
            <a:outerShdw blurRad="127000" dist="38100" dir="5400000" algn="bl" rotWithShape="0">
              <a:srgbClr val="1E2A52">
                <a:alpha val="13000"/>
              </a:srgbClr>
            </a:outerShdw>
          </a:effectLst>
        </p:spPr>
        <p:txBody>
          <a:bodyPr/>
          <a:lstStyle/>
          <a:p>
            <a:endParaRPr lang="en-US"/>
          </a:p>
        </p:txBody>
      </p:sp>
      <p:sp>
        <p:nvSpPr>
          <p:cNvPr id="20" name="Shape 16"/>
          <p:cNvSpPr/>
          <p:nvPr/>
        </p:nvSpPr>
        <p:spPr>
          <a:xfrm>
            <a:off x="8194853" y="2596896"/>
            <a:ext cx="3320186" cy="64008"/>
          </a:xfrm>
          <a:prstGeom prst="roundRect">
            <a:avLst>
              <a:gd name="adj" fmla="val 28571"/>
            </a:avLst>
          </a:prstGeom>
          <a:solidFill>
            <a:srgbClr val="2563EB"/>
          </a:solidFill>
          <a:ln/>
        </p:spPr>
        <p:txBody>
          <a:bodyPr/>
          <a:lstStyle/>
          <a:p>
            <a:endParaRPr lang="en-US"/>
          </a:p>
        </p:txBody>
      </p:sp>
      <p:pic>
        <p:nvPicPr>
          <p:cNvPr id="21" name="Image 2" descr="assets/fi_shield_ink.png"/>
          <p:cNvPicPr>
            <a:picLocks noChangeAspect="1"/>
          </p:cNvPicPr>
          <p:nvPr/>
        </p:nvPicPr>
        <p:blipFill>
          <a:blip r:embed="rId5"/>
          <a:stretch>
            <a:fillRect/>
          </a:stretch>
        </p:blipFill>
        <p:spPr>
          <a:xfrm>
            <a:off x="9553194" y="2990088"/>
            <a:ext cx="603504" cy="603504"/>
          </a:xfrm>
          <a:prstGeom prst="rect">
            <a:avLst/>
          </a:prstGeom>
        </p:spPr>
      </p:pic>
      <p:sp>
        <p:nvSpPr>
          <p:cNvPr id="22" name="Text 17"/>
          <p:cNvSpPr/>
          <p:nvPr/>
        </p:nvSpPr>
        <p:spPr>
          <a:xfrm>
            <a:off x="8341157" y="3794760"/>
            <a:ext cx="3027578" cy="237744"/>
          </a:xfrm>
          <a:prstGeom prst="rect">
            <a:avLst/>
          </a:prstGeom>
          <a:noFill/>
          <a:ln/>
        </p:spPr>
        <p:txBody>
          <a:bodyPr wrap="square" rtlCol="0" anchor="ctr">
            <a:normAutofit/>
          </a:bodyPr>
          <a:lstStyle/>
          <a:p>
            <a:pPr marL="0" indent="0" algn="ctr">
              <a:buNone/>
            </a:pPr>
            <a:r>
              <a:rPr sz="900" b="1">
                <a:solidFill>
                  <a:srgbClr val="2563EB"/>
                </a:solidFill>
                <a:latin typeface="JetBrains Mono"/>
              </a:rPr>
              <a:t>CONFORME</a:t>
            </a:r>
            <a:endParaRPr lang="en-US" sz="900" dirty="0"/>
          </a:p>
        </p:txBody>
      </p:sp>
      <p:sp>
        <p:nvSpPr>
          <p:cNvPr id="23" name="Text 18"/>
          <p:cNvSpPr/>
          <p:nvPr/>
        </p:nvSpPr>
        <p:spPr>
          <a:xfrm>
            <a:off x="8386877" y="4069080"/>
            <a:ext cx="2936138" cy="502920"/>
          </a:xfrm>
          <a:prstGeom prst="rect">
            <a:avLst/>
          </a:prstGeom>
          <a:noFill/>
          <a:ln/>
        </p:spPr>
        <p:txBody>
          <a:bodyPr wrap="square" lIns="0" tIns="0" rIns="0" bIns="0" rtlCol="0" anchor="t">
            <a:normAutofit/>
          </a:bodyPr>
          <a:lstStyle/>
          <a:p>
            <a:pPr marL="0" indent="0" algn="ctr">
              <a:lnSpc>
                <a:spcPts val="1800"/>
              </a:lnSpc>
              <a:buNone/>
            </a:pPr>
            <a:r>
              <a:rPr sz="1600" b="1">
                <a:solidFill>
                  <a:srgbClr val="0B1437"/>
                </a:solidFill>
                <a:latin typeface="Aptos Display"/>
              </a:rPr>
              <a:t>Sécurité de niveau bancaire</a:t>
            </a:r>
            <a:endParaRPr lang="en-US" sz="1600" dirty="0"/>
          </a:p>
        </p:txBody>
      </p:sp>
      <p:sp>
        <p:nvSpPr>
          <p:cNvPr id="24" name="Text 19"/>
          <p:cNvSpPr/>
          <p:nvPr/>
        </p:nvSpPr>
        <p:spPr>
          <a:xfrm>
            <a:off x="8432597" y="4617720"/>
            <a:ext cx="2844698" cy="685800"/>
          </a:xfrm>
          <a:prstGeom prst="rect">
            <a:avLst/>
          </a:prstGeom>
          <a:noFill/>
          <a:ln/>
        </p:spPr>
        <p:txBody>
          <a:bodyPr wrap="square" lIns="0" tIns="0" rIns="0" bIns="0" rtlCol="0" anchor="t">
            <a:normAutofit/>
          </a:bodyPr>
          <a:lstStyle/>
          <a:p>
            <a:pPr marL="0" indent="0" algn="ctr">
              <a:lnSpc>
                <a:spcPts val="1550"/>
              </a:lnSpc>
              <a:buNone/>
            </a:pPr>
            <a:r>
              <a:rPr sz="1150">
                <a:solidFill>
                  <a:srgbClr val="64748B"/>
                </a:solidFill>
                <a:latin typeface="Aptos"/>
              </a:rPr>
              <a:t>PCI-DSS, SOC 2, ESM CANAFE et RPAA de la Banque du Canada. Dream gère le KYC, la LBA et la surveillance.</a:t>
            </a:r>
            <a:endParaRPr lang="en-US" sz="1150" dirty="0"/>
          </a:p>
        </p:txBody>
      </p:sp>
      <p:sp>
        <p:nvSpPr>
          <p:cNvPr id="25" name="Text 20"/>
          <p:cNvSpPr/>
          <p:nvPr/>
        </p:nvSpPr>
        <p:spPr>
          <a:xfrm>
            <a:off x="640080" y="6455664"/>
            <a:ext cx="9144000" cy="274320"/>
          </a:xfrm>
          <a:prstGeom prst="rect">
            <a:avLst/>
          </a:prstGeom>
          <a:noFill/>
          <a:ln/>
        </p:spPr>
        <p:txBody>
          <a:bodyPr wrap="square" rtlCol="0" anchor="ctr">
            <a:normAutofit/>
          </a:bodyPr>
          <a:lstStyle/>
          <a:p>
            <a:pPr marL="0" indent="0">
              <a:buNone/>
            </a:pPr>
            <a:r>
              <a:rPr sz="750">
                <a:solidFill>
                  <a:srgbClr val="94A3B8"/>
                </a:solidFill>
                <a:latin typeface="JetBrains Mono"/>
              </a:rPr>
              <a:t>DREAM PAYMENTS  ·  HUB DE PAIEMENTS D’AFFAIRES  ·  PROPOSITION COMMERCIALE</a:t>
            </a:r>
            <a:endParaRPr lang="en-US" sz="750" dirty="0"/>
          </a:p>
        </p:txBody>
      </p:sp>
      <p:sp>
        <p:nvSpPr>
          <p:cNvPr id="26" name="Text 21"/>
          <p:cNvSpPr/>
          <p:nvPr/>
        </p:nvSpPr>
        <p:spPr>
          <a:xfrm>
            <a:off x="10637215" y="6455664"/>
            <a:ext cx="914400" cy="274320"/>
          </a:xfrm>
          <a:prstGeom prst="rect">
            <a:avLst/>
          </a:prstGeom>
          <a:noFill/>
          <a:ln/>
        </p:spPr>
        <p:txBody>
          <a:bodyPr wrap="square" rtlCol="0" anchor="ctr">
            <a:normAutofit/>
          </a:bodyPr>
          <a:lstStyle/>
          <a:p>
            <a:pPr marL="0" indent="0" algn="r">
              <a:buNone/>
            </a:pPr>
            <a:r>
              <a:rPr sz="800" b="1">
                <a:solidFill>
                  <a:srgbClr val="2563EB"/>
                </a:solidFill>
                <a:latin typeface="JetBrains Mono"/>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603504"/>
            <a:ext cx="384048" cy="64008"/>
          </a:xfrm>
          <a:prstGeom prst="rect">
            <a:avLst/>
          </a:prstGeom>
          <a:solidFill>
            <a:srgbClr val="7C5CFF"/>
          </a:solidFill>
          <a:ln/>
        </p:spPr>
        <p:txBody>
          <a:bodyPr/>
          <a:lstStyle/>
          <a:p>
            <a:endParaRPr lang="en-US"/>
          </a:p>
        </p:txBody>
      </p:sp>
      <p:sp>
        <p:nvSpPr>
          <p:cNvPr id="3" name="Text 1"/>
          <p:cNvSpPr/>
          <p:nvPr/>
        </p:nvSpPr>
        <p:spPr>
          <a:xfrm>
            <a:off x="1143000" y="502920"/>
            <a:ext cx="9144000" cy="274320"/>
          </a:xfrm>
          <a:prstGeom prst="rect">
            <a:avLst/>
          </a:prstGeom>
          <a:noFill/>
          <a:ln/>
        </p:spPr>
        <p:txBody>
          <a:bodyPr wrap="square" rtlCol="0" anchor="ctr">
            <a:normAutofit/>
          </a:bodyPr>
          <a:lstStyle/>
          <a:p>
            <a:pPr marL="0" indent="0">
              <a:buNone/>
            </a:pPr>
            <a:r>
              <a:rPr sz="1100" b="1">
                <a:solidFill>
                  <a:srgbClr val="A5B4FC"/>
                </a:solidFill>
                <a:latin typeface="JetBrains Mono"/>
              </a:rPr>
              <a:t>SECTION IV · CONDITIONS COMMERCIALES</a:t>
            </a:r>
            <a:endParaRPr lang="en-US" sz="1100" dirty="0"/>
          </a:p>
        </p:txBody>
      </p:sp>
      <p:sp>
        <p:nvSpPr>
          <p:cNvPr id="4" name="Text 2"/>
          <p:cNvSpPr/>
          <p:nvPr/>
        </p:nvSpPr>
        <p:spPr>
          <a:xfrm>
            <a:off x="640080" y="3063240"/>
            <a:ext cx="10607040" cy="1554480"/>
          </a:xfrm>
          <a:prstGeom prst="rect">
            <a:avLst/>
          </a:prstGeom>
          <a:noFill/>
          <a:ln/>
        </p:spPr>
        <p:txBody>
          <a:bodyPr wrap="square" lIns="0" tIns="0" rIns="0" bIns="0" rtlCol="0" anchor="ctr">
            <a:normAutofit/>
          </a:bodyPr>
          <a:lstStyle/>
          <a:p>
            <a:pPr marL="0" indent="0">
              <a:lnSpc>
                <a:spcPts val="4800"/>
              </a:lnSpc>
              <a:buNone/>
            </a:pPr>
            <a:r>
              <a:rPr sz="4200" b="1">
                <a:solidFill>
                  <a:srgbClr val="FFFFFF"/>
                </a:solidFill>
                <a:latin typeface="Aptos Display"/>
              </a:rPr>
              <a:t>Simple, transparent, adapté au volume.</a:t>
            </a:r>
            <a:endParaRPr lang="en-US" sz="4200" dirty="0"/>
          </a:p>
        </p:txBody>
      </p:sp>
      <p:sp>
        <p:nvSpPr>
          <p:cNvPr id="5" name="Text 3"/>
          <p:cNvSpPr/>
          <p:nvPr/>
        </p:nvSpPr>
        <p:spPr>
          <a:xfrm>
            <a:off x="640080" y="4709160"/>
            <a:ext cx="9601200" cy="900000"/>
          </a:xfrm>
          <a:prstGeom prst="rect">
            <a:avLst/>
          </a:prstGeom>
          <a:noFill/>
          <a:ln/>
        </p:spPr>
        <p:txBody>
          <a:bodyPr wrap="square" rtlCol="0" anchor="ctr">
            <a:normAutofit/>
          </a:bodyPr>
          <a:lstStyle/>
          <a:p>
            <a:pPr marL="0" indent="0">
              <a:lnSpc>
                <a:spcPts val="2200"/>
              </a:lnSpc>
              <a:buNone/>
            </a:pPr>
            <a:r>
              <a:rPr sz="1550">
                <a:solidFill>
                  <a:srgbClr val="C7D2FE"/>
                </a:solidFill>
                <a:latin typeface="Aptos"/>
              </a:rPr>
              <a:t>Des frais mensuels de plateforme dès l’octroi de l’accès au sandbox, des tarifs fixes par transaction selon le rail, des remises par paliers de volume et des services optionnels à valeur ajoutée, sans frais de configuration. Tous les montants sont en CAD, pour le Canada domestique.</a:t>
            </a:r>
            <a:endParaRPr lang="en-US" sz="1550" dirty="0"/>
          </a:p>
        </p:txBody>
      </p:sp>
      <p:sp>
        <p:nvSpPr>
          <p:cNvPr id="6" name="Text 4"/>
          <p:cNvSpPr/>
          <p:nvPr/>
        </p:nvSpPr>
        <p:spPr>
          <a:xfrm>
            <a:off x="10637215" y="6455664"/>
            <a:ext cx="914400" cy="274320"/>
          </a:xfrm>
          <a:prstGeom prst="rect">
            <a:avLst/>
          </a:prstGeom>
          <a:noFill/>
          <a:ln/>
        </p:spPr>
        <p:txBody>
          <a:bodyPr wrap="square" rtlCol="0" anchor="ctr">
            <a:normAutofit/>
          </a:bodyPr>
          <a:lstStyle/>
          <a:p>
            <a:pPr marL="0" indent="0" algn="r">
              <a:buNone/>
            </a:pPr>
            <a:r>
              <a:rPr sz="800">
                <a:solidFill>
                  <a:srgbClr val="8C97C9"/>
                </a:solidFill>
                <a:latin typeface="JetBrains Mono"/>
              </a:rPr>
              <a:t>14</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256032"/>
          </a:xfrm>
          <a:prstGeom prst="rect">
            <a:avLst/>
          </a:prstGeom>
          <a:noFill/>
          <a:ln/>
        </p:spPr>
        <p:txBody>
          <a:bodyPr wrap="square" rtlCol="0" anchor="ctr">
            <a:normAutofit/>
          </a:bodyPr>
          <a:lstStyle/>
          <a:p>
            <a:pPr marL="0" indent="0">
              <a:buNone/>
            </a:pPr>
            <a:r>
              <a:rPr sz="1100" b="1">
                <a:solidFill>
                  <a:srgbClr val="2563EB"/>
                </a:solidFill>
                <a:latin typeface="JetBrains Mono"/>
              </a:rPr>
              <a:t>DREAM PAYMENTS</a:t>
            </a:r>
            <a:endParaRPr lang="en-US" sz="1100" dirty="0"/>
          </a:p>
        </p:txBody>
      </p:sp>
      <p:sp>
        <p:nvSpPr>
          <p:cNvPr id="3" name="Text 1"/>
          <p:cNvSpPr/>
          <p:nvPr/>
        </p:nvSpPr>
        <p:spPr>
          <a:xfrm>
            <a:off x="640080" y="749808"/>
            <a:ext cx="8229600" cy="237744"/>
          </a:xfrm>
          <a:prstGeom prst="rect">
            <a:avLst/>
          </a:prstGeom>
          <a:noFill/>
          <a:ln/>
        </p:spPr>
        <p:txBody>
          <a:bodyPr wrap="square" rtlCol="0" anchor="ctr">
            <a:normAutofit/>
          </a:bodyPr>
          <a:lstStyle/>
          <a:p>
            <a:pPr marL="0" indent="0">
              <a:buNone/>
            </a:pPr>
            <a:r>
              <a:rPr sz="950">
                <a:solidFill>
                  <a:srgbClr val="64748B"/>
                </a:solidFill>
                <a:latin typeface="JetBrains Mono"/>
              </a:rPr>
              <a:t>09 · TARIFICATION</a:t>
            </a:r>
            <a:endParaRPr lang="en-US" sz="950" dirty="0"/>
          </a:p>
        </p:txBody>
      </p:sp>
      <p:sp>
        <p:nvSpPr>
          <p:cNvPr id="4" name="Shape 2"/>
          <p:cNvSpPr/>
          <p:nvPr/>
        </p:nvSpPr>
        <p:spPr>
          <a:xfrm>
            <a:off x="640080" y="1078992"/>
            <a:ext cx="10911535" cy="0"/>
          </a:xfrm>
          <a:prstGeom prst="line">
            <a:avLst/>
          </a:prstGeom>
          <a:noFill/>
          <a:ln w="12700">
            <a:solidFill>
              <a:srgbClr val="E6EBF2"/>
            </a:solidFill>
            <a:prstDash val="solid"/>
          </a:ln>
        </p:spPr>
        <p:txBody>
          <a:bodyPr/>
          <a:lstStyle/>
          <a:p>
            <a:endParaRPr lang="en-US"/>
          </a:p>
        </p:txBody>
      </p:sp>
      <p:sp>
        <p:nvSpPr>
          <p:cNvPr id="5" name="Text 3"/>
          <p:cNvSpPr/>
          <p:nvPr/>
        </p:nvSpPr>
        <p:spPr>
          <a:xfrm>
            <a:off x="640080" y="1298448"/>
            <a:ext cx="10911535" cy="566928"/>
          </a:xfrm>
          <a:prstGeom prst="rect">
            <a:avLst/>
          </a:prstGeom>
          <a:noFill/>
          <a:ln/>
        </p:spPr>
        <p:txBody>
          <a:bodyPr wrap="square" lIns="0" tIns="0" rIns="0" bIns="0" rtlCol="0" anchor="ctr">
            <a:normAutofit/>
          </a:bodyPr>
          <a:lstStyle/>
          <a:p>
            <a:pPr marL="0" indent="0">
              <a:buNone/>
            </a:pPr>
            <a:r>
              <a:rPr sz="2700" b="1">
                <a:solidFill>
                  <a:srgbClr val="0B1437"/>
                </a:solidFill>
                <a:latin typeface="Aptos Display"/>
              </a:rPr>
              <a:t>Tarification simple, basée sur l’utilisation.</a:t>
            </a:r>
            <a:endParaRPr lang="en-US" sz="2700" dirty="0"/>
          </a:p>
        </p:txBody>
      </p:sp>
      <p:sp>
        <p:nvSpPr>
          <p:cNvPr id="6" name="Text 4"/>
          <p:cNvSpPr/>
          <p:nvPr/>
        </p:nvSpPr>
        <p:spPr>
          <a:xfrm>
            <a:off x="640080" y="1874520"/>
            <a:ext cx="10728655" cy="505000"/>
          </a:xfrm>
          <a:prstGeom prst="rect">
            <a:avLst/>
          </a:prstGeom>
          <a:noFill/>
          <a:ln/>
        </p:spPr>
        <p:txBody>
          <a:bodyPr wrap="square" lIns="0" tIns="0" rIns="0" bIns="0" anchor="t">
            <a:normAutofit/>
          </a:bodyPr>
          <a:lstStyle/>
          <a:p>
            <a:pPr algn="l">
              <a:lnSpc>
                <a:spcPct val="108000"/>
              </a:lnSpc>
              <a:buNone/>
            </a:pPr>
            <a:r>
              <a:rPr sz="1150">
                <a:solidFill>
                  <a:srgbClr val="64748B"/>
                </a:solidFill>
                <a:latin typeface="Aptos"/>
              </a:rPr>
              <a:t>Trois composantes simples : des frais mensuels de plateforme qui commencent lorsque l’accès au sandbox est accordé, des tarifs fixes par transaction selon le rail et des services optionnels à valeur ajoutée. Les tarifs diminuent à mesure que le volume mensuel augmente, sans frais de configuration. Tous les montants sont en CAD, pour le Canada domestique.</a:t>
            </a:r>
          </a:p>
        </p:txBody>
      </p:sp>
      <p:sp>
        <p:nvSpPr>
          <p:cNvPr id="29" name="Text 23"/>
          <p:cNvSpPr/>
          <p:nvPr/>
        </p:nvSpPr>
        <p:spPr>
          <a:xfrm>
            <a:off x="640080" y="6455664"/>
            <a:ext cx="9144000" cy="274320"/>
          </a:xfrm>
          <a:prstGeom prst="rect">
            <a:avLst/>
          </a:prstGeom>
          <a:noFill/>
          <a:ln/>
        </p:spPr>
        <p:txBody>
          <a:bodyPr wrap="square" rtlCol="0" anchor="ctr">
            <a:normAutofit/>
          </a:bodyPr>
          <a:lstStyle/>
          <a:p>
            <a:pPr marL="0" indent="0">
              <a:buNone/>
            </a:pPr>
            <a:r>
              <a:rPr sz="750">
                <a:solidFill>
                  <a:srgbClr val="94A3B8"/>
                </a:solidFill>
                <a:latin typeface="JetBrains Mono"/>
              </a:rPr>
              <a:t>DREAM PAYMENTS  ·  HUB DE PAIEMENTS D’AFFAIRES  ·  PROPOSITION COMMERCIALE</a:t>
            </a:r>
            <a:endParaRPr lang="en-US" sz="750" dirty="0"/>
          </a:p>
        </p:txBody>
      </p:sp>
      <p:sp>
        <p:nvSpPr>
          <p:cNvPr id="30" name="Text 24"/>
          <p:cNvSpPr/>
          <p:nvPr/>
        </p:nvSpPr>
        <p:spPr>
          <a:xfrm>
            <a:off x="10637215" y="6455664"/>
            <a:ext cx="914400" cy="274320"/>
          </a:xfrm>
          <a:prstGeom prst="rect">
            <a:avLst/>
          </a:prstGeom>
          <a:noFill/>
          <a:ln/>
        </p:spPr>
        <p:txBody>
          <a:bodyPr wrap="square" rtlCol="0" anchor="ctr">
            <a:normAutofit/>
          </a:bodyPr>
          <a:lstStyle/>
          <a:p>
            <a:pPr marL="0" indent="0" algn="r">
              <a:buNone/>
            </a:pPr>
            <a:r>
              <a:rPr sz="800" b="1">
                <a:solidFill>
                  <a:srgbClr val="2563EB"/>
                </a:solidFill>
                <a:latin typeface="JetBrains Mono"/>
              </a:rPr>
              <a:t>15</a:t>
            </a:r>
            <a:endParaRPr lang="en-US" sz="800" dirty="0"/>
          </a:p>
        </p:txBody>
      </p:sp>
      <p:sp>
        <p:nvSpPr>
          <p:cNvPr id="801" name="r"/>
          <p:cNvSpPr/>
          <p:nvPr/>
        </p:nvSpPr>
        <p:spPr>
          <a:xfrm>
            <a:off x="640080" y="2420000"/>
            <a:ext cx="5272888" cy="1000000"/>
          </a:xfrm>
          <a:prstGeom prst="rect">
            <a:avLst/>
          </a:prstGeom>
          <a:solidFill>
            <a:srgbClr val="F8FAFC"/>
          </a:solidFill>
          <a:ln w="9525">
            <a:solidFill>
              <a:srgbClr val="E2E8F0"/>
            </a:solidFill>
            <a:prstDash val="solid"/>
          </a:ln>
        </p:spPr>
        <p:txBody>
          <a:bodyPr/>
          <a:lstStyle/>
          <a:p>
            <a:endParaRPr lang="en-US"/>
          </a:p>
        </p:txBody>
      </p:sp>
      <p:sp>
        <p:nvSpPr>
          <p:cNvPr id="802" name="r"/>
          <p:cNvSpPr/>
          <p:nvPr/>
        </p:nvSpPr>
        <p:spPr>
          <a:xfrm>
            <a:off x="640080" y="2420000"/>
            <a:ext cx="5272888" cy="50000"/>
          </a:xfrm>
          <a:prstGeom prst="rect">
            <a:avLst/>
          </a:prstGeom>
          <a:solidFill>
            <a:srgbClr val="2563EB"/>
          </a:solidFill>
          <a:ln>
            <a:noFill/>
          </a:ln>
        </p:spPr>
        <p:txBody>
          <a:bodyPr/>
          <a:lstStyle/>
          <a:p>
            <a:endParaRPr lang="en-US"/>
          </a:p>
        </p:txBody>
      </p:sp>
      <p:sp>
        <p:nvSpPr>
          <p:cNvPr id="803" name="t"/>
          <p:cNvSpPr txBox="1"/>
          <p:nvPr/>
        </p:nvSpPr>
        <p:spPr>
          <a:xfrm>
            <a:off x="1000080" y="2580000"/>
            <a:ext cx="4500000" cy="240000"/>
          </a:xfrm>
          <a:prstGeom prst="rect">
            <a:avLst/>
          </a:prstGeom>
          <a:noFill/>
        </p:spPr>
        <p:txBody>
          <a:bodyPr wrap="square" lIns="0" tIns="0" rIns="0" bIns="0" rtlCol="0" anchor="t">
            <a:normAutofit/>
          </a:bodyPr>
          <a:lstStyle/>
          <a:p>
            <a:pPr algn="l">
              <a:buNone/>
            </a:pPr>
            <a:r>
              <a:rPr sz="1100" b="1">
                <a:solidFill>
                  <a:srgbClr val="2563EB"/>
                </a:solidFill>
                <a:latin typeface="Aptos"/>
              </a:rPr>
              <a:t>PLATEFORME · MENSUEL</a:t>
            </a:r>
          </a:p>
        </p:txBody>
      </p:sp>
      <p:sp>
        <p:nvSpPr>
          <p:cNvPr id="804" name="t"/>
          <p:cNvSpPr txBox="1"/>
          <p:nvPr/>
        </p:nvSpPr>
        <p:spPr>
          <a:xfrm>
            <a:off x="1000080" y="2820000"/>
            <a:ext cx="4541368" cy="470000"/>
          </a:xfrm>
          <a:prstGeom prst="rect">
            <a:avLst/>
          </a:prstGeom>
          <a:noFill/>
        </p:spPr>
        <p:txBody>
          <a:bodyPr wrap="square" lIns="0" tIns="0" rIns="0" bIns="0" rtlCol="0" anchor="t">
            <a:normAutofit/>
          </a:bodyPr>
          <a:lstStyle/>
          <a:p>
            <a:pPr algn="l">
              <a:buNone/>
            </a:pPr>
            <a:r>
              <a:rPr sz="2400" b="1">
                <a:solidFill>
                  <a:srgbClr val="0B1437"/>
                </a:solidFill>
                <a:latin typeface="Aptos Display"/>
              </a:rPr>
              <a:t>950 $ / mois</a:t>
            </a:r>
          </a:p>
        </p:txBody>
      </p:sp>
      <p:sp>
        <p:nvSpPr>
          <p:cNvPr id="805" name="t"/>
          <p:cNvSpPr txBox="1"/>
          <p:nvPr/>
        </p:nvSpPr>
        <p:spPr>
          <a:xfrm>
            <a:off x="1000080" y="3270000"/>
            <a:ext cx="4541368" cy="240000"/>
          </a:xfrm>
          <a:prstGeom prst="rect">
            <a:avLst/>
          </a:prstGeom>
          <a:noFill/>
        </p:spPr>
        <p:txBody>
          <a:bodyPr wrap="square" lIns="0" tIns="0" rIns="0" bIns="0" rtlCol="0" anchor="t">
            <a:normAutofit/>
          </a:bodyPr>
          <a:lstStyle/>
          <a:p>
            <a:pPr algn="l">
              <a:buNone/>
            </a:pPr>
            <a:r>
              <a:rPr sz="1100">
                <a:solidFill>
                  <a:srgbClr val="64748B"/>
                </a:solidFill>
                <a:latin typeface="Aptos"/>
              </a:rPr>
              <a:t>Commence lorsque l’accès au sandbox est accordé.</a:t>
            </a:r>
          </a:p>
        </p:txBody>
      </p:sp>
      <p:sp>
        <p:nvSpPr>
          <p:cNvPr id="806" name="r"/>
          <p:cNvSpPr/>
          <p:nvPr/>
        </p:nvSpPr>
        <p:spPr>
          <a:xfrm>
            <a:off x="6278728" y="2420000"/>
            <a:ext cx="5272888" cy="1000000"/>
          </a:xfrm>
          <a:prstGeom prst="rect">
            <a:avLst/>
          </a:prstGeom>
          <a:solidFill>
            <a:srgbClr val="F8FAFC"/>
          </a:solidFill>
          <a:ln w="9525">
            <a:solidFill>
              <a:srgbClr val="E2E8F0"/>
            </a:solidFill>
            <a:prstDash val="solid"/>
          </a:ln>
        </p:spPr>
        <p:txBody>
          <a:bodyPr/>
          <a:lstStyle/>
          <a:p>
            <a:endParaRPr lang="en-US"/>
          </a:p>
        </p:txBody>
      </p:sp>
      <p:sp>
        <p:nvSpPr>
          <p:cNvPr id="807" name="r"/>
          <p:cNvSpPr/>
          <p:nvPr/>
        </p:nvSpPr>
        <p:spPr>
          <a:xfrm>
            <a:off x="6278728" y="2420000"/>
            <a:ext cx="5272888" cy="50000"/>
          </a:xfrm>
          <a:prstGeom prst="rect">
            <a:avLst/>
          </a:prstGeom>
          <a:solidFill>
            <a:srgbClr val="2563EB"/>
          </a:solidFill>
          <a:ln>
            <a:noFill/>
          </a:ln>
        </p:spPr>
        <p:txBody>
          <a:bodyPr/>
          <a:lstStyle/>
          <a:p>
            <a:endParaRPr lang="en-US"/>
          </a:p>
        </p:txBody>
      </p:sp>
      <p:sp>
        <p:nvSpPr>
          <p:cNvPr id="808" name="t"/>
          <p:cNvSpPr txBox="1"/>
          <p:nvPr/>
        </p:nvSpPr>
        <p:spPr>
          <a:xfrm>
            <a:off x="6638728" y="2580000"/>
            <a:ext cx="4500000" cy="240000"/>
          </a:xfrm>
          <a:prstGeom prst="rect">
            <a:avLst/>
          </a:prstGeom>
          <a:noFill/>
        </p:spPr>
        <p:txBody>
          <a:bodyPr wrap="square" lIns="0" tIns="0" rIns="0" bIns="0" rtlCol="0" anchor="t">
            <a:normAutofit/>
          </a:bodyPr>
          <a:lstStyle/>
          <a:p>
            <a:pPr algn="l">
              <a:buNone/>
            </a:pPr>
            <a:r>
              <a:rPr sz="1100" b="1">
                <a:solidFill>
                  <a:srgbClr val="2563EB"/>
                </a:solidFill>
                <a:latin typeface="Aptos"/>
              </a:rPr>
              <a:t>VOLUME · PALIERS</a:t>
            </a:r>
          </a:p>
        </p:txBody>
      </p:sp>
      <p:sp>
        <p:nvSpPr>
          <p:cNvPr id="809" name="t"/>
          <p:cNvSpPr txBox="1"/>
          <p:nvPr/>
        </p:nvSpPr>
        <p:spPr>
          <a:xfrm>
            <a:off x="6638728" y="2820000"/>
            <a:ext cx="4541368" cy="470000"/>
          </a:xfrm>
          <a:prstGeom prst="rect">
            <a:avLst/>
          </a:prstGeom>
          <a:noFill/>
        </p:spPr>
        <p:txBody>
          <a:bodyPr wrap="square" lIns="0" tIns="0" rIns="0" bIns="0" rtlCol="0" anchor="t">
            <a:normAutofit/>
          </a:bodyPr>
          <a:lstStyle/>
          <a:p>
            <a:pPr algn="l">
              <a:buNone/>
            </a:pPr>
            <a:r>
              <a:rPr sz="2400" b="1">
                <a:solidFill>
                  <a:srgbClr val="0B1437"/>
                </a:solidFill>
                <a:latin typeface="Aptos Display"/>
              </a:rPr>
              <a:t>-10 % / -20 %</a:t>
            </a:r>
          </a:p>
        </p:txBody>
      </p:sp>
      <p:sp>
        <p:nvSpPr>
          <p:cNvPr id="810" name="t"/>
          <p:cNvSpPr txBox="1"/>
          <p:nvPr/>
        </p:nvSpPr>
        <p:spPr>
          <a:xfrm>
            <a:off x="6638728" y="3270000"/>
            <a:ext cx="4541368" cy="240000"/>
          </a:xfrm>
          <a:prstGeom prst="rect">
            <a:avLst/>
          </a:prstGeom>
          <a:noFill/>
        </p:spPr>
        <p:txBody>
          <a:bodyPr wrap="square" lIns="0" tIns="0" rIns="0" bIns="0" rtlCol="0" anchor="t">
            <a:normAutofit/>
          </a:bodyPr>
          <a:lstStyle/>
          <a:p>
            <a:pPr algn="l">
              <a:buNone/>
            </a:pPr>
            <a:r>
              <a:rPr sz="1100">
                <a:solidFill>
                  <a:srgbClr val="64748B"/>
                </a:solidFill>
                <a:latin typeface="Aptos"/>
              </a:rPr>
              <a:t>-10 % au-dessus de 10 k/mois, puis -10 % additionnel au-dessus de 50 k/mois.</a:t>
            </a:r>
          </a:p>
        </p:txBody>
      </p:sp>
      <p:sp>
        <p:nvSpPr>
          <p:cNvPr id="811" name="t"/>
          <p:cNvSpPr txBox="1"/>
          <p:nvPr/>
        </p:nvSpPr>
        <p:spPr>
          <a:xfrm>
            <a:off x="640080" y="3580000"/>
            <a:ext cx="8000000" cy="220000"/>
          </a:xfrm>
          <a:prstGeom prst="rect">
            <a:avLst/>
          </a:prstGeom>
          <a:noFill/>
        </p:spPr>
        <p:txBody>
          <a:bodyPr wrap="square" lIns="0" tIns="0" rIns="0" bIns="0" rtlCol="0" anchor="t">
            <a:normAutofit/>
          </a:bodyPr>
          <a:lstStyle/>
          <a:p>
            <a:pPr algn="l">
              <a:buNone/>
            </a:pPr>
            <a:r>
              <a:rPr sz="1100" b="1">
                <a:solidFill>
                  <a:srgbClr val="2563EB"/>
                </a:solidFill>
                <a:latin typeface="Aptos"/>
              </a:rPr>
              <a:t>PAR TRANSACTION</a:t>
            </a:r>
          </a:p>
        </p:txBody>
      </p:sp>
      <p:sp>
        <p:nvSpPr>
          <p:cNvPr id="812" name="t"/>
          <p:cNvSpPr txBox="1"/>
          <p:nvPr/>
        </p:nvSpPr>
        <p:spPr>
          <a:xfrm>
            <a:off x="640080" y="3840000"/>
            <a:ext cx="8500000" cy="240000"/>
          </a:xfrm>
          <a:prstGeom prst="rect">
            <a:avLst/>
          </a:prstGeom>
          <a:noFill/>
        </p:spPr>
        <p:txBody>
          <a:bodyPr wrap="square" lIns="0" tIns="0" rIns="0" bIns="0" rtlCol="0" anchor="t">
            <a:normAutofit/>
          </a:bodyPr>
          <a:lstStyle/>
          <a:p>
            <a:pPr algn="l">
              <a:buNone/>
            </a:pPr>
            <a:r>
              <a:rPr sz="1350" b="1">
                <a:solidFill>
                  <a:srgbClr val="0B1437"/>
                </a:solidFill>
                <a:latin typeface="Aptos Display"/>
              </a:rPr>
              <a:t>e-Transfer, demande et paiement</a:t>
            </a:r>
          </a:p>
        </p:txBody>
      </p:sp>
      <p:sp>
        <p:nvSpPr>
          <p:cNvPr id="813" name="t"/>
          <p:cNvSpPr txBox="1"/>
          <p:nvPr/>
        </p:nvSpPr>
        <p:spPr>
          <a:xfrm>
            <a:off x="640080" y="3840000"/>
            <a:ext cx="10911535" cy="240000"/>
          </a:xfrm>
          <a:prstGeom prst="rect">
            <a:avLst/>
          </a:prstGeom>
          <a:noFill/>
        </p:spPr>
        <p:txBody>
          <a:bodyPr wrap="square" lIns="0" tIns="0" rIns="0" bIns="0" rtlCol="0" anchor="t">
            <a:normAutofit/>
          </a:bodyPr>
          <a:lstStyle/>
          <a:p>
            <a:pPr algn="r">
              <a:buNone/>
            </a:pPr>
            <a:r>
              <a:rPr sz="1400" b="1">
                <a:solidFill>
                  <a:srgbClr val="2563EB"/>
                </a:solidFill>
                <a:latin typeface="Aptos Display"/>
              </a:rPr>
              <a:t>1,00 $ / txn</a:t>
            </a:r>
          </a:p>
        </p:txBody>
      </p:sp>
      <p:sp>
        <p:nvSpPr>
          <p:cNvPr id="814" name="r"/>
          <p:cNvSpPr/>
          <p:nvPr/>
        </p:nvSpPr>
        <p:spPr>
          <a:xfrm>
            <a:off x="640080" y="4095000"/>
            <a:ext cx="10911535" cy="9525"/>
          </a:xfrm>
          <a:prstGeom prst="rect">
            <a:avLst/>
          </a:prstGeom>
          <a:solidFill>
            <a:srgbClr val="E2E8F0"/>
          </a:solidFill>
          <a:ln>
            <a:noFill/>
          </a:ln>
        </p:spPr>
        <p:txBody>
          <a:bodyPr/>
          <a:lstStyle/>
          <a:p>
            <a:endParaRPr lang="en-US"/>
          </a:p>
        </p:txBody>
      </p:sp>
      <p:sp>
        <p:nvSpPr>
          <p:cNvPr id="815" name="t"/>
          <p:cNvSpPr txBox="1"/>
          <p:nvPr/>
        </p:nvSpPr>
        <p:spPr>
          <a:xfrm>
            <a:off x="640080" y="4190000"/>
            <a:ext cx="8500000" cy="240000"/>
          </a:xfrm>
          <a:prstGeom prst="rect">
            <a:avLst/>
          </a:prstGeom>
          <a:noFill/>
        </p:spPr>
        <p:txBody>
          <a:bodyPr wrap="square" lIns="0" tIns="0" rIns="0" bIns="0" rtlCol="0" anchor="t">
            <a:normAutofit/>
          </a:bodyPr>
          <a:lstStyle/>
          <a:p>
            <a:pPr algn="l">
              <a:buNone/>
            </a:pPr>
            <a:r>
              <a:rPr sz="1350" b="1">
                <a:solidFill>
                  <a:srgbClr val="0B1437"/>
                </a:solidFill>
                <a:latin typeface="Aptos Display"/>
              </a:rPr>
              <a:t>EFT, paiement fournisseur et paie</a:t>
            </a:r>
          </a:p>
        </p:txBody>
      </p:sp>
      <p:sp>
        <p:nvSpPr>
          <p:cNvPr id="816" name="t"/>
          <p:cNvSpPr txBox="1"/>
          <p:nvPr/>
        </p:nvSpPr>
        <p:spPr>
          <a:xfrm>
            <a:off x="640080" y="4190000"/>
            <a:ext cx="10911535" cy="240000"/>
          </a:xfrm>
          <a:prstGeom prst="rect">
            <a:avLst/>
          </a:prstGeom>
          <a:noFill/>
        </p:spPr>
        <p:txBody>
          <a:bodyPr wrap="square" lIns="0" tIns="0" rIns="0" bIns="0" rtlCol="0" anchor="t">
            <a:normAutofit/>
          </a:bodyPr>
          <a:lstStyle/>
          <a:p>
            <a:pPr algn="r">
              <a:buNone/>
            </a:pPr>
            <a:r>
              <a:rPr sz="1400" b="1">
                <a:solidFill>
                  <a:srgbClr val="2563EB"/>
                </a:solidFill>
                <a:latin typeface="Aptos Display"/>
              </a:rPr>
              <a:t>0,50 $ / txn</a:t>
            </a:r>
          </a:p>
        </p:txBody>
      </p:sp>
      <p:sp>
        <p:nvSpPr>
          <p:cNvPr id="817" name="r"/>
          <p:cNvSpPr/>
          <p:nvPr/>
        </p:nvSpPr>
        <p:spPr>
          <a:xfrm>
            <a:off x="640080" y="4445000"/>
            <a:ext cx="10911535" cy="9525"/>
          </a:xfrm>
          <a:prstGeom prst="rect">
            <a:avLst/>
          </a:prstGeom>
          <a:solidFill>
            <a:srgbClr val="E2E8F0"/>
          </a:solidFill>
          <a:ln>
            <a:noFill/>
          </a:ln>
        </p:spPr>
        <p:txBody>
          <a:bodyPr/>
          <a:lstStyle/>
          <a:p>
            <a:endParaRPr lang="en-US"/>
          </a:p>
        </p:txBody>
      </p:sp>
      <p:sp>
        <p:nvSpPr>
          <p:cNvPr id="818" name="t"/>
          <p:cNvSpPr txBox="1"/>
          <p:nvPr/>
        </p:nvSpPr>
        <p:spPr>
          <a:xfrm>
            <a:off x="640080" y="4620000"/>
            <a:ext cx="8000000" cy="220000"/>
          </a:xfrm>
          <a:prstGeom prst="rect">
            <a:avLst/>
          </a:prstGeom>
          <a:noFill/>
        </p:spPr>
        <p:txBody>
          <a:bodyPr wrap="square" lIns="0" tIns="0" rIns="0" bIns="0" rtlCol="0" anchor="t">
            <a:normAutofit/>
          </a:bodyPr>
          <a:lstStyle/>
          <a:p>
            <a:pPr algn="l">
              <a:buNone/>
            </a:pPr>
            <a:r>
              <a:rPr sz="1100" b="1">
                <a:solidFill>
                  <a:srgbClr val="2563EB"/>
                </a:solidFill>
                <a:latin typeface="Aptos"/>
              </a:rPr>
              <a:t>SERVICES À VALEUR AJOUTÉE</a:t>
            </a:r>
          </a:p>
        </p:txBody>
      </p:sp>
      <p:sp>
        <p:nvSpPr>
          <p:cNvPr id="819" name="t"/>
          <p:cNvSpPr txBox="1"/>
          <p:nvPr/>
        </p:nvSpPr>
        <p:spPr>
          <a:xfrm>
            <a:off x="640080" y="4880000"/>
            <a:ext cx="8500000" cy="240000"/>
          </a:xfrm>
          <a:prstGeom prst="rect">
            <a:avLst/>
          </a:prstGeom>
          <a:noFill/>
        </p:spPr>
        <p:txBody>
          <a:bodyPr wrap="square" lIns="0" tIns="0" rIns="0" bIns="0" rtlCol="0" anchor="t">
            <a:normAutofit/>
          </a:bodyPr>
          <a:lstStyle/>
          <a:p>
            <a:pPr algn="l">
              <a:buNone/>
            </a:pPr>
            <a:r>
              <a:rPr sz="1350" b="1">
                <a:solidFill>
                  <a:srgbClr val="0B1437"/>
                </a:solidFill>
                <a:latin typeface="Aptos Display"/>
              </a:rPr>
              <a:t>Vérification de compte, par nouveau compte</a:t>
            </a:r>
          </a:p>
        </p:txBody>
      </p:sp>
      <p:sp>
        <p:nvSpPr>
          <p:cNvPr id="820" name="t"/>
          <p:cNvSpPr txBox="1"/>
          <p:nvPr/>
        </p:nvSpPr>
        <p:spPr>
          <a:xfrm>
            <a:off x="640080" y="4880000"/>
            <a:ext cx="10911535" cy="240000"/>
          </a:xfrm>
          <a:prstGeom prst="rect">
            <a:avLst/>
          </a:prstGeom>
          <a:noFill/>
        </p:spPr>
        <p:txBody>
          <a:bodyPr wrap="square" lIns="0" tIns="0" rIns="0" bIns="0" rtlCol="0" anchor="t">
            <a:normAutofit/>
          </a:bodyPr>
          <a:lstStyle/>
          <a:p>
            <a:pPr algn="r">
              <a:buNone/>
            </a:pPr>
            <a:r>
              <a:rPr sz="1400" b="1">
                <a:solidFill>
                  <a:srgbClr val="2563EB"/>
                </a:solidFill>
                <a:latin typeface="Aptos Display"/>
              </a:rPr>
              <a:t>1,50 $ / compte</a:t>
            </a:r>
          </a:p>
        </p:txBody>
      </p:sp>
      <p:sp>
        <p:nvSpPr>
          <p:cNvPr id="821" name="r"/>
          <p:cNvSpPr/>
          <p:nvPr/>
        </p:nvSpPr>
        <p:spPr>
          <a:xfrm>
            <a:off x="640080" y="5135000"/>
            <a:ext cx="10911535" cy="9525"/>
          </a:xfrm>
          <a:prstGeom prst="rect">
            <a:avLst/>
          </a:prstGeom>
          <a:solidFill>
            <a:srgbClr val="E2E8F0"/>
          </a:solidFill>
          <a:ln>
            <a:noFill/>
          </a:ln>
        </p:spPr>
        <p:txBody>
          <a:bodyPr/>
          <a:lstStyle/>
          <a:p>
            <a:endParaRPr lang="en-US"/>
          </a:p>
        </p:txBody>
      </p:sp>
      <p:sp>
        <p:nvSpPr>
          <p:cNvPr id="825" name="t"/>
          <p:cNvSpPr txBox="1"/>
          <p:nvPr/>
        </p:nvSpPr>
        <p:spPr>
          <a:xfrm>
            <a:off x="640080" y="5230000"/>
            <a:ext cx="8500000" cy="240000"/>
          </a:xfrm>
          <a:prstGeom prst="rect">
            <a:avLst/>
          </a:prstGeom>
          <a:noFill/>
        </p:spPr>
        <p:txBody>
          <a:bodyPr wrap="square" lIns="0" tIns="0" rIns="0" bIns="0" rtlCol="0" anchor="t">
            <a:normAutofit/>
          </a:bodyPr>
          <a:lstStyle/>
          <a:p>
            <a:pPr algn="l">
              <a:buNone/>
            </a:pPr>
            <a:r>
              <a:rPr sz="1350" b="1">
                <a:solidFill>
                  <a:srgbClr val="0B1437"/>
                </a:solidFill>
                <a:latin typeface="Aptos Display"/>
              </a:rPr>
              <a:t>KYC, intégration et surveillance</a:t>
            </a:r>
          </a:p>
        </p:txBody>
      </p:sp>
      <p:sp>
        <p:nvSpPr>
          <p:cNvPr id="826" name="t"/>
          <p:cNvSpPr txBox="1"/>
          <p:nvPr/>
        </p:nvSpPr>
        <p:spPr>
          <a:xfrm>
            <a:off x="640080" y="5230000"/>
            <a:ext cx="10911535" cy="240000"/>
          </a:xfrm>
          <a:prstGeom prst="rect">
            <a:avLst/>
          </a:prstGeom>
          <a:noFill/>
        </p:spPr>
        <p:txBody>
          <a:bodyPr wrap="square" lIns="0" tIns="0" rIns="0" bIns="0" rtlCol="0" anchor="t">
            <a:normAutofit/>
          </a:bodyPr>
          <a:lstStyle/>
          <a:p>
            <a:pPr algn="r">
              <a:buNone/>
            </a:pPr>
            <a:r>
              <a:rPr sz="1400" b="1">
                <a:solidFill>
                  <a:srgbClr val="2563EB"/>
                </a:solidFill>
                <a:latin typeface="Aptos Display"/>
              </a:rPr>
              <a:t>À déterminer</a:t>
            </a:r>
          </a:p>
        </p:txBody>
      </p:sp>
      <p:sp>
        <p:nvSpPr>
          <p:cNvPr id="827" name="r"/>
          <p:cNvSpPr/>
          <p:nvPr/>
        </p:nvSpPr>
        <p:spPr>
          <a:xfrm>
            <a:off x="640080" y="5485000"/>
            <a:ext cx="10911535" cy="9525"/>
          </a:xfrm>
          <a:prstGeom prst="rect">
            <a:avLst/>
          </a:prstGeom>
          <a:solidFill>
            <a:srgbClr val="E2E8F0"/>
          </a:solidFill>
          <a:ln>
            <a:noFill/>
          </a:ln>
        </p:spPr>
        <p:txBody>
          <a:bodyPr/>
          <a:lstStyle/>
          <a:p>
            <a:endParaRPr lang="en-US"/>
          </a:p>
        </p:txBody>
      </p:sp>
      <p:sp>
        <p:nvSpPr>
          <p:cNvPr id="828" name="t"/>
          <p:cNvSpPr txBox="1"/>
          <p:nvPr/>
        </p:nvSpPr>
        <p:spPr>
          <a:xfrm>
            <a:off x="640080" y="5950000"/>
            <a:ext cx="10911535" cy="420000"/>
          </a:xfrm>
          <a:prstGeom prst="rect">
            <a:avLst/>
          </a:prstGeom>
          <a:noFill/>
        </p:spPr>
        <p:txBody>
          <a:bodyPr wrap="square" lIns="0" tIns="0" rIns="0" bIns="0" rtlCol="0" anchor="t">
            <a:normAutofit/>
          </a:bodyPr>
          <a:lstStyle/>
          <a:p>
            <a:pPr algn="l">
              <a:lnSpc>
                <a:spcPct val="112000"/>
              </a:lnSpc>
              <a:buNone/>
            </a:pPr>
            <a:r>
              <a:rPr sz="1000">
                <a:solidFill>
                  <a:srgbClr val="64748B"/>
                </a:solidFill>
                <a:latin typeface="Aptos"/>
              </a:rPr>
              <a:t>Tous les montants sont en CAD, pour le Canada domestique. Les frais de plateforme commencent lorsque l’accès au sandbox est accordé, puis sont facturés mensuellement en plus des frais de transaction et de service. Les tarifs par transaction diminuent de 10 % au-dessus de 10 k/mois et d’un autre 10 % au-dessus de 50 k/mois. La tarification KYC est établie selon le cas d’utilisation. Aucun frais de configuration ni d’intégration.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5486400" cy="256032"/>
          </a:xfrm>
          <a:prstGeom prst="rect">
            <a:avLst/>
          </a:prstGeom>
          <a:noFill/>
          <a:ln/>
        </p:spPr>
        <p:txBody>
          <a:bodyPr wrap="square" rtlCol="0" anchor="ctr">
            <a:normAutofit/>
          </a:bodyPr>
          <a:lstStyle/>
          <a:p>
            <a:pPr marL="0" indent="0">
              <a:buNone/>
            </a:pPr>
            <a:r>
              <a:rPr sz="1100" b="1">
                <a:solidFill>
                  <a:srgbClr val="2563EB"/>
                </a:solidFill>
                <a:latin typeface="JetBrains Mono"/>
              </a:rPr>
              <a:t>DREAM PAYMENTS</a:t>
            </a:r>
            <a:endParaRPr lang="en-US" sz="1100" dirty="0"/>
          </a:p>
        </p:txBody>
      </p:sp>
      <p:sp>
        <p:nvSpPr>
          <p:cNvPr id="3" name="Text 1"/>
          <p:cNvSpPr/>
          <p:nvPr/>
        </p:nvSpPr>
        <p:spPr>
          <a:xfrm>
            <a:off x="640080" y="749808"/>
            <a:ext cx="8229600" cy="237744"/>
          </a:xfrm>
          <a:prstGeom prst="rect">
            <a:avLst/>
          </a:prstGeom>
          <a:noFill/>
          <a:ln/>
        </p:spPr>
        <p:txBody>
          <a:bodyPr wrap="square" rtlCol="0" anchor="ctr">
            <a:normAutofit/>
          </a:bodyPr>
          <a:lstStyle/>
          <a:p>
            <a:pPr marL="0" indent="0">
              <a:buNone/>
            </a:pPr>
            <a:r>
              <a:rPr sz="950">
                <a:solidFill>
                  <a:srgbClr val="64748B"/>
                </a:solidFill>
                <a:latin typeface="JetBrains Mono"/>
              </a:rPr>
              <a:t>10 · CHEMIN VERS L’ACTIVATION</a:t>
            </a:r>
            <a:endParaRPr lang="en-US" sz="950" dirty="0"/>
          </a:p>
        </p:txBody>
      </p:sp>
      <p:sp>
        <p:nvSpPr>
          <p:cNvPr id="4" name="Shape 2"/>
          <p:cNvSpPr/>
          <p:nvPr/>
        </p:nvSpPr>
        <p:spPr>
          <a:xfrm>
            <a:off x="640080" y="1078992"/>
            <a:ext cx="10911535" cy="0"/>
          </a:xfrm>
          <a:prstGeom prst="line">
            <a:avLst/>
          </a:prstGeom>
          <a:noFill/>
          <a:ln w="12700">
            <a:solidFill>
              <a:srgbClr val="E6EBF2"/>
            </a:solidFill>
            <a:prstDash val="solid"/>
          </a:ln>
        </p:spPr>
        <p:txBody>
          <a:bodyPr/>
          <a:lstStyle/>
          <a:p>
            <a:endParaRPr lang="en-US"/>
          </a:p>
        </p:txBody>
      </p:sp>
      <p:sp>
        <p:nvSpPr>
          <p:cNvPr id="5" name="Text 3"/>
          <p:cNvSpPr/>
          <p:nvPr/>
        </p:nvSpPr>
        <p:spPr>
          <a:xfrm>
            <a:off x="640080" y="1298448"/>
            <a:ext cx="10911535" cy="566928"/>
          </a:xfrm>
          <a:prstGeom prst="rect">
            <a:avLst/>
          </a:prstGeom>
          <a:noFill/>
          <a:ln/>
        </p:spPr>
        <p:txBody>
          <a:bodyPr wrap="square" lIns="0" tIns="0" rIns="0" bIns="0" rtlCol="0" anchor="ctr">
            <a:normAutofit/>
          </a:bodyPr>
          <a:lstStyle/>
          <a:p>
            <a:pPr marL="0" indent="0">
              <a:buNone/>
            </a:pPr>
            <a:r>
              <a:rPr sz="2700" b="1">
                <a:solidFill>
                  <a:srgbClr val="0B1437"/>
                </a:solidFill>
                <a:latin typeface="Aptos Display"/>
              </a:rPr>
              <a:t>Un chemin clair vers l’activation.</a:t>
            </a:r>
            <a:endParaRPr lang="en-US" sz="2700" dirty="0"/>
          </a:p>
        </p:txBody>
      </p:sp>
      <p:sp>
        <p:nvSpPr>
          <p:cNvPr id="6" name="Text 4"/>
          <p:cNvSpPr/>
          <p:nvPr/>
        </p:nvSpPr>
        <p:spPr>
          <a:xfrm>
            <a:off x="640080" y="1874520"/>
            <a:ext cx="10728655" cy="680000"/>
          </a:xfrm>
          <a:prstGeom prst="rect">
            <a:avLst/>
          </a:prstGeom>
          <a:noFill/>
          <a:ln/>
        </p:spPr>
        <p:txBody>
          <a:bodyPr wrap="square" lIns="0" tIns="0" rIns="0" bIns="0" anchor="t">
            <a:normAutofit/>
          </a:bodyPr>
          <a:lstStyle/>
          <a:p>
            <a:pPr algn="l">
              <a:lnSpc>
                <a:spcPct val="108000"/>
              </a:lnSpc>
              <a:buNone/>
            </a:pPr>
            <a:r>
              <a:rPr sz="1200">
                <a:solidFill>
                  <a:srgbClr val="64748B"/>
                </a:solidFill>
                <a:latin typeface="Aptos"/>
              </a:rPr>
              <a:t>Un parcours clair en trois étapes, d’une entente signée à une plateforme en production et évolutive : conditions commerciales et accès au sandbox, puis développement et QA, puis lancement et montée en charge. Chaque étape a un responsable et un résultat définis, afin que 60 Seconds puisse passer de la décision au premier paiement réel en quelques semaines.</a:t>
            </a:r>
          </a:p>
        </p:txBody>
      </p:sp>
      <p:sp>
        <p:nvSpPr>
          <p:cNvPr id="7" name="Shape 5"/>
          <p:cNvSpPr/>
          <p:nvPr/>
        </p:nvSpPr>
        <p:spPr>
          <a:xfrm>
            <a:off x="640080" y="2606040"/>
            <a:ext cx="3454298" cy="2743200"/>
          </a:xfrm>
          <a:prstGeom prst="roundRect">
            <a:avLst>
              <a:gd name="adj" fmla="val 2175"/>
            </a:avLst>
          </a:prstGeom>
          <a:solidFill>
            <a:srgbClr val="F6F8FC"/>
          </a:solidFill>
          <a:ln w="12700">
            <a:solidFill>
              <a:srgbClr val="E6EBF2"/>
            </a:solidFill>
            <a:prstDash val="solid"/>
          </a:ln>
          <a:effectLst>
            <a:outerShdw blurRad="127000" dist="38100" dir="5400000" algn="bl" rotWithShape="0">
              <a:srgbClr val="1E2A52">
                <a:alpha val="13000"/>
              </a:srgbClr>
            </a:outerShdw>
          </a:effectLst>
        </p:spPr>
        <p:txBody>
          <a:bodyPr/>
          <a:lstStyle/>
          <a:p>
            <a:endParaRPr lang="en-US"/>
          </a:p>
        </p:txBody>
      </p:sp>
      <p:sp>
        <p:nvSpPr>
          <p:cNvPr id="8" name="Shape 6"/>
          <p:cNvSpPr/>
          <p:nvPr/>
        </p:nvSpPr>
        <p:spPr>
          <a:xfrm>
            <a:off x="676656" y="2596896"/>
            <a:ext cx="3381146" cy="64008"/>
          </a:xfrm>
          <a:prstGeom prst="roundRect">
            <a:avLst>
              <a:gd name="adj" fmla="val 28571"/>
            </a:avLst>
          </a:prstGeom>
          <a:solidFill>
            <a:srgbClr val="2563EB"/>
          </a:solidFill>
          <a:ln/>
        </p:spPr>
        <p:txBody>
          <a:bodyPr/>
          <a:lstStyle/>
          <a:p>
            <a:endParaRPr lang="en-US"/>
          </a:p>
        </p:txBody>
      </p:sp>
      <p:sp>
        <p:nvSpPr>
          <p:cNvPr id="9" name="Text 7"/>
          <p:cNvSpPr/>
          <p:nvPr/>
        </p:nvSpPr>
        <p:spPr>
          <a:xfrm>
            <a:off x="914400" y="2880360"/>
            <a:ext cx="1097280" cy="457200"/>
          </a:xfrm>
          <a:prstGeom prst="rect">
            <a:avLst/>
          </a:prstGeom>
          <a:noFill/>
          <a:ln/>
        </p:spPr>
        <p:txBody>
          <a:bodyPr wrap="square" lIns="0" tIns="0" rIns="0" bIns="0" rtlCol="0" anchor="ctr">
            <a:normAutofit/>
          </a:bodyPr>
          <a:lstStyle/>
          <a:p>
            <a:pPr marL="0" indent="0">
              <a:buNone/>
            </a:pPr>
            <a:r>
              <a:rPr sz="2600" b="1">
                <a:solidFill>
                  <a:srgbClr val="2563EB"/>
                </a:solidFill>
                <a:latin typeface="Aptos Display"/>
              </a:rPr>
              <a:t>01</a:t>
            </a:r>
            <a:endParaRPr lang="en-US" sz="2600" dirty="0"/>
          </a:p>
        </p:txBody>
      </p:sp>
      <p:sp>
        <p:nvSpPr>
          <p:cNvPr id="10" name="Text 8"/>
          <p:cNvSpPr/>
          <p:nvPr/>
        </p:nvSpPr>
        <p:spPr>
          <a:xfrm>
            <a:off x="914400" y="3447288"/>
            <a:ext cx="2905658" cy="237744"/>
          </a:xfrm>
          <a:prstGeom prst="rect">
            <a:avLst/>
          </a:prstGeom>
          <a:noFill/>
          <a:ln/>
        </p:spPr>
        <p:txBody>
          <a:bodyPr wrap="square" rtlCol="0" anchor="ctr">
            <a:normAutofit/>
          </a:bodyPr>
          <a:lstStyle/>
          <a:p>
            <a:pPr marL="0" indent="0">
              <a:buNone/>
            </a:pPr>
            <a:r>
              <a:rPr sz="850" b="1">
                <a:solidFill>
                  <a:srgbClr val="64748B"/>
                </a:solidFill>
                <a:latin typeface="JetBrains Mono"/>
              </a:rPr>
              <a:t>COMMERCIAL</a:t>
            </a:r>
            <a:endParaRPr lang="en-US" sz="850" dirty="0"/>
          </a:p>
        </p:txBody>
      </p:sp>
      <p:sp>
        <p:nvSpPr>
          <p:cNvPr id="11" name="Text 9"/>
          <p:cNvSpPr/>
          <p:nvPr/>
        </p:nvSpPr>
        <p:spPr>
          <a:xfrm>
            <a:off x="914400" y="3685032"/>
            <a:ext cx="2905658" cy="502920"/>
          </a:xfrm>
          <a:prstGeom prst="rect">
            <a:avLst/>
          </a:prstGeom>
          <a:noFill/>
          <a:ln/>
        </p:spPr>
        <p:txBody>
          <a:bodyPr wrap="square" lIns="0" tIns="0" rIns="0" bIns="0" rtlCol="0" anchor="t">
            <a:normAutofit/>
          </a:bodyPr>
          <a:lstStyle/>
          <a:p>
            <a:pPr marL="0" indent="0">
              <a:lnSpc>
                <a:spcPts val="1700"/>
              </a:lnSpc>
              <a:buNone/>
            </a:pPr>
            <a:r>
              <a:rPr sz="1500" b="1">
                <a:solidFill>
                  <a:srgbClr val="0B1437"/>
                </a:solidFill>
                <a:latin typeface="Aptos Display"/>
              </a:rPr>
              <a:t>Entente et annonce</a:t>
            </a:r>
            <a:endParaRPr lang="en-US" sz="1500" dirty="0"/>
          </a:p>
        </p:txBody>
      </p:sp>
      <p:sp>
        <p:nvSpPr>
          <p:cNvPr id="12" name="Text 10"/>
          <p:cNvSpPr/>
          <p:nvPr/>
        </p:nvSpPr>
        <p:spPr>
          <a:xfrm>
            <a:off x="914400" y="4233672"/>
            <a:ext cx="2905658" cy="1005840"/>
          </a:xfrm>
          <a:prstGeom prst="rect">
            <a:avLst/>
          </a:prstGeom>
          <a:noFill/>
          <a:ln/>
        </p:spPr>
        <p:txBody>
          <a:bodyPr wrap="square" lIns="0" tIns="0" rIns="0" bIns="0" rtlCol="0" anchor="t">
            <a:normAutofit/>
          </a:bodyPr>
          <a:lstStyle/>
          <a:p>
            <a:pPr marL="0" indent="0">
              <a:lnSpc>
                <a:spcPts val="1500"/>
              </a:lnSpc>
              <a:buNone/>
            </a:pPr>
            <a:r>
              <a:rPr sz="1100">
                <a:solidFill>
                  <a:srgbClr val="64748B"/>
                </a:solidFill>
                <a:latin typeface="Aptos"/>
              </a:rPr>
              <a:t>Finaliser les conditions commerciales et accorder l’accès au sandbox pour commencer le développement.</a:t>
            </a:r>
            <a:endParaRPr lang="en-US" sz="1100" dirty="0"/>
          </a:p>
        </p:txBody>
      </p:sp>
      <p:sp>
        <p:nvSpPr>
          <p:cNvPr id="13" name="Shape 11"/>
          <p:cNvSpPr/>
          <p:nvPr/>
        </p:nvSpPr>
        <p:spPr>
          <a:xfrm>
            <a:off x="4368698" y="2606040"/>
            <a:ext cx="3454298" cy="2743200"/>
          </a:xfrm>
          <a:prstGeom prst="roundRect">
            <a:avLst>
              <a:gd name="adj" fmla="val 2175"/>
            </a:avLst>
          </a:prstGeom>
          <a:solidFill>
            <a:srgbClr val="F6F8FC"/>
          </a:solidFill>
          <a:ln w="12700">
            <a:solidFill>
              <a:srgbClr val="E6EBF2"/>
            </a:solidFill>
            <a:prstDash val="solid"/>
          </a:ln>
          <a:effectLst>
            <a:outerShdw blurRad="127000" dist="38100" dir="5400000" algn="bl" rotWithShape="0">
              <a:srgbClr val="1E2A52">
                <a:alpha val="13000"/>
              </a:srgbClr>
            </a:outerShdw>
          </a:effectLst>
        </p:spPr>
        <p:txBody>
          <a:bodyPr/>
          <a:lstStyle/>
          <a:p>
            <a:endParaRPr lang="en-US"/>
          </a:p>
        </p:txBody>
      </p:sp>
      <p:sp>
        <p:nvSpPr>
          <p:cNvPr id="14" name="Shape 12"/>
          <p:cNvSpPr/>
          <p:nvPr/>
        </p:nvSpPr>
        <p:spPr>
          <a:xfrm>
            <a:off x="4405274" y="2596896"/>
            <a:ext cx="3381146" cy="64008"/>
          </a:xfrm>
          <a:prstGeom prst="roundRect">
            <a:avLst>
              <a:gd name="adj" fmla="val 28571"/>
            </a:avLst>
          </a:prstGeom>
          <a:solidFill>
            <a:srgbClr val="7C5CFF"/>
          </a:solidFill>
          <a:ln/>
        </p:spPr>
        <p:txBody>
          <a:bodyPr/>
          <a:lstStyle/>
          <a:p>
            <a:endParaRPr lang="en-US"/>
          </a:p>
        </p:txBody>
      </p:sp>
      <p:sp>
        <p:nvSpPr>
          <p:cNvPr id="15" name="Text 13"/>
          <p:cNvSpPr/>
          <p:nvPr/>
        </p:nvSpPr>
        <p:spPr>
          <a:xfrm>
            <a:off x="4643018" y="2880360"/>
            <a:ext cx="1097280" cy="457200"/>
          </a:xfrm>
          <a:prstGeom prst="rect">
            <a:avLst/>
          </a:prstGeom>
          <a:noFill/>
          <a:ln/>
        </p:spPr>
        <p:txBody>
          <a:bodyPr wrap="square" lIns="0" tIns="0" rIns="0" bIns="0" rtlCol="0" anchor="ctr">
            <a:normAutofit/>
          </a:bodyPr>
          <a:lstStyle/>
          <a:p>
            <a:pPr marL="0" indent="0">
              <a:buNone/>
            </a:pPr>
            <a:r>
              <a:rPr sz="2600" b="1">
                <a:solidFill>
                  <a:srgbClr val="7C5CFF"/>
                </a:solidFill>
                <a:latin typeface="Aptos Display"/>
              </a:rPr>
              <a:t>02</a:t>
            </a:r>
            <a:endParaRPr lang="en-US" sz="2600" dirty="0"/>
          </a:p>
        </p:txBody>
      </p:sp>
      <p:sp>
        <p:nvSpPr>
          <p:cNvPr id="16" name="Text 14"/>
          <p:cNvSpPr/>
          <p:nvPr/>
        </p:nvSpPr>
        <p:spPr>
          <a:xfrm>
            <a:off x="4643018" y="3447288"/>
            <a:ext cx="2905658" cy="237744"/>
          </a:xfrm>
          <a:prstGeom prst="rect">
            <a:avLst/>
          </a:prstGeom>
          <a:noFill/>
          <a:ln/>
        </p:spPr>
        <p:txBody>
          <a:bodyPr wrap="square" rtlCol="0" anchor="ctr">
            <a:normAutofit/>
          </a:bodyPr>
          <a:lstStyle/>
          <a:p>
            <a:pPr marL="0" indent="0">
              <a:buNone/>
            </a:pPr>
            <a:r>
              <a:rPr sz="850" b="1">
                <a:solidFill>
                  <a:srgbClr val="64748B"/>
                </a:solidFill>
                <a:latin typeface="JetBrains Mono"/>
              </a:rPr>
              <a:t>DÉVELOPPEMENT</a:t>
            </a:r>
            <a:endParaRPr lang="en-US" sz="850" dirty="0"/>
          </a:p>
        </p:txBody>
      </p:sp>
      <p:sp>
        <p:nvSpPr>
          <p:cNvPr id="17" name="Text 15"/>
          <p:cNvSpPr/>
          <p:nvPr/>
        </p:nvSpPr>
        <p:spPr>
          <a:xfrm>
            <a:off x="4643018" y="3685032"/>
            <a:ext cx="2905658" cy="502920"/>
          </a:xfrm>
          <a:prstGeom prst="rect">
            <a:avLst/>
          </a:prstGeom>
          <a:noFill/>
          <a:ln/>
        </p:spPr>
        <p:txBody>
          <a:bodyPr wrap="square" lIns="0" tIns="0" rIns="0" bIns="0" rtlCol="0" anchor="t">
            <a:normAutofit/>
          </a:bodyPr>
          <a:lstStyle/>
          <a:p>
            <a:pPr marL="0" indent="0">
              <a:lnSpc>
                <a:spcPts val="1700"/>
              </a:lnSpc>
              <a:buNone/>
            </a:pPr>
            <a:r>
              <a:rPr sz="1500" b="1">
                <a:solidFill>
                  <a:srgbClr val="0B1437"/>
                </a:solidFill>
                <a:latin typeface="Aptos Display"/>
              </a:rPr>
              <a:t>Implémentation et QA</a:t>
            </a:r>
            <a:endParaRPr lang="en-US" sz="1500" dirty="0"/>
          </a:p>
        </p:txBody>
      </p:sp>
      <p:sp>
        <p:nvSpPr>
          <p:cNvPr id="18" name="Text 16"/>
          <p:cNvSpPr/>
          <p:nvPr/>
        </p:nvSpPr>
        <p:spPr>
          <a:xfrm>
            <a:off x="4643018" y="4233672"/>
            <a:ext cx="2905658" cy="1005840"/>
          </a:xfrm>
          <a:prstGeom prst="rect">
            <a:avLst/>
          </a:prstGeom>
          <a:noFill/>
          <a:ln/>
        </p:spPr>
        <p:txBody>
          <a:bodyPr wrap="square" lIns="0" tIns="0" rIns="0" bIns="0" rtlCol="0" anchor="t">
            <a:normAutofit/>
          </a:bodyPr>
          <a:lstStyle/>
          <a:p>
            <a:pPr marL="0" indent="0">
              <a:lnSpc>
                <a:spcPts val="1500"/>
              </a:lnSpc>
              <a:buNone/>
            </a:pPr>
            <a:r>
              <a:rPr sz="1100">
                <a:solidFill>
                  <a:srgbClr val="64748B"/>
                </a:solidFill>
                <a:latin typeface="Aptos"/>
              </a:rPr>
              <a:t>Intégrer les API COLLECT et SETTLE, configurer le portail opérationnel et effectuer la QA et la certification de bout en bout.</a:t>
            </a:r>
            <a:endParaRPr lang="en-US" sz="1100" dirty="0"/>
          </a:p>
        </p:txBody>
      </p:sp>
      <p:sp>
        <p:nvSpPr>
          <p:cNvPr id="19" name="Shape 17"/>
          <p:cNvSpPr/>
          <p:nvPr/>
        </p:nvSpPr>
        <p:spPr>
          <a:xfrm>
            <a:off x="8097316" y="2606040"/>
            <a:ext cx="3454298" cy="2743200"/>
          </a:xfrm>
          <a:prstGeom prst="roundRect">
            <a:avLst>
              <a:gd name="adj" fmla="val 2175"/>
            </a:avLst>
          </a:prstGeom>
          <a:solidFill>
            <a:srgbClr val="F6F8FC"/>
          </a:solidFill>
          <a:ln w="12700">
            <a:solidFill>
              <a:srgbClr val="E6EBF2"/>
            </a:solidFill>
            <a:prstDash val="solid"/>
          </a:ln>
          <a:effectLst>
            <a:outerShdw blurRad="127000" dist="38100" dir="5400000" algn="bl" rotWithShape="0">
              <a:srgbClr val="1E2A52">
                <a:alpha val="13000"/>
              </a:srgbClr>
            </a:outerShdw>
          </a:effectLst>
        </p:spPr>
        <p:txBody>
          <a:bodyPr/>
          <a:lstStyle/>
          <a:p>
            <a:endParaRPr lang="en-US"/>
          </a:p>
        </p:txBody>
      </p:sp>
      <p:sp>
        <p:nvSpPr>
          <p:cNvPr id="20" name="Shape 18"/>
          <p:cNvSpPr/>
          <p:nvPr/>
        </p:nvSpPr>
        <p:spPr>
          <a:xfrm>
            <a:off x="8133892" y="2596896"/>
            <a:ext cx="3381146" cy="64008"/>
          </a:xfrm>
          <a:prstGeom prst="roundRect">
            <a:avLst>
              <a:gd name="adj" fmla="val 28571"/>
            </a:avLst>
          </a:prstGeom>
          <a:solidFill>
            <a:srgbClr val="2563EB"/>
          </a:solidFill>
          <a:ln/>
        </p:spPr>
        <p:txBody>
          <a:bodyPr/>
          <a:lstStyle/>
          <a:p>
            <a:endParaRPr lang="en-US"/>
          </a:p>
        </p:txBody>
      </p:sp>
      <p:sp>
        <p:nvSpPr>
          <p:cNvPr id="21" name="Text 19"/>
          <p:cNvSpPr/>
          <p:nvPr/>
        </p:nvSpPr>
        <p:spPr>
          <a:xfrm>
            <a:off x="8371636" y="2880360"/>
            <a:ext cx="1097280" cy="457200"/>
          </a:xfrm>
          <a:prstGeom prst="rect">
            <a:avLst/>
          </a:prstGeom>
          <a:noFill/>
          <a:ln/>
        </p:spPr>
        <p:txBody>
          <a:bodyPr wrap="square" lIns="0" tIns="0" rIns="0" bIns="0" rtlCol="0" anchor="ctr">
            <a:normAutofit/>
          </a:bodyPr>
          <a:lstStyle/>
          <a:p>
            <a:pPr marL="0" indent="0">
              <a:buNone/>
            </a:pPr>
            <a:r>
              <a:rPr sz="2600" b="1">
                <a:solidFill>
                  <a:srgbClr val="2563EB"/>
                </a:solidFill>
                <a:latin typeface="Aptos Display"/>
              </a:rPr>
              <a:t>03</a:t>
            </a:r>
            <a:endParaRPr lang="en-US" sz="2600" dirty="0"/>
          </a:p>
        </p:txBody>
      </p:sp>
      <p:sp>
        <p:nvSpPr>
          <p:cNvPr id="22" name="Text 20"/>
          <p:cNvSpPr/>
          <p:nvPr/>
        </p:nvSpPr>
        <p:spPr>
          <a:xfrm>
            <a:off x="8371636" y="3447288"/>
            <a:ext cx="2905658" cy="237744"/>
          </a:xfrm>
          <a:prstGeom prst="rect">
            <a:avLst/>
          </a:prstGeom>
          <a:noFill/>
          <a:ln/>
        </p:spPr>
        <p:txBody>
          <a:bodyPr wrap="square" rtlCol="0" anchor="ctr">
            <a:normAutofit/>
          </a:bodyPr>
          <a:lstStyle/>
          <a:p>
            <a:pPr marL="0" indent="0">
              <a:buNone/>
            </a:pPr>
            <a:r>
              <a:rPr sz="850" b="1">
                <a:solidFill>
                  <a:srgbClr val="64748B"/>
                </a:solidFill>
                <a:latin typeface="JetBrains Mono"/>
              </a:rPr>
              <a:t>MISE EN SERVICE</a:t>
            </a:r>
            <a:endParaRPr lang="en-US" sz="850" dirty="0"/>
          </a:p>
        </p:txBody>
      </p:sp>
      <p:sp>
        <p:nvSpPr>
          <p:cNvPr id="23" name="Text 21"/>
          <p:cNvSpPr/>
          <p:nvPr/>
        </p:nvSpPr>
        <p:spPr>
          <a:xfrm>
            <a:off x="8371636" y="3685032"/>
            <a:ext cx="2905658" cy="502920"/>
          </a:xfrm>
          <a:prstGeom prst="rect">
            <a:avLst/>
          </a:prstGeom>
          <a:noFill/>
          <a:ln/>
        </p:spPr>
        <p:txBody>
          <a:bodyPr wrap="square" lIns="0" tIns="0" rIns="0" bIns="0" rtlCol="0" anchor="t">
            <a:normAutofit/>
          </a:bodyPr>
          <a:lstStyle/>
          <a:p>
            <a:pPr marL="0" indent="0">
              <a:lnSpc>
                <a:spcPts val="1700"/>
              </a:lnSpc>
              <a:buNone/>
            </a:pPr>
            <a:r>
              <a:rPr sz="1500" b="1">
                <a:solidFill>
                  <a:srgbClr val="0B1437"/>
                </a:solidFill>
                <a:latin typeface="Aptos Display"/>
              </a:rPr>
              <a:t>Lancer et monter en charge</a:t>
            </a:r>
            <a:endParaRPr lang="en-US" sz="1500" dirty="0"/>
          </a:p>
        </p:txBody>
      </p:sp>
      <p:sp>
        <p:nvSpPr>
          <p:cNvPr id="24" name="Text 22"/>
          <p:cNvSpPr/>
          <p:nvPr/>
        </p:nvSpPr>
        <p:spPr>
          <a:xfrm>
            <a:off x="8371636" y="4233672"/>
            <a:ext cx="2905658" cy="1005840"/>
          </a:xfrm>
          <a:prstGeom prst="rect">
            <a:avLst/>
          </a:prstGeom>
          <a:noFill/>
          <a:ln/>
        </p:spPr>
        <p:txBody>
          <a:bodyPr wrap="square" lIns="0" tIns="0" rIns="0" bIns="0" rtlCol="0" anchor="t">
            <a:normAutofit/>
          </a:bodyPr>
          <a:lstStyle/>
          <a:p>
            <a:pPr marL="0" indent="0">
              <a:lnSpc>
                <a:spcPts val="1500"/>
              </a:lnSpc>
              <a:buNone/>
            </a:pPr>
            <a:r>
              <a:rPr sz="1100">
                <a:solidFill>
                  <a:srgbClr val="64748B"/>
                </a:solidFill>
                <a:latin typeface="Aptos"/>
              </a:rPr>
              <a:t>Mettre en service les paiements fournisseurs d’ici la fin de 2026, puis ajouter les services de paie environ six mois plus tard à mesure que le volume augmente.</a:t>
            </a:r>
            <a:endParaRPr lang="en-US" sz="1100" dirty="0"/>
          </a:p>
        </p:txBody>
      </p:sp>
      <p:sp>
        <p:nvSpPr>
          <p:cNvPr id="31" name="Text 29"/>
          <p:cNvSpPr/>
          <p:nvPr/>
        </p:nvSpPr>
        <p:spPr>
          <a:xfrm>
            <a:off x="640080" y="6455664"/>
            <a:ext cx="9144000" cy="274320"/>
          </a:xfrm>
          <a:prstGeom prst="rect">
            <a:avLst/>
          </a:prstGeom>
          <a:noFill/>
          <a:ln/>
        </p:spPr>
        <p:txBody>
          <a:bodyPr wrap="square" rtlCol="0" anchor="ctr">
            <a:normAutofit/>
          </a:bodyPr>
          <a:lstStyle/>
          <a:p>
            <a:pPr marL="0" indent="0">
              <a:buNone/>
            </a:pPr>
            <a:r>
              <a:rPr sz="750">
                <a:solidFill>
                  <a:srgbClr val="94A3B8"/>
                </a:solidFill>
                <a:latin typeface="JetBrains Mono"/>
              </a:rPr>
              <a:t>DREAM PAYMENTS  ·  HUB DE PAIEMENTS D’AFFAIRES  ·  PROPOSITION COMMERCIALE</a:t>
            </a:r>
            <a:endParaRPr lang="en-US" sz="750" dirty="0"/>
          </a:p>
        </p:txBody>
      </p:sp>
      <p:sp>
        <p:nvSpPr>
          <p:cNvPr id="32" name="Text 30"/>
          <p:cNvSpPr/>
          <p:nvPr/>
        </p:nvSpPr>
        <p:spPr>
          <a:xfrm>
            <a:off x="10637215" y="6455664"/>
            <a:ext cx="914400" cy="274320"/>
          </a:xfrm>
          <a:prstGeom prst="rect">
            <a:avLst/>
          </a:prstGeom>
          <a:noFill/>
          <a:ln/>
        </p:spPr>
        <p:txBody>
          <a:bodyPr wrap="square" rtlCol="0" anchor="ctr">
            <a:normAutofit/>
          </a:bodyPr>
          <a:lstStyle/>
          <a:p>
            <a:pPr marL="0" indent="0" algn="r">
              <a:buNone/>
            </a:pPr>
            <a:r>
              <a:rPr sz="800" b="1">
                <a:solidFill>
                  <a:srgbClr val="2563EB"/>
                </a:solidFill>
                <a:latin typeface="JetBrains Mono"/>
              </a:rPr>
              <a:t>16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211</TotalTime>
  <Words>1809</Words>
  <Application>Microsoft Macintosh PowerPoint</Application>
  <PresentationFormat>Widescreen</PresentationFormat>
  <Paragraphs>262</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JetBrains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Dream Payments - 60 Seconds - Proposition commerciale - Juin 2026</dc:title>
  <dc:subject>Proposition commerciale en français</dc:subject>
  <dc:creator>Dream Payments</dc:creator>
  <cp:lastModifiedBy>Jonathan Racine</cp:lastModifiedBy>
  <cp:revision>9</cp:revision>
  <dcterms:created xsi:type="dcterms:W3CDTF">2026-06-10T11:01:43Z</dcterms:created>
  <dcterms:modified xsi:type="dcterms:W3CDTF">2026-06-20T00:41:23Z</dcterms:modified>
</cp:coreProperties>
</file>