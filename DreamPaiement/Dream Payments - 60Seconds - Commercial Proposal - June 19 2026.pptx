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9" r:id="rId12"/>
    <p:sldId id="270" r:id="rId13"/>
    <p:sldId id="271"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45"/>
    <p:restoredTop sz="94610"/>
  </p:normalViewPr>
  <p:slideViewPr>
    <p:cSldViewPr snapToGrid="0" snapToObjects="1">
      <p:cViewPr varScale="1">
        <p:scale>
          <a:sx n="127" d="100"/>
          <a:sy n="127" d="100"/>
        </p:scale>
        <p:origin x="2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4101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28.png"/><Relationship Id="rId3" Type="http://schemas.openxmlformats.org/officeDocument/2006/relationships/image" Target="../media/image21.png"/><Relationship Id="rId7" Type="http://schemas.openxmlformats.org/officeDocument/2006/relationships/image" Target="../media/image14.png"/><Relationship Id="rId12"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6.png"/><Relationship Id="rId5" Type="http://schemas.openxmlformats.org/officeDocument/2006/relationships/image" Target="../media/image22.png"/><Relationship Id="rId10" Type="http://schemas.openxmlformats.org/officeDocument/2006/relationships/image" Target="../media/image25.png"/><Relationship Id="rId4" Type="http://schemas.openxmlformats.org/officeDocument/2006/relationships/image" Target="../media/image12.png"/><Relationship Id="rId9" Type="http://schemas.openxmlformats.org/officeDocument/2006/relationships/image" Target="../media/image24.png"/><Relationship Id="rId1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48640"/>
            <a:ext cx="5486400" cy="274320"/>
          </a:xfrm>
          <a:prstGeom prst="rect">
            <a:avLst/>
          </a:prstGeom>
          <a:noFill/>
          <a:ln/>
        </p:spPr>
        <p:txBody>
          <a:bodyPr wrap="square" rtlCol="0" anchor="ctr"/>
          <a:lstStyle/>
          <a:p>
            <a:pPr marL="0" indent="0">
              <a:buNone/>
            </a:pPr>
            <a:r>
              <a:rPr lang="en-US" sz="1200" b="1" kern="0" spc="300" dirty="0">
                <a:solidFill>
                  <a:srgbClr val="0B1437"/>
                </a:solidFill>
                <a:latin typeface="JetBrains Mono" pitchFamily="34" charset="0"/>
                <a:ea typeface="JetBrains Mono" pitchFamily="34" charset="-122"/>
                <a:cs typeface="JetBrains Mono" pitchFamily="34" charset="-120"/>
              </a:rPr>
              <a:t>DREAM PAYMENTS</a:t>
            </a:r>
            <a:endParaRPr lang="en-US" sz="1200" dirty="0"/>
          </a:p>
        </p:txBody>
      </p:sp>
      <p:sp>
        <p:nvSpPr>
          <p:cNvPr id="3" name="Shape 1"/>
          <p:cNvSpPr/>
          <p:nvPr/>
        </p:nvSpPr>
        <p:spPr>
          <a:xfrm>
            <a:off x="640080" y="1234440"/>
            <a:ext cx="4572000" cy="502920"/>
          </a:xfrm>
          <a:prstGeom prst="roundRect">
            <a:avLst>
              <a:gd name="adj" fmla="val 50909"/>
            </a:avLst>
          </a:prstGeom>
          <a:solidFill>
            <a:srgbClr val="FFFFFF"/>
          </a:solidFill>
          <a:ln w="15875">
            <a:solidFill>
              <a:srgbClr val="D9D4F7"/>
            </a:solidFill>
            <a:prstDash val="solid"/>
          </a:ln>
          <a:effectLst>
            <a:outerShdw blurRad="127000" dist="38100" dir="5400000" algn="bl" rotWithShape="0">
              <a:srgbClr val="1E2A52">
                <a:alpha val="13000"/>
              </a:srgbClr>
            </a:outerShdw>
          </a:effectLst>
        </p:spPr>
        <p:txBody>
          <a:bodyPr/>
          <a:lstStyle/>
          <a:p>
            <a:endParaRPr lang="en-US"/>
          </a:p>
        </p:txBody>
      </p:sp>
      <p:sp>
        <p:nvSpPr>
          <p:cNvPr id="4" name="Shape 2"/>
          <p:cNvSpPr/>
          <p:nvPr/>
        </p:nvSpPr>
        <p:spPr>
          <a:xfrm>
            <a:off x="804672" y="1344168"/>
            <a:ext cx="868680" cy="283464"/>
          </a:xfrm>
          <a:prstGeom prst="roundRect">
            <a:avLst>
              <a:gd name="adj" fmla="val 51613"/>
            </a:avLst>
          </a:prstGeom>
          <a:solidFill>
            <a:srgbClr val="7C5CFF"/>
          </a:solidFill>
          <a:ln/>
        </p:spPr>
        <p:txBody>
          <a:bodyPr/>
          <a:lstStyle/>
          <a:p>
            <a:endParaRPr lang="en-US"/>
          </a:p>
        </p:txBody>
      </p:sp>
      <p:sp>
        <p:nvSpPr>
          <p:cNvPr id="5" name="Text 3"/>
          <p:cNvSpPr/>
          <p:nvPr/>
        </p:nvSpPr>
        <p:spPr>
          <a:xfrm>
            <a:off x="804672" y="1344168"/>
            <a:ext cx="868680" cy="283464"/>
          </a:xfrm>
          <a:prstGeom prst="rect">
            <a:avLst/>
          </a:prstGeom>
          <a:noFill/>
          <a:ln/>
        </p:spPr>
        <p:txBody>
          <a:bodyPr wrap="square" lIns="0" tIns="0" rIns="0" bIns="0" rtlCol="0" anchor="ctr"/>
          <a:lstStyle/>
          <a:p>
            <a:pPr marL="0" indent="0" algn="ctr">
              <a:buNone/>
            </a:pPr>
            <a:r>
              <a:rPr lang="en-US" sz="900" b="1" kern="0" spc="150" dirty="0">
                <a:solidFill>
                  <a:srgbClr val="FFFFFF"/>
                </a:solidFill>
                <a:latin typeface="JetBrains Mono" pitchFamily="34" charset="0"/>
                <a:ea typeface="JetBrains Mono" pitchFamily="34" charset="-122"/>
                <a:cs typeface="JetBrains Mono" pitchFamily="34" charset="-120"/>
              </a:rPr>
              <a:t>NEW</a:t>
            </a:r>
            <a:endParaRPr lang="en-US" sz="900" dirty="0"/>
          </a:p>
        </p:txBody>
      </p:sp>
      <p:sp>
        <p:nvSpPr>
          <p:cNvPr id="6" name="Text 4"/>
          <p:cNvSpPr/>
          <p:nvPr/>
        </p:nvSpPr>
        <p:spPr>
          <a:xfrm>
            <a:off x="1783080" y="1234440"/>
            <a:ext cx="3337560" cy="502920"/>
          </a:xfrm>
          <a:prstGeom prst="rect">
            <a:avLst/>
          </a:prstGeom>
          <a:noFill/>
          <a:ln/>
        </p:spPr>
        <p:txBody>
          <a:bodyPr wrap="square" lIns="0" tIns="0" rIns="0" bIns="0" rtlCol="0" anchor="ctr"/>
          <a:lstStyle/>
          <a:p>
            <a:pPr marL="0" indent="0">
              <a:buNone/>
            </a:pPr>
            <a:r>
              <a:rPr lang="en-US" sz="1200" dirty="0">
                <a:solidFill>
                  <a:srgbClr val="0B1437"/>
                </a:solidFill>
                <a:latin typeface="Aptos" pitchFamily="34" charset="0"/>
                <a:ea typeface="Aptos" pitchFamily="34" charset="-122"/>
                <a:cs typeface="Aptos" pitchFamily="34" charset="-120"/>
              </a:rPr>
              <a:t>The 60 Seconds Business Payment Hub.</a:t>
            </a:r>
            <a:endParaRPr lang="en-US" sz="1200" dirty="0"/>
          </a:p>
        </p:txBody>
      </p:sp>
      <p:sp>
        <p:nvSpPr>
          <p:cNvPr id="7" name="Text 5"/>
          <p:cNvSpPr/>
          <p:nvPr/>
        </p:nvSpPr>
        <p:spPr>
          <a:xfrm>
            <a:off x="612648" y="1965960"/>
            <a:ext cx="6766560" cy="914400"/>
          </a:xfrm>
          <a:prstGeom prst="rect">
            <a:avLst/>
          </a:prstGeom>
          <a:noFill/>
          <a:ln/>
        </p:spPr>
        <p:txBody>
          <a:bodyPr wrap="square" lIns="0" tIns="0" rIns="0" bIns="0" rtlCol="0" anchor="ctr"/>
          <a:lstStyle/>
          <a:p>
            <a:pPr marL="0" indent="0">
              <a:buNone/>
            </a:pPr>
            <a:r>
              <a:rPr lang="en-US" sz="6200" b="1" dirty="0">
                <a:solidFill>
                  <a:srgbClr val="6D4AFF"/>
                </a:solidFill>
                <a:latin typeface="Aptos Display" pitchFamily="34" charset="0"/>
                <a:ea typeface="Aptos Display" pitchFamily="34" charset="-122"/>
                <a:cs typeface="Aptos Display" pitchFamily="34" charset="-120"/>
              </a:rPr>
              <a:t>60 Seconds</a:t>
            </a:r>
            <a:endParaRPr lang="en-US" sz="6200" dirty="0"/>
          </a:p>
        </p:txBody>
      </p:sp>
      <p:sp>
        <p:nvSpPr>
          <p:cNvPr id="8" name="Text 6"/>
          <p:cNvSpPr/>
          <p:nvPr/>
        </p:nvSpPr>
        <p:spPr>
          <a:xfrm>
            <a:off x="612648" y="2999232"/>
            <a:ext cx="6309360" cy="777240"/>
          </a:xfrm>
          <a:prstGeom prst="rect">
            <a:avLst/>
          </a:prstGeom>
          <a:noFill/>
          <a:ln/>
        </p:spPr>
        <p:txBody>
          <a:bodyPr wrap="square" lIns="0" tIns="0" rIns="0" bIns="0" rtlCol="0" anchor="ctr"/>
          <a:lstStyle/>
          <a:p>
            <a:pPr marL="0" indent="0">
              <a:buNone/>
            </a:pPr>
            <a:r>
              <a:rPr lang="en-US" sz="4000" b="1" dirty="0">
                <a:solidFill>
                  <a:srgbClr val="0B1437"/>
                </a:solidFill>
                <a:latin typeface="Aptos Display" pitchFamily="34" charset="0"/>
                <a:ea typeface="Aptos Display" pitchFamily="34" charset="-122"/>
                <a:cs typeface="Aptos Display" pitchFamily="34" charset="-120"/>
              </a:rPr>
              <a:t>powered by Dream</a:t>
            </a:r>
            <a:endParaRPr lang="en-US" sz="4000" dirty="0"/>
          </a:p>
        </p:txBody>
      </p:sp>
      <p:sp>
        <p:nvSpPr>
          <p:cNvPr id="9" name="Text 7"/>
          <p:cNvSpPr/>
          <p:nvPr/>
        </p:nvSpPr>
        <p:spPr>
          <a:xfrm>
            <a:off x="640080" y="3977640"/>
            <a:ext cx="5852160" cy="960000"/>
          </a:xfrm>
          <a:prstGeom prst="rect">
            <a:avLst/>
          </a:prstGeom>
          <a:noFill/>
          <a:ln/>
        </p:spPr>
        <p:txBody>
          <a:bodyPr wrap="square" rtlCol="0" anchor="ctr"/>
          <a:lstStyle/>
          <a:p>
            <a:pPr marL="0" indent="0">
              <a:lnSpc>
                <a:spcPct val="106000"/>
              </a:lnSpc>
              <a:buNone/>
            </a:pPr>
            <a:r>
              <a:rPr lang="en-US" sz="1500" dirty="0">
                <a:solidFill>
                  <a:srgbClr val="334155"/>
                </a:solidFill>
                <a:latin typeface="Aptos" pitchFamily="34" charset="0"/>
                <a:ea typeface="Aptos" pitchFamily="34" charset="-122"/>
                <a:cs typeface="Aptos" pitchFamily="34" charset="-120"/>
              </a:rPr>
              <a:t>One platform for 60 Seconds to collect from SMB clients by </a:t>
            </a:r>
            <a:r>
              <a:rPr lang="en-US" sz="1500" dirty="0" err="1">
                <a:solidFill>
                  <a:srgbClr val="334155"/>
                </a:solidFill>
                <a:latin typeface="Aptos" pitchFamily="34" charset="0"/>
                <a:ea typeface="Aptos" pitchFamily="34" charset="-122"/>
                <a:cs typeface="Aptos" pitchFamily="34" charset="-120"/>
              </a:rPr>
              <a:t>Interac</a:t>
            </a:r>
            <a:r>
              <a:rPr lang="en-US" sz="1500" dirty="0">
                <a:solidFill>
                  <a:srgbClr val="334155"/>
                </a:solidFill>
                <a:latin typeface="Aptos" pitchFamily="34" charset="0"/>
                <a:ea typeface="Aptos" pitchFamily="34" charset="-122"/>
                <a:cs typeface="Aptos" pitchFamily="34" charset="-120"/>
              </a:rPr>
              <a:t>  </a:t>
            </a:r>
            <a:br>
              <a:rPr lang="en-US" sz="1500" dirty="0">
                <a:solidFill>
                  <a:srgbClr val="334155"/>
                </a:solidFill>
                <a:latin typeface="Aptos" pitchFamily="34" charset="0"/>
                <a:ea typeface="Aptos" pitchFamily="34" charset="-122"/>
                <a:cs typeface="Aptos" pitchFamily="34" charset="-120"/>
              </a:rPr>
            </a:br>
            <a:r>
              <a:rPr lang="en-US" sz="1500" dirty="0">
                <a:solidFill>
                  <a:srgbClr val="334155"/>
                </a:solidFill>
                <a:latin typeface="Aptos" pitchFamily="34" charset="0"/>
                <a:ea typeface="Aptos" pitchFamily="34" charset="-122"/>
                <a:cs typeface="Aptos" pitchFamily="34" charset="-120"/>
              </a:rPr>
              <a:t>e-Transfer Request and pay vendors and employees by EFT and </a:t>
            </a:r>
            <a:br>
              <a:rPr lang="en-US" sz="1500" dirty="0">
                <a:solidFill>
                  <a:srgbClr val="334155"/>
                </a:solidFill>
                <a:latin typeface="Aptos" pitchFamily="34" charset="0"/>
                <a:ea typeface="Aptos" pitchFamily="34" charset="-122"/>
                <a:cs typeface="Aptos" pitchFamily="34" charset="-120"/>
              </a:rPr>
            </a:br>
            <a:r>
              <a:rPr lang="en-US" sz="1500" dirty="0">
                <a:solidFill>
                  <a:srgbClr val="334155"/>
                </a:solidFill>
                <a:latin typeface="Aptos" pitchFamily="34" charset="0"/>
                <a:ea typeface="Aptos" pitchFamily="34" charset="-122"/>
                <a:cs typeface="Aptos" pitchFamily="34" charset="-120"/>
              </a:rPr>
              <a:t>e-Transfer Payouts, all by API, with built-in KYC and compliance, live in CAD across Canada from launch.</a:t>
            </a:r>
            <a:endParaRPr lang="en-US" sz="1500" dirty="0"/>
          </a:p>
        </p:txBody>
      </p:sp>
      <p:sp>
        <p:nvSpPr>
          <p:cNvPr id="10" name="Text 8"/>
          <p:cNvSpPr/>
          <p:nvPr/>
        </p:nvSpPr>
        <p:spPr>
          <a:xfrm>
            <a:off x="640080" y="5029200"/>
            <a:ext cx="8229600" cy="274320"/>
          </a:xfrm>
          <a:prstGeom prst="rect">
            <a:avLst/>
          </a:prstGeom>
          <a:noFill/>
          <a:ln/>
        </p:spPr>
        <p:txBody>
          <a:bodyPr wrap="square" rtlCol="0" anchor="ctr"/>
          <a:lstStyle/>
          <a:p>
            <a:pPr marL="0" indent="0">
              <a:buNone/>
            </a:pPr>
            <a:r>
              <a:rPr lang="en-US" sz="900" b="1" kern="0" spc="250" dirty="0">
                <a:solidFill>
                  <a:srgbClr val="64748B"/>
                </a:solidFill>
                <a:latin typeface="JetBrains Mono" pitchFamily="34" charset="0"/>
                <a:ea typeface="JetBrains Mono" pitchFamily="34" charset="-122"/>
                <a:cs typeface="JetBrains Mono" pitchFamily="34" charset="-120"/>
              </a:rPr>
              <a:t>TRUSTED BY</a:t>
            </a:r>
            <a:endParaRPr lang="en-US" sz="900" dirty="0"/>
          </a:p>
        </p:txBody>
      </p:sp>
      <p:sp>
        <p:nvSpPr>
          <p:cNvPr id="11" name="Text 9"/>
          <p:cNvSpPr/>
          <p:nvPr/>
        </p:nvSpPr>
        <p:spPr>
          <a:xfrm>
            <a:off x="640080" y="5340000"/>
            <a:ext cx="2377440" cy="365760"/>
          </a:xfrm>
          <a:prstGeom prst="rect">
            <a:avLst/>
          </a:prstGeom>
          <a:noFill/>
          <a:ln/>
        </p:spPr>
        <p:txBody>
          <a:bodyPr wrap="square" lIns="0" tIns="0" rIns="0" bIns="0" rtlCol="0" anchor="ctr"/>
          <a:lstStyle/>
          <a:p>
            <a:pPr marL="0" indent="0">
              <a:buNone/>
            </a:pPr>
            <a:r>
              <a:rPr lang="en-US" sz="1400" b="1" dirty="0">
                <a:solidFill>
                  <a:srgbClr val="0B1437"/>
                </a:solidFill>
                <a:latin typeface="Aptos Display" pitchFamily="34" charset="0"/>
                <a:ea typeface="Aptos Display" pitchFamily="34" charset="-122"/>
                <a:cs typeface="Aptos Display" pitchFamily="34" charset="-120"/>
              </a:rPr>
              <a:t>JPMorgan</a:t>
            </a:r>
            <a:endParaRPr lang="en-US" sz="1400" dirty="0"/>
          </a:p>
        </p:txBody>
      </p:sp>
      <p:sp>
        <p:nvSpPr>
          <p:cNvPr id="12" name="Text 10"/>
          <p:cNvSpPr/>
          <p:nvPr/>
        </p:nvSpPr>
        <p:spPr>
          <a:xfrm>
            <a:off x="3115080" y="5340000"/>
            <a:ext cx="2377440" cy="365760"/>
          </a:xfrm>
          <a:prstGeom prst="rect">
            <a:avLst/>
          </a:prstGeom>
          <a:noFill/>
          <a:ln/>
        </p:spPr>
        <p:txBody>
          <a:bodyPr wrap="square" lIns="0" tIns="0" rIns="0" bIns="0" rtlCol="0" anchor="ctr"/>
          <a:lstStyle/>
          <a:p>
            <a:pPr marL="0" indent="0">
              <a:buNone/>
            </a:pPr>
            <a:r>
              <a:rPr lang="en-US" sz="1400" b="1" dirty="0">
                <a:solidFill>
                  <a:srgbClr val="0B1437"/>
                </a:solidFill>
                <a:latin typeface="Aptos Display" pitchFamily="34" charset="0"/>
                <a:ea typeface="Aptos Display" pitchFamily="34" charset="-122"/>
                <a:cs typeface="Aptos Display" pitchFamily="34" charset="-120"/>
              </a:rPr>
              <a:t>TD Bank</a:t>
            </a:r>
            <a:endParaRPr lang="en-US" sz="1400" dirty="0"/>
          </a:p>
        </p:txBody>
      </p:sp>
      <p:sp>
        <p:nvSpPr>
          <p:cNvPr id="13" name="Text 11"/>
          <p:cNvSpPr/>
          <p:nvPr/>
        </p:nvSpPr>
        <p:spPr>
          <a:xfrm>
            <a:off x="5590080" y="5340000"/>
            <a:ext cx="2377440" cy="365760"/>
          </a:xfrm>
          <a:prstGeom prst="rect">
            <a:avLst/>
          </a:prstGeom>
          <a:noFill/>
          <a:ln/>
        </p:spPr>
        <p:txBody>
          <a:bodyPr wrap="square" lIns="0" tIns="0" rIns="0" bIns="0" rtlCol="0" anchor="ctr"/>
          <a:lstStyle/>
          <a:p>
            <a:pPr marL="0" indent="0">
              <a:buNone/>
            </a:pPr>
            <a:r>
              <a:rPr lang="en-US" sz="1400" b="1" dirty="0">
                <a:solidFill>
                  <a:srgbClr val="0B1437"/>
                </a:solidFill>
                <a:latin typeface="Aptos Display" pitchFamily="34" charset="0"/>
                <a:ea typeface="Aptos Display" pitchFamily="34" charset="-122"/>
                <a:cs typeface="Aptos Display" pitchFamily="34" charset="-120"/>
              </a:rPr>
              <a:t>Wave</a:t>
            </a:r>
            <a:endParaRPr lang="en-US" sz="1400" dirty="0"/>
          </a:p>
        </p:txBody>
      </p:sp>
      <p:sp>
        <p:nvSpPr>
          <p:cNvPr id="14" name="Text 12"/>
          <p:cNvSpPr/>
          <p:nvPr/>
        </p:nvSpPr>
        <p:spPr>
          <a:xfrm>
            <a:off x="8065080" y="5340000"/>
            <a:ext cx="2377440" cy="365760"/>
          </a:xfrm>
          <a:prstGeom prst="rect">
            <a:avLst/>
          </a:prstGeom>
          <a:noFill/>
          <a:ln/>
        </p:spPr>
        <p:txBody>
          <a:bodyPr wrap="square" lIns="0" tIns="0" rIns="0" bIns="0" rtlCol="0" anchor="ctr"/>
          <a:lstStyle/>
          <a:p>
            <a:pPr marL="0" indent="0">
              <a:buNone/>
            </a:pPr>
            <a:r>
              <a:rPr lang="en-US" sz="1400" b="1" dirty="0">
                <a:solidFill>
                  <a:srgbClr val="0B1437"/>
                </a:solidFill>
                <a:latin typeface="Aptos Display" pitchFamily="34" charset="0"/>
                <a:ea typeface="Aptos Display" pitchFamily="34" charset="-122"/>
                <a:cs typeface="Aptos Display" pitchFamily="34" charset="-120"/>
              </a:rPr>
              <a:t>Mantle</a:t>
            </a:r>
            <a:endParaRPr lang="en-US" sz="1400" dirty="0"/>
          </a:p>
        </p:txBody>
      </p:sp>
      <p:sp>
        <p:nvSpPr>
          <p:cNvPr id="15" name="Text 13"/>
          <p:cNvSpPr/>
          <p:nvPr/>
        </p:nvSpPr>
        <p:spPr>
          <a:xfrm>
            <a:off x="640080" y="5680000"/>
            <a:ext cx="2377440" cy="365760"/>
          </a:xfrm>
          <a:prstGeom prst="rect">
            <a:avLst/>
          </a:prstGeom>
          <a:noFill/>
          <a:ln/>
        </p:spPr>
        <p:txBody>
          <a:bodyPr wrap="square" lIns="0" tIns="0" rIns="0" bIns="0" rtlCol="0" anchor="ctr"/>
          <a:lstStyle/>
          <a:p>
            <a:pPr marL="0" indent="0">
              <a:buNone/>
            </a:pPr>
            <a:r>
              <a:rPr lang="en-US" sz="1400" b="1" dirty="0">
                <a:solidFill>
                  <a:srgbClr val="0B1437"/>
                </a:solidFill>
                <a:latin typeface="Aptos Display" pitchFamily="34" charset="0"/>
                <a:ea typeface="Aptos Display" pitchFamily="34" charset="-122"/>
                <a:cs typeface="Aptos Display" pitchFamily="34" charset="-120"/>
              </a:rPr>
              <a:t>Interac</a:t>
            </a:r>
            <a:endParaRPr lang="en-US" sz="1400" dirty="0"/>
          </a:p>
        </p:txBody>
      </p:sp>
      <p:sp>
        <p:nvSpPr>
          <p:cNvPr id="16" name="Text 14"/>
          <p:cNvSpPr/>
          <p:nvPr/>
        </p:nvSpPr>
        <p:spPr>
          <a:xfrm>
            <a:off x="640080" y="6130000"/>
            <a:ext cx="5486400" cy="274320"/>
          </a:xfrm>
          <a:prstGeom prst="rect">
            <a:avLst/>
          </a:prstGeom>
          <a:noFill/>
          <a:ln/>
        </p:spPr>
        <p:txBody>
          <a:bodyPr wrap="square" rtlCol="0" anchor="ctr"/>
          <a:lstStyle/>
          <a:p>
            <a:pPr marL="0" indent="0">
              <a:buNone/>
            </a:pPr>
            <a:r>
              <a:rPr lang="en-US" sz="1000" b="1" kern="0" spc="250" dirty="0">
                <a:solidFill>
                  <a:srgbClr val="6D4AFF"/>
                </a:solidFill>
                <a:latin typeface="JetBrains Mono" pitchFamily="34" charset="0"/>
                <a:ea typeface="JetBrains Mono" pitchFamily="34" charset="-122"/>
                <a:cs typeface="JetBrains Mono" pitchFamily="34" charset="-120"/>
              </a:rPr>
              <a:t>COMMERCIAL PROPOSAL</a:t>
            </a:r>
            <a:endParaRPr lang="en-US" sz="1000" dirty="0"/>
          </a:p>
        </p:txBody>
      </p:sp>
      <p:sp>
        <p:nvSpPr>
          <p:cNvPr id="17" name="Text 15"/>
          <p:cNvSpPr/>
          <p:nvPr/>
        </p:nvSpPr>
        <p:spPr>
          <a:xfrm>
            <a:off x="640080" y="6410000"/>
            <a:ext cx="10058400" cy="274320"/>
          </a:xfrm>
          <a:prstGeom prst="rect">
            <a:avLst/>
          </a:prstGeom>
          <a:noFill/>
          <a:ln/>
        </p:spPr>
        <p:txBody>
          <a:bodyPr wrap="square" lIns="0" tIns="0" rIns="0" bIns="0" rtlCol="0" anchor="ctr"/>
          <a:lstStyle/>
          <a:p>
            <a:pPr marL="0" indent="0">
              <a:buNone/>
            </a:pPr>
            <a:r>
              <a:rPr lang="en-US" sz="1100" dirty="0">
                <a:solidFill>
                  <a:srgbClr val="475569"/>
                </a:solidFill>
                <a:latin typeface="Aptos" pitchFamily="34" charset="0"/>
                <a:ea typeface="Aptos" pitchFamily="34" charset="-122"/>
                <a:cs typeface="Aptos" pitchFamily="34" charset="-120"/>
              </a:rPr>
              <a:t>Prepared for 60 Seconds · Attn: Yves Perron · June 2026 · Jonathan Racine, VP Operations &amp; Technology</a:t>
            </a:r>
            <a:endParaRPr lang="en-US" sz="1100" dirty="0"/>
          </a:p>
        </p:txBody>
      </p:sp>
      <p:sp>
        <p:nvSpPr>
          <p:cNvPr id="18" name="Shape 16"/>
          <p:cNvSpPr/>
          <p:nvPr/>
        </p:nvSpPr>
        <p:spPr>
          <a:xfrm>
            <a:off x="7269480" y="1417320"/>
            <a:ext cx="4434840" cy="3291840"/>
          </a:xfrm>
          <a:prstGeom prst="roundRect">
            <a:avLst>
              <a:gd name="adj" fmla="val 2778"/>
            </a:avLst>
          </a:prstGeom>
          <a:solidFill>
            <a:srgbClr val="0B1437"/>
          </a:solidFill>
          <a:ln/>
          <a:effectLst>
            <a:outerShdw blurRad="177800" dist="76200" dir="5400000" algn="bl" rotWithShape="0">
              <a:srgbClr val="0B1437">
                <a:alpha val="22000"/>
              </a:srgbClr>
            </a:outerShdw>
          </a:effectLst>
        </p:spPr>
        <p:txBody>
          <a:bodyPr/>
          <a:lstStyle/>
          <a:p>
            <a:endParaRPr lang="en-US"/>
          </a:p>
        </p:txBody>
      </p:sp>
      <p:sp>
        <p:nvSpPr>
          <p:cNvPr id="19" name="Shape 17"/>
          <p:cNvSpPr/>
          <p:nvPr/>
        </p:nvSpPr>
        <p:spPr>
          <a:xfrm>
            <a:off x="7589520" y="1764792"/>
            <a:ext cx="310896" cy="310896"/>
          </a:xfrm>
          <a:prstGeom prst="ellipse">
            <a:avLst/>
          </a:prstGeom>
          <a:solidFill>
            <a:srgbClr val="7C5CFF"/>
          </a:solidFill>
          <a:ln/>
        </p:spPr>
        <p:txBody>
          <a:bodyPr/>
          <a:lstStyle/>
          <a:p>
            <a:endParaRPr lang="en-US"/>
          </a:p>
        </p:txBody>
      </p:sp>
      <p:sp>
        <p:nvSpPr>
          <p:cNvPr id="20" name="Text 18"/>
          <p:cNvSpPr/>
          <p:nvPr/>
        </p:nvSpPr>
        <p:spPr>
          <a:xfrm>
            <a:off x="8019288" y="1728216"/>
            <a:ext cx="3429000" cy="274320"/>
          </a:xfrm>
          <a:prstGeom prst="rect">
            <a:avLst/>
          </a:prstGeom>
          <a:noFill/>
          <a:ln/>
        </p:spPr>
        <p:txBody>
          <a:bodyPr wrap="square" lIns="0" tIns="0" rIns="0" bIns="0" rtlCol="0" anchor="ctr"/>
          <a:lstStyle/>
          <a:p>
            <a:pPr marL="0" indent="0">
              <a:buNone/>
            </a:pPr>
            <a:r>
              <a:rPr lang="en-US" sz="1350" b="1" dirty="0">
                <a:solidFill>
                  <a:srgbClr val="FFFFFF"/>
                </a:solidFill>
                <a:latin typeface="Aptos Display" pitchFamily="34" charset="0"/>
                <a:ea typeface="Aptos Display" pitchFamily="34" charset="-122"/>
                <a:cs typeface="Aptos Display" pitchFamily="34" charset="-120"/>
              </a:rPr>
              <a:t>60 Seconds Payments</a:t>
            </a:r>
            <a:endParaRPr lang="en-US" sz="1350" dirty="0"/>
          </a:p>
        </p:txBody>
      </p:sp>
      <p:sp>
        <p:nvSpPr>
          <p:cNvPr id="21" name="Text 19"/>
          <p:cNvSpPr/>
          <p:nvPr/>
        </p:nvSpPr>
        <p:spPr>
          <a:xfrm>
            <a:off x="8019288" y="1993392"/>
            <a:ext cx="3429000" cy="237744"/>
          </a:xfrm>
          <a:prstGeom prst="rect">
            <a:avLst/>
          </a:prstGeom>
          <a:noFill/>
          <a:ln/>
        </p:spPr>
        <p:txBody>
          <a:bodyPr wrap="square" lIns="0" tIns="0" rIns="0" bIns="0" rtlCol="0" anchor="ctr"/>
          <a:lstStyle/>
          <a:p>
            <a:pPr marL="0" indent="0">
              <a:buNone/>
            </a:pPr>
            <a:r>
              <a:rPr lang="en-US" sz="950" dirty="0">
                <a:solidFill>
                  <a:srgbClr val="8C97C9"/>
                </a:solidFill>
                <a:latin typeface="Aptos" pitchFamily="34" charset="0"/>
                <a:ea typeface="Aptos" pitchFamily="34" charset="-122"/>
                <a:cs typeface="Aptos" pitchFamily="34" charset="-120"/>
              </a:rPr>
              <a:t>Payouts · Today</a:t>
            </a:r>
            <a:endParaRPr lang="en-US" sz="950" dirty="0"/>
          </a:p>
        </p:txBody>
      </p:sp>
      <p:sp>
        <p:nvSpPr>
          <p:cNvPr id="22" name="Text 20"/>
          <p:cNvSpPr/>
          <p:nvPr/>
        </p:nvSpPr>
        <p:spPr>
          <a:xfrm>
            <a:off x="10698480" y="1746504"/>
            <a:ext cx="868680" cy="237744"/>
          </a:xfrm>
          <a:prstGeom prst="rect">
            <a:avLst/>
          </a:prstGeom>
          <a:noFill/>
          <a:ln/>
        </p:spPr>
        <p:txBody>
          <a:bodyPr wrap="square" lIns="0" tIns="0" rIns="0" bIns="0" rtlCol="0" anchor="ctr"/>
          <a:lstStyle/>
          <a:p>
            <a:pPr marL="0" indent="0" algn="r">
              <a:buNone/>
            </a:pPr>
            <a:r>
              <a:rPr lang="en-US" sz="800" kern="0" spc="100" dirty="0">
                <a:solidFill>
                  <a:srgbClr val="34D399"/>
                </a:solidFill>
                <a:latin typeface="JetBrains Mono" pitchFamily="34" charset="0"/>
                <a:ea typeface="JetBrains Mono" pitchFamily="34" charset="-122"/>
                <a:cs typeface="JetBrains Mono" pitchFamily="34" charset="-120"/>
              </a:rPr>
              <a:t>● LIVE</a:t>
            </a:r>
            <a:endParaRPr lang="en-US" sz="800" dirty="0"/>
          </a:p>
        </p:txBody>
      </p:sp>
      <p:sp>
        <p:nvSpPr>
          <p:cNvPr id="23" name="Text 21"/>
          <p:cNvSpPr/>
          <p:nvPr/>
        </p:nvSpPr>
        <p:spPr>
          <a:xfrm>
            <a:off x="7589520" y="2377440"/>
            <a:ext cx="3794760" cy="219456"/>
          </a:xfrm>
          <a:prstGeom prst="rect">
            <a:avLst/>
          </a:prstGeom>
          <a:noFill/>
          <a:ln/>
        </p:spPr>
        <p:txBody>
          <a:bodyPr wrap="square" lIns="0" tIns="0" rIns="0" bIns="0" rtlCol="0" anchor="ctr"/>
          <a:lstStyle/>
          <a:p>
            <a:pPr marL="0" indent="0">
              <a:buNone/>
            </a:pPr>
            <a:r>
              <a:rPr lang="en-US" sz="800" kern="0" spc="150" dirty="0">
                <a:solidFill>
                  <a:srgbClr val="A5B4FC"/>
                </a:solidFill>
                <a:latin typeface="JetBrains Mono" pitchFamily="34" charset="0"/>
                <a:ea typeface="JetBrains Mono" pitchFamily="34" charset="-122"/>
                <a:cs typeface="JetBrains Mono" pitchFamily="34" charset="-120"/>
              </a:rPr>
              <a:t>PAYMENTS PROCESSED</a:t>
            </a:r>
            <a:endParaRPr lang="en-US" sz="800" dirty="0"/>
          </a:p>
        </p:txBody>
      </p:sp>
      <p:sp>
        <p:nvSpPr>
          <p:cNvPr id="24" name="Text 22"/>
          <p:cNvSpPr/>
          <p:nvPr/>
        </p:nvSpPr>
        <p:spPr>
          <a:xfrm>
            <a:off x="7589520" y="2587752"/>
            <a:ext cx="3794760" cy="365760"/>
          </a:xfrm>
          <a:prstGeom prst="rect">
            <a:avLst/>
          </a:prstGeom>
          <a:noFill/>
          <a:ln/>
        </p:spPr>
        <p:txBody>
          <a:bodyPr wrap="square" lIns="0" tIns="0" rIns="0" bIns="0" rtlCol="0" anchor="ct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Real-time</a:t>
            </a:r>
            <a:r>
              <a:rPr lang="en-US" sz="2000" dirty="0">
                <a:solidFill>
                  <a:srgbClr val="34D399"/>
                </a:solidFill>
                <a:latin typeface="Aptos Display" pitchFamily="34" charset="0"/>
                <a:ea typeface="Aptos Display" pitchFamily="34" charset="-122"/>
                <a:cs typeface="Aptos Display" pitchFamily="34" charset="-120"/>
              </a:rPr>
              <a:t>  ▲ growing</a:t>
            </a:r>
            <a:endParaRPr lang="en-US" sz="2000" dirty="0"/>
          </a:p>
        </p:txBody>
      </p:sp>
      <p:pic>
        <p:nvPicPr>
          <p:cNvPr id="25" name="Image 0" descr="assets/spark.png"/>
          <p:cNvPicPr>
            <a:picLocks noChangeAspect="1"/>
          </p:cNvPicPr>
          <p:nvPr/>
        </p:nvPicPr>
        <p:blipFill>
          <a:blip r:embed="rId4"/>
          <a:stretch>
            <a:fillRect/>
          </a:stretch>
        </p:blipFill>
        <p:spPr>
          <a:xfrm>
            <a:off x="7543800" y="3108960"/>
            <a:ext cx="3886200" cy="1143000"/>
          </a:xfrm>
          <a:prstGeom prst="rect">
            <a:avLst/>
          </a:prstGeom>
        </p:spPr>
      </p:pic>
      <p:sp>
        <p:nvSpPr>
          <p:cNvPr id="26" name="Shape 23"/>
          <p:cNvSpPr/>
          <p:nvPr/>
        </p:nvSpPr>
        <p:spPr>
          <a:xfrm>
            <a:off x="7589520" y="4251960"/>
            <a:ext cx="1191768" cy="292608"/>
          </a:xfrm>
          <a:prstGeom prst="roundRect">
            <a:avLst>
              <a:gd name="adj" fmla="val 15625"/>
            </a:avLst>
          </a:prstGeom>
          <a:solidFill>
            <a:srgbClr val="17234E"/>
          </a:solidFill>
          <a:ln/>
        </p:spPr>
        <p:txBody>
          <a:bodyPr/>
          <a:lstStyle/>
          <a:p>
            <a:endParaRPr lang="en-US"/>
          </a:p>
        </p:txBody>
      </p:sp>
      <p:sp>
        <p:nvSpPr>
          <p:cNvPr id="27" name="Text 24"/>
          <p:cNvSpPr/>
          <p:nvPr/>
        </p:nvSpPr>
        <p:spPr>
          <a:xfrm>
            <a:off x="7589520" y="4251960"/>
            <a:ext cx="1191768" cy="292608"/>
          </a:xfrm>
          <a:prstGeom prst="rect">
            <a:avLst/>
          </a:prstGeom>
          <a:noFill/>
          <a:ln/>
        </p:spPr>
        <p:txBody>
          <a:bodyPr wrap="square" lIns="0" tIns="0" rIns="0" bIns="0" rtlCol="0" anchor="ctr"/>
          <a:lstStyle/>
          <a:p>
            <a:pPr marL="0" indent="0" algn="ctr">
              <a:buNone/>
            </a:pPr>
            <a:r>
              <a:rPr lang="en-US" sz="700" kern="0" spc="50" dirty="0">
                <a:solidFill>
                  <a:srgbClr val="C7D2FE"/>
                </a:solidFill>
                <a:latin typeface="JetBrains Mono" pitchFamily="34" charset="0"/>
                <a:ea typeface="JetBrains Mono" pitchFamily="34" charset="-122"/>
                <a:cs typeface="JetBrains Mono" pitchFamily="34" charset="-120"/>
              </a:rPr>
              <a:t>INTERAC REQ</a:t>
            </a:r>
            <a:endParaRPr lang="en-US" sz="700" dirty="0"/>
          </a:p>
        </p:txBody>
      </p:sp>
      <p:sp>
        <p:nvSpPr>
          <p:cNvPr id="28" name="Shape 25"/>
          <p:cNvSpPr/>
          <p:nvPr/>
        </p:nvSpPr>
        <p:spPr>
          <a:xfrm>
            <a:off x="8891016" y="4251960"/>
            <a:ext cx="1191768" cy="292608"/>
          </a:xfrm>
          <a:prstGeom prst="roundRect">
            <a:avLst>
              <a:gd name="adj" fmla="val 15625"/>
            </a:avLst>
          </a:prstGeom>
          <a:solidFill>
            <a:srgbClr val="17234E"/>
          </a:solidFill>
          <a:ln/>
        </p:spPr>
        <p:txBody>
          <a:bodyPr/>
          <a:lstStyle/>
          <a:p>
            <a:endParaRPr lang="en-US"/>
          </a:p>
        </p:txBody>
      </p:sp>
      <p:sp>
        <p:nvSpPr>
          <p:cNvPr id="29" name="Text 26"/>
          <p:cNvSpPr/>
          <p:nvPr/>
        </p:nvSpPr>
        <p:spPr>
          <a:xfrm>
            <a:off x="8891016" y="4251960"/>
            <a:ext cx="1191768" cy="292608"/>
          </a:xfrm>
          <a:prstGeom prst="rect">
            <a:avLst/>
          </a:prstGeom>
          <a:noFill/>
          <a:ln/>
        </p:spPr>
        <p:txBody>
          <a:bodyPr wrap="square" lIns="0" tIns="0" rIns="0" bIns="0" rtlCol="0" anchor="ctr"/>
          <a:lstStyle/>
          <a:p>
            <a:pPr marL="0" indent="0" algn="ctr">
              <a:buNone/>
            </a:pPr>
            <a:r>
              <a:rPr lang="en-US" sz="700" kern="0" spc="50" dirty="0">
                <a:solidFill>
                  <a:srgbClr val="C7D2FE"/>
                </a:solidFill>
                <a:latin typeface="JetBrains Mono" pitchFamily="34" charset="0"/>
                <a:ea typeface="JetBrains Mono" pitchFamily="34" charset="-122"/>
                <a:cs typeface="JetBrains Mono" pitchFamily="34" charset="-120"/>
              </a:rPr>
              <a:t>EFT</a:t>
            </a:r>
            <a:endParaRPr lang="en-US" sz="700" dirty="0"/>
          </a:p>
        </p:txBody>
      </p:sp>
      <p:sp>
        <p:nvSpPr>
          <p:cNvPr id="30" name="Shape 27"/>
          <p:cNvSpPr/>
          <p:nvPr/>
        </p:nvSpPr>
        <p:spPr>
          <a:xfrm>
            <a:off x="10192512" y="4251960"/>
            <a:ext cx="1191768" cy="292608"/>
          </a:xfrm>
          <a:prstGeom prst="roundRect">
            <a:avLst>
              <a:gd name="adj" fmla="val 15625"/>
            </a:avLst>
          </a:prstGeom>
          <a:solidFill>
            <a:srgbClr val="17234E"/>
          </a:solidFill>
          <a:ln/>
        </p:spPr>
        <p:txBody>
          <a:bodyPr/>
          <a:lstStyle/>
          <a:p>
            <a:endParaRPr lang="en-US"/>
          </a:p>
        </p:txBody>
      </p:sp>
      <p:sp>
        <p:nvSpPr>
          <p:cNvPr id="31" name="Text 28"/>
          <p:cNvSpPr/>
          <p:nvPr/>
        </p:nvSpPr>
        <p:spPr>
          <a:xfrm>
            <a:off x="10192512" y="4251960"/>
            <a:ext cx="1191768" cy="292608"/>
          </a:xfrm>
          <a:prstGeom prst="rect">
            <a:avLst/>
          </a:prstGeom>
          <a:noFill/>
          <a:ln/>
        </p:spPr>
        <p:txBody>
          <a:bodyPr wrap="square" lIns="0" tIns="0" rIns="0" bIns="0" rtlCol="0" anchor="ctr"/>
          <a:lstStyle/>
          <a:p>
            <a:pPr marL="0" indent="0" algn="ctr">
              <a:buNone/>
            </a:pPr>
            <a:r>
              <a:rPr lang="en-US" sz="700" kern="0" spc="50" dirty="0">
                <a:solidFill>
                  <a:srgbClr val="C7D2FE"/>
                </a:solidFill>
                <a:latin typeface="JetBrains Mono" pitchFamily="34" charset="0"/>
                <a:ea typeface="JetBrains Mono" pitchFamily="34" charset="-122"/>
                <a:cs typeface="JetBrains Mono" pitchFamily="34" charset="-120"/>
              </a:rPr>
              <a:t>e-TRANSFER</a:t>
            </a:r>
            <a:endParaRPr lang="en-US" sz="700" dirty="0"/>
          </a:p>
        </p:txBody>
      </p:sp>
      <p:sp>
        <p:nvSpPr>
          <p:cNvPr id="32" name="Shape 29"/>
          <p:cNvSpPr/>
          <p:nvPr/>
        </p:nvSpPr>
        <p:spPr>
          <a:xfrm>
            <a:off x="9281160" y="3840480"/>
            <a:ext cx="2560320" cy="1143000"/>
          </a:xfrm>
          <a:prstGeom prst="roundRect">
            <a:avLst>
              <a:gd name="adj" fmla="val 6400"/>
            </a:avLst>
          </a:prstGeom>
          <a:solidFill>
            <a:srgbClr val="FFFFFF"/>
          </a:solidFill>
          <a:ln/>
          <a:effectLst>
            <a:outerShdw blurRad="177800" dist="76200" dir="5400000" algn="bl" rotWithShape="0">
              <a:srgbClr val="0B1437">
                <a:alpha val="22000"/>
              </a:srgbClr>
            </a:outerShdw>
          </a:effectLst>
        </p:spPr>
        <p:txBody>
          <a:bodyPr/>
          <a:lstStyle/>
          <a:p>
            <a:endParaRPr lang="en-US"/>
          </a:p>
        </p:txBody>
      </p:sp>
      <p:sp>
        <p:nvSpPr>
          <p:cNvPr id="33" name="Shape 30"/>
          <p:cNvSpPr/>
          <p:nvPr/>
        </p:nvSpPr>
        <p:spPr>
          <a:xfrm>
            <a:off x="9464040" y="4050792"/>
            <a:ext cx="237744" cy="237744"/>
          </a:xfrm>
          <a:prstGeom prst="ellipse">
            <a:avLst/>
          </a:prstGeom>
          <a:solidFill>
            <a:srgbClr val="10B981"/>
          </a:solidFill>
          <a:ln/>
        </p:spPr>
        <p:txBody>
          <a:bodyPr/>
          <a:lstStyle/>
          <a:p>
            <a:endParaRPr lang="en-US"/>
          </a:p>
        </p:txBody>
      </p:sp>
      <p:sp>
        <p:nvSpPr>
          <p:cNvPr id="34" name="Text 31"/>
          <p:cNvSpPr/>
          <p:nvPr/>
        </p:nvSpPr>
        <p:spPr>
          <a:xfrm>
            <a:off x="9784080" y="4032504"/>
            <a:ext cx="1463040" cy="219456"/>
          </a:xfrm>
          <a:prstGeom prst="rect">
            <a:avLst/>
          </a:prstGeom>
          <a:noFill/>
          <a:ln/>
        </p:spPr>
        <p:txBody>
          <a:bodyPr wrap="square" lIns="0" tIns="0" rIns="0" bIns="0" rtlCol="0" anchor="ctr"/>
          <a:lstStyle/>
          <a:p>
            <a:pPr marL="0" indent="0">
              <a:buNone/>
            </a:pPr>
            <a:r>
              <a:rPr lang="en-US" sz="850" b="1" kern="0" spc="100" dirty="0">
                <a:solidFill>
                  <a:srgbClr val="059669"/>
                </a:solidFill>
                <a:latin typeface="JetBrains Mono" pitchFamily="34" charset="0"/>
                <a:ea typeface="JetBrains Mono" pitchFamily="34" charset="-122"/>
                <a:cs typeface="JetBrains Mono" pitchFamily="34" charset="-120"/>
              </a:rPr>
              <a:t>PAID OUT</a:t>
            </a:r>
            <a:endParaRPr lang="en-US" sz="850" dirty="0"/>
          </a:p>
        </p:txBody>
      </p:sp>
      <p:sp>
        <p:nvSpPr>
          <p:cNvPr id="35" name="Text 32"/>
          <p:cNvSpPr/>
          <p:nvPr/>
        </p:nvSpPr>
        <p:spPr>
          <a:xfrm>
            <a:off x="9784080" y="4233672"/>
            <a:ext cx="1828800" cy="219456"/>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Vendor payment</a:t>
            </a:r>
            <a:endParaRPr lang="en-US" sz="850" dirty="0"/>
          </a:p>
        </p:txBody>
      </p:sp>
      <p:sp>
        <p:nvSpPr>
          <p:cNvPr id="36" name="Text 33"/>
          <p:cNvSpPr/>
          <p:nvPr/>
        </p:nvSpPr>
        <p:spPr>
          <a:xfrm>
            <a:off x="9464040" y="4453128"/>
            <a:ext cx="1554480" cy="274320"/>
          </a:xfrm>
          <a:prstGeom prst="rect">
            <a:avLst/>
          </a:prstGeom>
          <a:noFill/>
          <a:ln/>
        </p:spPr>
        <p:txBody>
          <a:bodyPr wrap="square" lIns="0" tIns="0" rIns="0" bIns="0" rtlCol="0" anchor="ctr"/>
          <a:lstStyle/>
          <a:p>
            <a:pPr marL="0" indent="0">
              <a:buNone/>
            </a:pPr>
            <a:r>
              <a:rPr lang="en-US" sz="1600" b="1" dirty="0">
                <a:solidFill>
                  <a:srgbClr val="0B1437"/>
                </a:solidFill>
                <a:latin typeface="Aptos Display" pitchFamily="34" charset="0"/>
                <a:ea typeface="Aptos Display" pitchFamily="34" charset="-122"/>
                <a:cs typeface="Aptos Display" pitchFamily="34" charset="-120"/>
              </a:rPr>
              <a:t>$4,250.00</a:t>
            </a:r>
            <a:endParaRPr lang="en-US" sz="1600" dirty="0"/>
          </a:p>
        </p:txBody>
      </p:sp>
      <p:sp>
        <p:nvSpPr>
          <p:cNvPr id="37" name="Text 34"/>
          <p:cNvSpPr/>
          <p:nvPr/>
        </p:nvSpPr>
        <p:spPr>
          <a:xfrm>
            <a:off x="10835640" y="4507992"/>
            <a:ext cx="822960" cy="219456"/>
          </a:xfrm>
          <a:prstGeom prst="rect">
            <a:avLst/>
          </a:prstGeom>
          <a:noFill/>
          <a:ln/>
        </p:spPr>
        <p:txBody>
          <a:bodyPr wrap="square" lIns="0" tIns="0" rIns="0" bIns="0" rtlCol="0" anchor="ctr"/>
          <a:lstStyle/>
          <a:p>
            <a:pPr marL="0" indent="0" algn="r">
              <a:buNone/>
            </a:pPr>
            <a:r>
              <a:rPr lang="en-US" sz="800" dirty="0">
                <a:solidFill>
                  <a:srgbClr val="64748B"/>
                </a:solidFill>
                <a:latin typeface="Aptos" pitchFamily="34" charset="0"/>
                <a:ea typeface="Aptos" pitchFamily="34" charset="-122"/>
                <a:cs typeface="Aptos" pitchFamily="34" charset="-120"/>
              </a:rPr>
              <a:t>EFT</a:t>
            </a:r>
            <a:endParaRPr lang="en-US" sz="800" dirty="0"/>
          </a:p>
        </p:txBody>
      </p:sp>
      <p:sp>
        <p:nvSpPr>
          <p:cNvPr id="38" name="Text 13"/>
          <p:cNvSpPr/>
          <p:nvPr/>
        </p:nvSpPr>
        <p:spPr>
          <a:xfrm>
            <a:off x="3115080" y="5680000"/>
            <a:ext cx="2377440" cy="365760"/>
          </a:xfrm>
          <a:prstGeom prst="rect">
            <a:avLst/>
          </a:prstGeom>
          <a:noFill/>
          <a:ln/>
        </p:spPr>
        <p:txBody>
          <a:bodyPr wrap="square" lIns="0" tIns="0" rIns="0" bIns="0" rtlCol="0" anchor="ctr"/>
          <a:lstStyle/>
          <a:p>
            <a:pPr marL="0" indent="0">
              <a:buNone/>
            </a:pPr>
            <a:r>
              <a:rPr lang="en-US" sz="1400" b="1" dirty="0">
                <a:solidFill>
                  <a:srgbClr val="0B1437"/>
                </a:solidFill>
                <a:latin typeface="Aptos Display" pitchFamily="34" charset="0"/>
                <a:ea typeface="Aptos Display" pitchFamily="34" charset="-122"/>
                <a:cs typeface="Aptos Display" pitchFamily="34" charset="-120"/>
              </a:rPr>
              <a:t>e-Transfer</a:t>
            </a:r>
            <a:endParaRPr lang="en-US" sz="1400" dirty="0"/>
          </a:p>
        </p:txBody>
      </p:sp>
      <p:sp>
        <p:nvSpPr>
          <p:cNvPr id="39" name="Text 13"/>
          <p:cNvSpPr/>
          <p:nvPr/>
        </p:nvSpPr>
        <p:spPr>
          <a:xfrm>
            <a:off x="5590080" y="5680000"/>
            <a:ext cx="2377440" cy="365760"/>
          </a:xfrm>
          <a:prstGeom prst="rect">
            <a:avLst/>
          </a:prstGeom>
          <a:noFill/>
          <a:ln/>
        </p:spPr>
        <p:txBody>
          <a:bodyPr wrap="square" lIns="0" tIns="0" rIns="0" bIns="0" rtlCol="0" anchor="ctr"/>
          <a:lstStyle/>
          <a:p>
            <a:pPr marL="0" indent="0">
              <a:buNone/>
            </a:pPr>
            <a:r>
              <a:rPr lang="en-US" sz="1400" b="1" dirty="0">
                <a:solidFill>
                  <a:srgbClr val="0B1437"/>
                </a:solidFill>
                <a:latin typeface="Aptos Display" pitchFamily="34" charset="0"/>
                <a:ea typeface="Aptos Display" pitchFamily="34" charset="-122"/>
                <a:cs typeface="Aptos Display" pitchFamily="34" charset="-120"/>
              </a:rPr>
              <a:t>RPAA</a:t>
            </a:r>
            <a:endParaRPr lang="en-US" sz="1400" dirty="0"/>
          </a:p>
        </p:txBody>
      </p:sp>
      <p:sp>
        <p:nvSpPr>
          <p:cNvPr id="40" name="Text 13"/>
          <p:cNvSpPr/>
          <p:nvPr/>
        </p:nvSpPr>
        <p:spPr>
          <a:xfrm>
            <a:off x="8065080" y="5680000"/>
            <a:ext cx="2377440" cy="365760"/>
          </a:xfrm>
          <a:prstGeom prst="rect">
            <a:avLst/>
          </a:prstGeom>
          <a:noFill/>
          <a:ln/>
        </p:spPr>
        <p:txBody>
          <a:bodyPr wrap="square" lIns="0" tIns="0" rIns="0" bIns="0" rtlCol="0" anchor="ctr"/>
          <a:lstStyle/>
          <a:p>
            <a:pPr marL="0" indent="0">
              <a:buNone/>
            </a:pPr>
            <a:r>
              <a:rPr lang="en-US" sz="1400" b="1" dirty="0">
                <a:solidFill>
                  <a:srgbClr val="0B1437"/>
                </a:solidFill>
                <a:latin typeface="Aptos Display" pitchFamily="34" charset="0"/>
                <a:ea typeface="Aptos Display" pitchFamily="34" charset="-122"/>
                <a:cs typeface="Aptos Display" pitchFamily="34" charset="-120"/>
              </a:rPr>
              <a:t>FINTRAC</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lstStyle/>
          <a:p>
            <a:pPr marL="0" indent="0">
              <a:buNone/>
            </a:pPr>
            <a:r>
              <a:rPr lang="en-US" sz="1100" b="1" kern="0" spc="300" dirty="0">
                <a:solidFill>
                  <a:srgbClr val="2563EB"/>
                </a:solidFill>
                <a:latin typeface="JetBrains Mono" pitchFamily="34" charset="0"/>
                <a:ea typeface="JetBrains Mono" pitchFamily="34" charset="-122"/>
                <a:cs typeface="JetBrains Mono" pitchFamily="34" charset="-120"/>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lstStyle/>
          <a:p>
            <a:pPr marL="0" indent="0">
              <a:buNone/>
            </a:pPr>
            <a:r>
              <a:rPr lang="en-US" sz="950" kern="0" spc="150" dirty="0">
                <a:solidFill>
                  <a:srgbClr val="64748B"/>
                </a:solidFill>
                <a:latin typeface="JetBrains Mono" pitchFamily="34" charset="0"/>
                <a:ea typeface="JetBrains Mono" pitchFamily="34" charset="-122"/>
                <a:cs typeface="JetBrains Mono" pitchFamily="34" charset="-120"/>
              </a:rPr>
              <a:t>00 · EXECUTIVE SUMMARY</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lstStyle/>
          <a:p>
            <a:pPr marL="0" indent="0">
              <a:buNone/>
            </a:pPr>
            <a:r>
              <a:rPr lang="en-US" sz="2700" b="1" dirty="0">
                <a:solidFill>
                  <a:srgbClr val="0B1437"/>
                </a:solidFill>
                <a:latin typeface="Aptos Display" pitchFamily="34" charset="0"/>
                <a:ea typeface="Aptos Display" pitchFamily="34" charset="-122"/>
                <a:cs typeface="Aptos Display" pitchFamily="34" charset="-120"/>
              </a:rPr>
              <a:t>The 60 Seconds Business Payment Hub.</a:t>
            </a:r>
          </a:p>
          <a:p>
            <a:pPr marL="0" indent="0">
              <a:buNone/>
            </a:pPr>
            <a:r>
              <a:rPr lang="en-US" sz="2700" b="1" dirty="0">
                <a:solidFill>
                  <a:srgbClr val="0B1437"/>
                </a:solidFill>
                <a:latin typeface="Aptos Display" pitchFamily="34" charset="0"/>
                <a:ea typeface="Aptos Display" pitchFamily="34" charset="-122"/>
                <a:cs typeface="Aptos Display" pitchFamily="34" charset="-120"/>
              </a:rPr>
              <a:t>
.</a:t>
            </a:r>
            <a:endParaRPr lang="en-US" sz="2700" dirty="0"/>
          </a:p>
        </p:txBody>
      </p:sp>
      <p:sp>
        <p:nvSpPr>
          <p:cNvPr id="6" name="Text 4"/>
          <p:cNvSpPr/>
          <p:nvPr/>
        </p:nvSpPr>
        <p:spPr>
          <a:xfrm>
            <a:off x="640080" y="1874520"/>
            <a:ext cx="10728655" cy="420000"/>
          </a:xfrm>
          <a:prstGeom prst="rect">
            <a:avLst/>
          </a:prstGeom>
          <a:noFill/>
          <a:ln/>
        </p:spPr>
        <p:txBody>
          <a:bodyPr wrap="square" lIns="0" tIns="0" rIns="0" bIns="0" anchor="t"/>
          <a:lstStyle/>
          <a:p>
            <a:pPr algn="l">
              <a:lnSpc>
                <a:spcPct val="108000"/>
              </a:lnSpc>
              <a:buNone/>
            </a:pPr>
            <a:r>
              <a:rPr lang="en-US" sz="1200" dirty="0">
                <a:solidFill>
                  <a:srgbClr val="64748B"/>
                </a:solidFill>
                <a:latin typeface="Aptos" pitchFamily="34" charset="0"/>
                <a:cs typeface="Aptos" pitchFamily="34" charset="0"/>
              </a:rPr>
              <a:t>One bidirectional platform: collect from SMB clients, pay vendors and employees, all by API, with every payment KYC-verified, safeguarded, reconciled, and compliant in CAD.</a:t>
            </a:r>
          </a:p>
        </p:txBody>
      </p:sp>
      <p:sp>
        <p:nvSpPr>
          <p:cNvPr id="21" name="Text 17"/>
          <p:cNvSpPr/>
          <p:nvPr/>
        </p:nvSpPr>
        <p:spPr>
          <a:xfrm>
            <a:off x="640080" y="6455664"/>
            <a:ext cx="9144000" cy="274320"/>
          </a:xfrm>
          <a:prstGeom prst="rect">
            <a:avLst/>
          </a:prstGeom>
          <a:noFill/>
          <a:ln/>
        </p:spPr>
        <p:txBody>
          <a:bodyPr wrap="square" rtlCol="0" anchor="ctr"/>
          <a:lstStyle/>
          <a:p>
            <a:pPr marL="0" indent="0">
              <a:buNone/>
            </a:pPr>
            <a:r>
              <a:rPr lang="en-US" sz="750" kern="0" spc="180" dirty="0">
                <a:solidFill>
                  <a:srgbClr val="94A3B8"/>
                </a:solidFill>
                <a:latin typeface="JetBrains Mono" pitchFamily="34" charset="0"/>
                <a:ea typeface="JetBrains Mono" pitchFamily="34" charset="-122"/>
                <a:cs typeface="JetBrains Mono" pitchFamily="34" charset="-120"/>
              </a:rPr>
              <a:t>DREAM PAYMENTS  ·  BUSINESS PAYMENT HUB  ·  COMMERCIAL PROPOSAL</a:t>
            </a:r>
            <a:endParaRPr lang="en-US" sz="750" dirty="0"/>
          </a:p>
        </p:txBody>
      </p:sp>
      <p:sp>
        <p:nvSpPr>
          <p:cNvPr id="22" name="Text 18"/>
          <p:cNvSpPr/>
          <p:nvPr/>
        </p:nvSpPr>
        <p:spPr>
          <a:xfrm>
            <a:off x="10637215" y="6455664"/>
            <a:ext cx="914400" cy="274320"/>
          </a:xfrm>
          <a:prstGeom prst="rect">
            <a:avLst/>
          </a:prstGeom>
          <a:noFill/>
          <a:ln/>
        </p:spPr>
        <p:txBody>
          <a:bodyPr wrap="square" rtlCol="0" anchor="ctr"/>
          <a:lstStyle/>
          <a:p>
            <a:pPr marL="0" indent="0" algn="r">
              <a:buNone/>
            </a:pPr>
            <a:r>
              <a:rPr lang="en-US" sz="800" b="1" kern="0" spc="150" dirty="0">
                <a:solidFill>
                  <a:srgbClr val="2563EB"/>
                </a:solidFill>
                <a:latin typeface="JetBrains Mono" pitchFamily="34" charset="0"/>
                <a:ea typeface="JetBrains Mono" pitchFamily="34" charset="-122"/>
                <a:cs typeface="JetBrains Mono" pitchFamily="34" charset="-120"/>
              </a:rPr>
              <a:t>02</a:t>
            </a:r>
            <a:endParaRPr lang="en-US" sz="800" dirty="0"/>
          </a:p>
        </p:txBody>
      </p:sp>
      <p:sp>
        <p:nvSpPr>
          <p:cNvPr id="701" name="r"/>
          <p:cNvSpPr/>
          <p:nvPr/>
        </p:nvSpPr>
        <p:spPr>
          <a:xfrm>
            <a:off x="640080" y="2316480"/>
            <a:ext cx="2590723" cy="2987040"/>
          </a:xfrm>
          <a:prstGeom prst="rect">
            <a:avLst/>
          </a:prstGeom>
          <a:solidFill>
            <a:srgbClr val="F8FAFC"/>
          </a:solidFill>
          <a:ln w="9525">
            <a:solidFill>
              <a:srgbClr val="E2E8F0"/>
            </a:solidFill>
            <a:prstDash val="solid"/>
          </a:ln>
        </p:spPr>
        <p:txBody>
          <a:bodyPr/>
          <a:lstStyle/>
          <a:p>
            <a:endParaRPr lang="en-US"/>
          </a:p>
        </p:txBody>
      </p:sp>
      <p:sp>
        <p:nvSpPr>
          <p:cNvPr id="702" name="r"/>
          <p:cNvSpPr/>
          <p:nvPr/>
        </p:nvSpPr>
        <p:spPr>
          <a:xfrm>
            <a:off x="640080" y="2316480"/>
            <a:ext cx="2590723" cy="73152"/>
          </a:xfrm>
          <a:prstGeom prst="rect">
            <a:avLst/>
          </a:prstGeom>
          <a:solidFill>
            <a:srgbClr val="2563EB"/>
          </a:solidFill>
          <a:ln>
            <a:noFill/>
          </a:ln>
        </p:spPr>
        <p:txBody>
          <a:bodyPr/>
          <a:lstStyle/>
          <a:p>
            <a:endParaRPr lang="en-US"/>
          </a:p>
        </p:txBody>
      </p:sp>
      <p:pic>
        <p:nvPicPr>
          <p:cNvPr id="703" name="icon"/>
          <p:cNvPicPr>
            <a:picLocks noChangeAspect="1"/>
          </p:cNvPicPr>
          <p:nvPr/>
        </p:nvPicPr>
        <p:blipFill>
          <a:blip r:embed="rId3"/>
          <a:stretch>
            <a:fillRect/>
          </a:stretch>
        </p:blipFill>
        <p:spPr>
          <a:xfrm>
            <a:off x="1661121" y="2584704"/>
            <a:ext cx="548640" cy="548640"/>
          </a:xfrm>
          <a:prstGeom prst="rect">
            <a:avLst/>
          </a:prstGeom>
        </p:spPr>
      </p:pic>
      <p:sp>
        <p:nvSpPr>
          <p:cNvPr id="704" name="t"/>
          <p:cNvSpPr txBox="1"/>
          <p:nvPr/>
        </p:nvSpPr>
        <p:spPr>
          <a:xfrm>
            <a:off x="640080" y="3267456"/>
            <a:ext cx="2590723" cy="268224"/>
          </a:xfrm>
          <a:prstGeom prst="rect">
            <a:avLst/>
          </a:prstGeom>
          <a:noFill/>
        </p:spPr>
        <p:txBody>
          <a:bodyPr wrap="square" lIns="0" tIns="0" rIns="0" bIns="0" rtlCol="0" anchor="t"/>
          <a:lstStyle/>
          <a:p>
            <a:pPr algn="ctr">
              <a:buNone/>
            </a:pPr>
            <a:r>
              <a:rPr lang="en-US" sz="1200" b="1" spc="267" dirty="0">
                <a:solidFill>
                  <a:srgbClr val="2563EB"/>
                </a:solidFill>
                <a:latin typeface="Aptos" pitchFamily="34" charset="0"/>
                <a:cs typeface="Aptos" pitchFamily="34" charset="0"/>
              </a:rPr>
              <a:t>BIDIRECTIONAL</a:t>
            </a:r>
          </a:p>
        </p:txBody>
      </p:sp>
      <p:sp>
        <p:nvSpPr>
          <p:cNvPr id="705" name="t"/>
          <p:cNvSpPr txBox="1"/>
          <p:nvPr/>
        </p:nvSpPr>
        <p:spPr>
          <a:xfrm>
            <a:off x="640080" y="3633216"/>
            <a:ext cx="2590723" cy="792480"/>
          </a:xfrm>
          <a:prstGeom prst="rect">
            <a:avLst/>
          </a:prstGeom>
          <a:noFill/>
        </p:spPr>
        <p:txBody>
          <a:bodyPr wrap="square" lIns="0" tIns="0" rIns="0" bIns="0" rtlCol="0" anchor="t"/>
          <a:lstStyle/>
          <a:p>
            <a:pPr algn="ctr">
              <a:lnSpc>
                <a:spcPct val="104000"/>
              </a:lnSpc>
              <a:buNone/>
            </a:pPr>
            <a:r>
              <a:rPr lang="en-US" sz="1867" b="1" spc="-40" dirty="0">
                <a:solidFill>
                  <a:srgbClr val="0B1437"/>
                </a:solidFill>
                <a:latin typeface="Aptos Display" pitchFamily="34" charset="0"/>
                <a:cs typeface="Aptos Display" pitchFamily="34" charset="0"/>
              </a:rPr>
              <a:t>Collections In, Payouts Out.</a:t>
            </a:r>
          </a:p>
        </p:txBody>
      </p:sp>
      <p:sp>
        <p:nvSpPr>
          <p:cNvPr id="706" name="t"/>
          <p:cNvSpPr txBox="1"/>
          <p:nvPr/>
        </p:nvSpPr>
        <p:spPr>
          <a:xfrm>
            <a:off x="640080" y="4381292"/>
            <a:ext cx="2590723" cy="755904"/>
          </a:xfrm>
          <a:prstGeom prst="rect">
            <a:avLst/>
          </a:prstGeom>
          <a:noFill/>
        </p:spPr>
        <p:txBody>
          <a:bodyPr wrap="square" lIns="0" tIns="0" rIns="0" bIns="0" rtlCol="0" anchor="t"/>
          <a:lstStyle/>
          <a:p>
            <a:pPr algn="ctr">
              <a:lnSpc>
                <a:spcPct val="106000"/>
              </a:lnSpc>
              <a:buNone/>
            </a:pPr>
            <a:r>
              <a:rPr lang="en-US" sz="1200" b="1" dirty="0">
                <a:solidFill>
                  <a:srgbClr val="64748B"/>
                </a:solidFill>
                <a:latin typeface="Aptos" pitchFamily="34" charset="0"/>
                <a:cs typeface="Aptos" pitchFamily="34" charset="0"/>
              </a:rPr>
              <a:t>Interac e-Transfer Request collects from SMB clients; EFT and e-Transfer pay vendors and employees.</a:t>
            </a:r>
          </a:p>
        </p:txBody>
      </p:sp>
      <p:sp>
        <p:nvSpPr>
          <p:cNvPr id="707" name="r"/>
          <p:cNvSpPr/>
          <p:nvPr/>
        </p:nvSpPr>
        <p:spPr>
          <a:xfrm>
            <a:off x="3413683" y="2316480"/>
            <a:ext cx="2590723" cy="2987040"/>
          </a:xfrm>
          <a:prstGeom prst="rect">
            <a:avLst/>
          </a:prstGeom>
          <a:solidFill>
            <a:srgbClr val="F8FAFC"/>
          </a:solidFill>
          <a:ln w="9525">
            <a:solidFill>
              <a:srgbClr val="E2E8F0"/>
            </a:solidFill>
            <a:prstDash val="solid"/>
          </a:ln>
        </p:spPr>
        <p:txBody>
          <a:bodyPr/>
          <a:lstStyle/>
          <a:p>
            <a:endParaRPr lang="en-US"/>
          </a:p>
        </p:txBody>
      </p:sp>
      <p:sp>
        <p:nvSpPr>
          <p:cNvPr id="708" name="r"/>
          <p:cNvSpPr/>
          <p:nvPr/>
        </p:nvSpPr>
        <p:spPr>
          <a:xfrm>
            <a:off x="3413683" y="2316480"/>
            <a:ext cx="2590723" cy="73152"/>
          </a:xfrm>
          <a:prstGeom prst="rect">
            <a:avLst/>
          </a:prstGeom>
          <a:solidFill>
            <a:srgbClr val="2563EB"/>
          </a:solidFill>
          <a:ln>
            <a:noFill/>
          </a:ln>
        </p:spPr>
        <p:txBody>
          <a:bodyPr/>
          <a:lstStyle/>
          <a:p>
            <a:endParaRPr lang="en-US"/>
          </a:p>
        </p:txBody>
      </p:sp>
      <p:pic>
        <p:nvPicPr>
          <p:cNvPr id="709" name="icon"/>
          <p:cNvPicPr>
            <a:picLocks noChangeAspect="1"/>
          </p:cNvPicPr>
          <p:nvPr/>
        </p:nvPicPr>
        <p:blipFill>
          <a:blip r:embed="rId4"/>
          <a:stretch>
            <a:fillRect/>
          </a:stretch>
        </p:blipFill>
        <p:spPr>
          <a:xfrm>
            <a:off x="4434724" y="2584704"/>
            <a:ext cx="548640" cy="548640"/>
          </a:xfrm>
          <a:prstGeom prst="rect">
            <a:avLst/>
          </a:prstGeom>
        </p:spPr>
      </p:pic>
      <p:sp>
        <p:nvSpPr>
          <p:cNvPr id="710" name="t"/>
          <p:cNvSpPr txBox="1"/>
          <p:nvPr/>
        </p:nvSpPr>
        <p:spPr>
          <a:xfrm>
            <a:off x="3413683" y="3267456"/>
            <a:ext cx="2590723" cy="268224"/>
          </a:xfrm>
          <a:prstGeom prst="rect">
            <a:avLst/>
          </a:prstGeom>
          <a:noFill/>
        </p:spPr>
        <p:txBody>
          <a:bodyPr wrap="square" lIns="0" tIns="0" rIns="0" bIns="0" rtlCol="0" anchor="t"/>
          <a:lstStyle/>
          <a:p>
            <a:pPr algn="ctr">
              <a:buNone/>
            </a:pPr>
            <a:r>
              <a:rPr lang="en-US" sz="1200" b="1" spc="267" dirty="0">
                <a:solidFill>
                  <a:srgbClr val="2563EB"/>
                </a:solidFill>
                <a:latin typeface="Aptos" pitchFamily="34" charset="0"/>
                <a:cs typeface="Aptos" pitchFamily="34" charset="0"/>
              </a:rPr>
              <a:t>SAFEGUARDED</a:t>
            </a:r>
          </a:p>
        </p:txBody>
      </p:sp>
      <p:sp>
        <p:nvSpPr>
          <p:cNvPr id="711" name="t"/>
          <p:cNvSpPr txBox="1"/>
          <p:nvPr/>
        </p:nvSpPr>
        <p:spPr>
          <a:xfrm>
            <a:off x="3413683" y="3633216"/>
            <a:ext cx="2590723" cy="792480"/>
          </a:xfrm>
          <a:prstGeom prst="rect">
            <a:avLst/>
          </a:prstGeom>
          <a:noFill/>
        </p:spPr>
        <p:txBody>
          <a:bodyPr wrap="square" lIns="0" tIns="0" rIns="0" bIns="0" rtlCol="0" anchor="t"/>
          <a:lstStyle/>
          <a:p>
            <a:pPr algn="ctr">
              <a:lnSpc>
                <a:spcPct val="104000"/>
              </a:lnSpc>
              <a:buNone/>
            </a:pPr>
            <a:r>
              <a:rPr lang="en-US" sz="1867" b="1" spc="-40" dirty="0">
                <a:solidFill>
                  <a:srgbClr val="0B1437"/>
                </a:solidFill>
                <a:latin typeface="Aptos Display" pitchFamily="34" charset="0"/>
                <a:cs typeface="Aptos Display" pitchFamily="34" charset="0"/>
              </a:rPr>
              <a:t>Segregated, Safeguarded Funds.</a:t>
            </a:r>
          </a:p>
        </p:txBody>
      </p:sp>
      <p:sp>
        <p:nvSpPr>
          <p:cNvPr id="712" name="t"/>
          <p:cNvSpPr txBox="1"/>
          <p:nvPr/>
        </p:nvSpPr>
        <p:spPr>
          <a:xfrm>
            <a:off x="3413683" y="4381292"/>
            <a:ext cx="2590723" cy="755904"/>
          </a:xfrm>
          <a:prstGeom prst="rect">
            <a:avLst/>
          </a:prstGeom>
          <a:noFill/>
        </p:spPr>
        <p:txBody>
          <a:bodyPr wrap="square" lIns="0" tIns="0" rIns="0" bIns="0" rtlCol="0" anchor="t"/>
          <a:lstStyle/>
          <a:p>
            <a:pPr algn="ctr">
              <a:lnSpc>
                <a:spcPct val="106000"/>
              </a:lnSpc>
              <a:buNone/>
            </a:pPr>
            <a:r>
              <a:rPr lang="en-US" sz="1200" b="1" dirty="0">
                <a:solidFill>
                  <a:srgbClr val="64748B"/>
                </a:solidFill>
                <a:latin typeface="Aptos" pitchFamily="34" charset="0"/>
                <a:cs typeface="Aptos" pitchFamily="34" charset="0"/>
              </a:rPr>
              <a:t>Client funds held in segregated accounts at a Canadian Tier-1 bank, safeguarded under RPAA.</a:t>
            </a:r>
          </a:p>
        </p:txBody>
      </p:sp>
      <p:sp>
        <p:nvSpPr>
          <p:cNvPr id="713" name="r"/>
          <p:cNvSpPr/>
          <p:nvPr/>
        </p:nvSpPr>
        <p:spPr>
          <a:xfrm>
            <a:off x="6187286" y="2316480"/>
            <a:ext cx="2590723" cy="2987040"/>
          </a:xfrm>
          <a:prstGeom prst="rect">
            <a:avLst/>
          </a:prstGeom>
          <a:solidFill>
            <a:srgbClr val="F8FAFC"/>
          </a:solidFill>
          <a:ln w="9525">
            <a:solidFill>
              <a:srgbClr val="E2E8F0"/>
            </a:solidFill>
            <a:prstDash val="solid"/>
          </a:ln>
        </p:spPr>
        <p:txBody>
          <a:bodyPr/>
          <a:lstStyle/>
          <a:p>
            <a:endParaRPr lang="en-US"/>
          </a:p>
        </p:txBody>
      </p:sp>
      <p:sp>
        <p:nvSpPr>
          <p:cNvPr id="714" name="r"/>
          <p:cNvSpPr/>
          <p:nvPr/>
        </p:nvSpPr>
        <p:spPr>
          <a:xfrm>
            <a:off x="6187286" y="2316480"/>
            <a:ext cx="2590723" cy="73152"/>
          </a:xfrm>
          <a:prstGeom prst="rect">
            <a:avLst/>
          </a:prstGeom>
          <a:solidFill>
            <a:srgbClr val="2563EB"/>
          </a:solidFill>
          <a:ln>
            <a:noFill/>
          </a:ln>
        </p:spPr>
        <p:txBody>
          <a:bodyPr/>
          <a:lstStyle/>
          <a:p>
            <a:endParaRPr lang="en-US"/>
          </a:p>
        </p:txBody>
      </p:sp>
      <p:pic>
        <p:nvPicPr>
          <p:cNvPr id="715" name="icon"/>
          <p:cNvPicPr>
            <a:picLocks noChangeAspect="1"/>
          </p:cNvPicPr>
          <p:nvPr/>
        </p:nvPicPr>
        <p:blipFill>
          <a:blip r:embed="rId5"/>
          <a:stretch>
            <a:fillRect/>
          </a:stretch>
        </p:blipFill>
        <p:spPr>
          <a:xfrm>
            <a:off x="7208327" y="2584704"/>
            <a:ext cx="548640" cy="548640"/>
          </a:xfrm>
          <a:prstGeom prst="rect">
            <a:avLst/>
          </a:prstGeom>
        </p:spPr>
      </p:pic>
      <p:sp>
        <p:nvSpPr>
          <p:cNvPr id="716" name="t"/>
          <p:cNvSpPr txBox="1"/>
          <p:nvPr/>
        </p:nvSpPr>
        <p:spPr>
          <a:xfrm>
            <a:off x="6187286" y="3267456"/>
            <a:ext cx="2590723" cy="268224"/>
          </a:xfrm>
          <a:prstGeom prst="rect">
            <a:avLst/>
          </a:prstGeom>
          <a:noFill/>
        </p:spPr>
        <p:txBody>
          <a:bodyPr wrap="square" lIns="0" tIns="0" rIns="0" bIns="0" rtlCol="0" anchor="t"/>
          <a:lstStyle/>
          <a:p>
            <a:pPr algn="ctr">
              <a:buNone/>
            </a:pPr>
            <a:r>
              <a:rPr lang="en-US" sz="1200" b="1" spc="267" dirty="0">
                <a:solidFill>
                  <a:srgbClr val="2563EB"/>
                </a:solidFill>
                <a:latin typeface="Aptos" pitchFamily="34" charset="0"/>
                <a:cs typeface="Aptos" pitchFamily="34" charset="0"/>
              </a:rPr>
              <a:t>BILINGUAL</a:t>
            </a:r>
          </a:p>
        </p:txBody>
      </p:sp>
      <p:sp>
        <p:nvSpPr>
          <p:cNvPr id="717" name="t"/>
          <p:cNvSpPr txBox="1"/>
          <p:nvPr/>
        </p:nvSpPr>
        <p:spPr>
          <a:xfrm>
            <a:off x="6187286" y="3633216"/>
            <a:ext cx="2590723" cy="792480"/>
          </a:xfrm>
          <a:prstGeom prst="rect">
            <a:avLst/>
          </a:prstGeom>
          <a:noFill/>
        </p:spPr>
        <p:txBody>
          <a:bodyPr wrap="square" lIns="0" tIns="0" rIns="0" bIns="0" rtlCol="0" anchor="t"/>
          <a:lstStyle/>
          <a:p>
            <a:pPr algn="ctr">
              <a:lnSpc>
                <a:spcPct val="104000"/>
              </a:lnSpc>
              <a:buNone/>
            </a:pPr>
            <a:r>
              <a:rPr lang="en-US" sz="1867" b="1" spc="-40" dirty="0">
                <a:solidFill>
                  <a:srgbClr val="0B1437"/>
                </a:solidFill>
                <a:latin typeface="Aptos Display" pitchFamily="34" charset="0"/>
                <a:cs typeface="Aptos Display" pitchFamily="34" charset="0"/>
              </a:rPr>
              <a:t>Built for Quebec and Ontario.</a:t>
            </a:r>
          </a:p>
        </p:txBody>
      </p:sp>
      <p:sp>
        <p:nvSpPr>
          <p:cNvPr id="718" name="t"/>
          <p:cNvSpPr txBox="1"/>
          <p:nvPr/>
        </p:nvSpPr>
        <p:spPr>
          <a:xfrm>
            <a:off x="6187286" y="4381292"/>
            <a:ext cx="2590723" cy="755904"/>
          </a:xfrm>
          <a:prstGeom prst="rect">
            <a:avLst/>
          </a:prstGeom>
          <a:noFill/>
        </p:spPr>
        <p:txBody>
          <a:bodyPr wrap="square" lIns="0" tIns="0" rIns="0" bIns="0" rtlCol="0" anchor="t"/>
          <a:lstStyle/>
          <a:p>
            <a:pPr algn="ctr">
              <a:lnSpc>
                <a:spcPct val="106000"/>
              </a:lnSpc>
              <a:buNone/>
            </a:pPr>
            <a:r>
              <a:rPr lang="en-US" sz="1200" b="1" dirty="0">
                <a:solidFill>
                  <a:srgbClr val="64748B"/>
                </a:solidFill>
                <a:latin typeface="Aptos" pitchFamily="34" charset="0"/>
                <a:cs typeface="Aptos" pitchFamily="34" charset="0"/>
              </a:rPr>
              <a:t>Quebec and Ontario SMBs served in French and English, with a consistent compliance posture.</a:t>
            </a:r>
          </a:p>
        </p:txBody>
      </p:sp>
      <p:sp>
        <p:nvSpPr>
          <p:cNvPr id="719" name="r"/>
          <p:cNvSpPr/>
          <p:nvPr/>
        </p:nvSpPr>
        <p:spPr>
          <a:xfrm>
            <a:off x="8960889" y="2316480"/>
            <a:ext cx="2590723" cy="2987040"/>
          </a:xfrm>
          <a:prstGeom prst="rect">
            <a:avLst/>
          </a:prstGeom>
          <a:solidFill>
            <a:srgbClr val="F8FAFC"/>
          </a:solidFill>
          <a:ln w="9525">
            <a:solidFill>
              <a:srgbClr val="E2E8F0"/>
            </a:solidFill>
            <a:prstDash val="solid"/>
          </a:ln>
        </p:spPr>
        <p:txBody>
          <a:bodyPr/>
          <a:lstStyle/>
          <a:p>
            <a:endParaRPr lang="en-US"/>
          </a:p>
        </p:txBody>
      </p:sp>
      <p:sp>
        <p:nvSpPr>
          <p:cNvPr id="720" name="r"/>
          <p:cNvSpPr/>
          <p:nvPr/>
        </p:nvSpPr>
        <p:spPr>
          <a:xfrm>
            <a:off x="8960889" y="2316480"/>
            <a:ext cx="2590723" cy="73152"/>
          </a:xfrm>
          <a:prstGeom prst="rect">
            <a:avLst/>
          </a:prstGeom>
          <a:solidFill>
            <a:srgbClr val="2563EB"/>
          </a:solidFill>
          <a:ln>
            <a:noFill/>
          </a:ln>
        </p:spPr>
        <p:txBody>
          <a:bodyPr/>
          <a:lstStyle/>
          <a:p>
            <a:endParaRPr lang="en-US"/>
          </a:p>
        </p:txBody>
      </p:sp>
      <p:pic>
        <p:nvPicPr>
          <p:cNvPr id="721" name="icon"/>
          <p:cNvPicPr>
            <a:picLocks noChangeAspect="1"/>
          </p:cNvPicPr>
          <p:nvPr/>
        </p:nvPicPr>
        <p:blipFill>
          <a:blip r:embed="rId6"/>
          <a:stretch>
            <a:fillRect/>
          </a:stretch>
        </p:blipFill>
        <p:spPr>
          <a:xfrm>
            <a:off x="9981930" y="2584704"/>
            <a:ext cx="548640" cy="548640"/>
          </a:xfrm>
          <a:prstGeom prst="rect">
            <a:avLst/>
          </a:prstGeom>
        </p:spPr>
      </p:pic>
      <p:sp>
        <p:nvSpPr>
          <p:cNvPr id="722" name="t"/>
          <p:cNvSpPr txBox="1"/>
          <p:nvPr/>
        </p:nvSpPr>
        <p:spPr>
          <a:xfrm>
            <a:off x="8960889" y="3267456"/>
            <a:ext cx="2590723" cy="268224"/>
          </a:xfrm>
          <a:prstGeom prst="rect">
            <a:avLst/>
          </a:prstGeom>
          <a:noFill/>
        </p:spPr>
        <p:txBody>
          <a:bodyPr wrap="square" lIns="0" tIns="0" rIns="0" bIns="0" rtlCol="0" anchor="t"/>
          <a:lstStyle/>
          <a:p>
            <a:pPr algn="ctr">
              <a:buNone/>
            </a:pPr>
            <a:r>
              <a:rPr lang="en-US" sz="1200" b="1" spc="267" dirty="0">
                <a:solidFill>
                  <a:srgbClr val="2563EB"/>
                </a:solidFill>
                <a:latin typeface="Aptos" pitchFamily="34" charset="0"/>
                <a:cs typeface="Aptos" pitchFamily="34" charset="0"/>
              </a:rPr>
              <a:t>EMBEDDED</a:t>
            </a:r>
          </a:p>
        </p:txBody>
      </p:sp>
      <p:sp>
        <p:nvSpPr>
          <p:cNvPr id="723" name="t"/>
          <p:cNvSpPr txBox="1"/>
          <p:nvPr/>
        </p:nvSpPr>
        <p:spPr>
          <a:xfrm>
            <a:off x="8960889" y="3633216"/>
            <a:ext cx="2590723" cy="792480"/>
          </a:xfrm>
          <a:prstGeom prst="rect">
            <a:avLst/>
          </a:prstGeom>
          <a:noFill/>
        </p:spPr>
        <p:txBody>
          <a:bodyPr wrap="square" lIns="0" tIns="0" rIns="0" bIns="0" rtlCol="0" anchor="t"/>
          <a:lstStyle/>
          <a:p>
            <a:pPr algn="ctr">
              <a:lnSpc>
                <a:spcPct val="104000"/>
              </a:lnSpc>
              <a:buNone/>
            </a:pPr>
            <a:r>
              <a:rPr lang="en-US" sz="1867" b="1" spc="-40" dirty="0">
                <a:solidFill>
                  <a:srgbClr val="0B1437"/>
                </a:solidFill>
                <a:latin typeface="Aptos Display" pitchFamily="34" charset="0"/>
                <a:cs typeface="Aptos Display" pitchFamily="34" charset="0"/>
              </a:rPr>
              <a:t>Inside 60 Seconds.</a:t>
            </a:r>
          </a:p>
        </p:txBody>
      </p:sp>
      <p:sp>
        <p:nvSpPr>
          <p:cNvPr id="724" name="t"/>
          <p:cNvSpPr txBox="1"/>
          <p:nvPr/>
        </p:nvSpPr>
        <p:spPr>
          <a:xfrm>
            <a:off x="8960889" y="4381292"/>
            <a:ext cx="2590723" cy="755904"/>
          </a:xfrm>
          <a:prstGeom prst="rect">
            <a:avLst/>
          </a:prstGeom>
          <a:noFill/>
        </p:spPr>
        <p:txBody>
          <a:bodyPr wrap="square" lIns="0" tIns="0" rIns="0" bIns="0" rtlCol="0" anchor="t"/>
          <a:lstStyle/>
          <a:p>
            <a:pPr algn="ctr">
              <a:lnSpc>
                <a:spcPct val="106000"/>
              </a:lnSpc>
              <a:buNone/>
            </a:pPr>
            <a:r>
              <a:rPr lang="en-US" sz="1200" b="1" dirty="0">
                <a:solidFill>
                  <a:srgbClr val="64748B"/>
                </a:solidFill>
                <a:latin typeface="Aptos" pitchFamily="34" charset="0"/>
                <a:cs typeface="Aptos" pitchFamily="34" charset="0"/>
              </a:rPr>
              <a:t>COLLECT and SETTLE APIs embed directly into the 60 Seconds platform and flow.</a:t>
            </a:r>
          </a:p>
        </p:txBody>
      </p:sp>
      <p:sp>
        <p:nvSpPr>
          <p:cNvPr id="725" name="r"/>
          <p:cNvSpPr/>
          <p:nvPr/>
        </p:nvSpPr>
        <p:spPr>
          <a:xfrm>
            <a:off x="640080" y="6010000"/>
            <a:ext cx="73152" cy="243840"/>
          </a:xfrm>
          <a:prstGeom prst="rect">
            <a:avLst/>
          </a:prstGeom>
          <a:solidFill>
            <a:srgbClr val="2563EB"/>
          </a:solidFill>
          <a:ln>
            <a:noFill/>
          </a:ln>
        </p:spPr>
        <p:txBody>
          <a:bodyPr/>
          <a:lstStyle/>
          <a:p>
            <a:endParaRPr lang="en-US"/>
          </a:p>
        </p:txBody>
      </p:sp>
      <p:sp>
        <p:nvSpPr>
          <p:cNvPr id="726" name="t"/>
          <p:cNvSpPr txBox="1"/>
          <p:nvPr/>
        </p:nvSpPr>
        <p:spPr>
          <a:xfrm>
            <a:off x="853440" y="5990000"/>
            <a:ext cx="10500000" cy="292608"/>
          </a:xfrm>
          <a:prstGeom prst="rect">
            <a:avLst/>
          </a:prstGeom>
          <a:noFill/>
        </p:spPr>
        <p:txBody>
          <a:bodyPr wrap="square" lIns="0" tIns="0" rIns="0" bIns="0" rtlCol="0" anchor="t"/>
          <a:lstStyle/>
          <a:p>
            <a:pPr algn="l">
              <a:buNone/>
            </a:pPr>
            <a:r>
              <a:rPr lang="en-US" sz="1467" b="1" dirty="0">
                <a:solidFill>
                  <a:srgbClr val="0B1437"/>
                </a:solidFill>
                <a:latin typeface="Aptos Display" pitchFamily="34" charset="0"/>
                <a:cs typeface="Aptos Display" pitchFamily="34" charset="0"/>
              </a:rPr>
              <a:t>Dream = One Platform. One API. Every Business Payment.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603504"/>
            <a:ext cx="384048" cy="64008"/>
          </a:xfrm>
          <a:prstGeom prst="rect">
            <a:avLst/>
          </a:prstGeom>
          <a:solidFill>
            <a:srgbClr val="7C5CFF"/>
          </a:solidFill>
          <a:ln/>
        </p:spPr>
        <p:txBody>
          <a:bodyPr/>
          <a:lstStyle/>
          <a:p>
            <a:endParaRPr lang="en-US"/>
          </a:p>
        </p:txBody>
      </p:sp>
      <p:sp>
        <p:nvSpPr>
          <p:cNvPr id="3" name="Text 1"/>
          <p:cNvSpPr/>
          <p:nvPr/>
        </p:nvSpPr>
        <p:spPr>
          <a:xfrm>
            <a:off x="1143000" y="502920"/>
            <a:ext cx="9144000" cy="274320"/>
          </a:xfrm>
          <a:prstGeom prst="rect">
            <a:avLst/>
          </a:prstGeom>
          <a:noFill/>
          <a:ln/>
        </p:spPr>
        <p:txBody>
          <a:bodyPr wrap="square" rtlCol="0" anchor="ctr"/>
          <a:lstStyle/>
          <a:p>
            <a:pPr marL="0" indent="0">
              <a:buNone/>
            </a:pPr>
            <a:r>
              <a:rPr lang="en-US" sz="1100" b="1" kern="0" spc="300" dirty="0">
                <a:solidFill>
                  <a:srgbClr val="A5B4FC"/>
                </a:solidFill>
                <a:latin typeface="JetBrains Mono" pitchFamily="34" charset="0"/>
                <a:ea typeface="JetBrains Mono" pitchFamily="34" charset="-122"/>
                <a:cs typeface="JetBrains Mono" pitchFamily="34" charset="-120"/>
              </a:rPr>
              <a:t>SECTION I · THE OPPORTUNITY</a:t>
            </a:r>
            <a:endParaRPr lang="en-US" sz="1100" dirty="0"/>
          </a:p>
        </p:txBody>
      </p:sp>
      <p:sp>
        <p:nvSpPr>
          <p:cNvPr id="4" name="Text 2"/>
          <p:cNvSpPr/>
          <p:nvPr/>
        </p:nvSpPr>
        <p:spPr>
          <a:xfrm>
            <a:off x="640080" y="3063240"/>
            <a:ext cx="10607040" cy="1554480"/>
          </a:xfrm>
          <a:prstGeom prst="rect">
            <a:avLst/>
          </a:prstGeom>
          <a:noFill/>
          <a:ln/>
        </p:spPr>
        <p:txBody>
          <a:bodyPr wrap="square" lIns="0" tIns="0" rIns="0" bIns="0" rtlCol="0" anchor="ctr"/>
          <a:lstStyle/>
          <a:p>
            <a:pPr marL="0" indent="0">
              <a:lnSpc>
                <a:spcPts val="4800"/>
              </a:lnSpc>
              <a:buNone/>
            </a:pPr>
            <a:r>
              <a:rPr lang="en-US" sz="4200" b="1" dirty="0">
                <a:solidFill>
                  <a:srgbClr val="FFFFFF"/>
                </a:solidFill>
                <a:latin typeface="Aptos Display" pitchFamily="34" charset="0"/>
                <a:ea typeface="Aptos Display" pitchFamily="34" charset="-122"/>
                <a:cs typeface="Aptos Display" pitchFamily="34" charset="-120"/>
              </a:rPr>
              <a:t>Vendor and payroll payments at scale.</a:t>
            </a:r>
            <a:endParaRPr lang="en-US" sz="4200" dirty="0"/>
          </a:p>
        </p:txBody>
      </p:sp>
      <p:sp>
        <p:nvSpPr>
          <p:cNvPr id="5" name="Text 3"/>
          <p:cNvSpPr/>
          <p:nvPr/>
        </p:nvSpPr>
        <p:spPr>
          <a:xfrm>
            <a:off x="640080" y="4709160"/>
            <a:ext cx="9601200" cy="900000"/>
          </a:xfrm>
          <a:prstGeom prst="rect">
            <a:avLst/>
          </a:prstGeom>
          <a:noFill/>
          <a:ln/>
        </p:spPr>
        <p:txBody>
          <a:bodyPr wrap="square" rtlCol="0" anchor="ctr"/>
          <a:lstStyle/>
          <a:p>
            <a:pPr marL="0" indent="0">
              <a:lnSpc>
                <a:spcPts val="2200"/>
              </a:lnSpc>
              <a:buNone/>
            </a:pPr>
            <a:r>
              <a:rPr lang="en-US" sz="1550" dirty="0">
                <a:solidFill>
                  <a:srgbClr val="C7D2FE"/>
                </a:solidFill>
                <a:latin typeface="Aptos" pitchFamily="34" charset="0"/>
                <a:ea typeface="Aptos" pitchFamily="34" charset="-122"/>
                <a:cs typeface="Aptos" pitchFamily="34" charset="-120"/>
              </a:rPr>
              <a:t>60 Seconds is building a platform for Canadian SMBs to pay vendors today and employees tomorrow, in a market where low-cost vendor and payroll rails barely exist.</a:t>
            </a:r>
            <a:endParaRPr lang="en-US" sz="1550" dirty="0"/>
          </a:p>
        </p:txBody>
      </p:sp>
      <p:sp>
        <p:nvSpPr>
          <p:cNvPr id="6" name="Text 4"/>
          <p:cNvSpPr/>
          <p:nvPr/>
        </p:nvSpPr>
        <p:spPr>
          <a:xfrm>
            <a:off x="10637215" y="6455664"/>
            <a:ext cx="914400" cy="274320"/>
          </a:xfrm>
          <a:prstGeom prst="rect">
            <a:avLst/>
          </a:prstGeom>
          <a:noFill/>
          <a:ln/>
        </p:spPr>
        <p:txBody>
          <a:bodyPr wrap="square" rtlCol="0" anchor="ctr"/>
          <a:lstStyle/>
          <a:p>
            <a:pPr marL="0" indent="0" algn="r">
              <a:buNone/>
            </a:pPr>
            <a:r>
              <a:rPr lang="en-US" sz="800" kern="0" spc="150" dirty="0">
                <a:solidFill>
                  <a:srgbClr val="8C97C9"/>
                </a:solidFill>
                <a:latin typeface="JetBrains Mono" pitchFamily="34" charset="0"/>
                <a:ea typeface="JetBrains Mono" pitchFamily="34" charset="-122"/>
                <a:cs typeface="JetBrains Mono"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lstStyle/>
          <a:p>
            <a:pPr marL="0" indent="0">
              <a:buNone/>
            </a:pPr>
            <a:r>
              <a:rPr lang="en-US" sz="1100" b="1" kern="0" spc="300" dirty="0">
                <a:solidFill>
                  <a:srgbClr val="2563EB"/>
                </a:solidFill>
                <a:latin typeface="JetBrains Mono" pitchFamily="34" charset="0"/>
                <a:ea typeface="JetBrains Mono" pitchFamily="34" charset="-122"/>
                <a:cs typeface="JetBrains Mono" pitchFamily="34" charset="-120"/>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lstStyle/>
          <a:p>
            <a:pPr marL="0" indent="0">
              <a:buNone/>
            </a:pPr>
            <a:r>
              <a:rPr lang="en-US" sz="950" kern="0" spc="150" dirty="0">
                <a:solidFill>
                  <a:srgbClr val="64748B"/>
                </a:solidFill>
                <a:latin typeface="JetBrains Mono" pitchFamily="34" charset="0"/>
                <a:ea typeface="JetBrains Mono" pitchFamily="34" charset="-122"/>
                <a:cs typeface="JetBrains Mono" pitchFamily="34" charset="-120"/>
              </a:rPr>
              <a:t>01 · THE OPPORTUNITY</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lstStyle/>
          <a:p>
            <a:pPr marL="0" indent="0">
              <a:buNone/>
            </a:pPr>
            <a:r>
              <a:rPr lang="en-US" sz="2700" b="1" dirty="0">
                <a:solidFill>
                  <a:srgbClr val="0B1437"/>
                </a:solidFill>
                <a:latin typeface="Aptos Display" pitchFamily="34" charset="0"/>
                <a:ea typeface="Aptos Display" pitchFamily="34" charset="-122"/>
                <a:cs typeface="Aptos Display" pitchFamily="34" charset="-120"/>
              </a:rPr>
              <a:t>60 Seconds is built to scale fast.</a:t>
            </a:r>
            <a:endParaRPr lang="en-US" sz="2700" dirty="0"/>
          </a:p>
        </p:txBody>
      </p:sp>
      <p:sp>
        <p:nvSpPr>
          <p:cNvPr id="6" name="Text 4"/>
          <p:cNvSpPr/>
          <p:nvPr/>
        </p:nvSpPr>
        <p:spPr>
          <a:xfrm>
            <a:off x="640080" y="1874520"/>
            <a:ext cx="10728655" cy="820000"/>
          </a:xfrm>
          <a:prstGeom prst="rect">
            <a:avLst/>
          </a:prstGeom>
          <a:noFill/>
          <a:ln/>
        </p:spPr>
        <p:txBody>
          <a:bodyPr wrap="square" lIns="0" tIns="0" rIns="0" bIns="0" anchor="t"/>
          <a:lstStyle/>
          <a:p>
            <a:pPr algn="l">
              <a:lnSpc>
                <a:spcPct val="108000"/>
              </a:lnSpc>
              <a:buNone/>
            </a:pPr>
            <a:r>
              <a:rPr lang="en-US" sz="1200" dirty="0">
                <a:solidFill>
                  <a:srgbClr val="64748B"/>
                </a:solidFill>
                <a:latin typeface="Aptos" pitchFamily="34" charset="0"/>
                <a:cs typeface="Aptos" pitchFamily="34" charset="0"/>
              </a:rPr>
              <a:t>60 Seconds is a new venture from an experienced team in the financial space, building a platform for Quebec and Ontario SMBs to pay vendors, with payroll to follow. Targeting launch by end of 2026 with MSB registration in progress, it projects 1,000 to 2,000 clients and rapid transaction growth, exactly the curve that needs embedded payment infrastructure from day one.</a:t>
            </a:r>
          </a:p>
        </p:txBody>
      </p:sp>
      <p:sp>
        <p:nvSpPr>
          <p:cNvPr id="7" name="Shape 5"/>
          <p:cNvSpPr/>
          <p:nvPr/>
        </p:nvSpPr>
        <p:spPr>
          <a:xfrm>
            <a:off x="640080" y="2743200"/>
            <a:ext cx="457200" cy="54864"/>
          </a:xfrm>
          <a:prstGeom prst="rect">
            <a:avLst/>
          </a:prstGeom>
          <a:solidFill>
            <a:srgbClr val="2563EB"/>
          </a:solidFill>
          <a:ln/>
        </p:spPr>
        <p:txBody>
          <a:bodyPr/>
          <a:lstStyle/>
          <a:p>
            <a:endParaRPr lang="en-US"/>
          </a:p>
        </p:txBody>
      </p:sp>
      <p:sp>
        <p:nvSpPr>
          <p:cNvPr id="8" name="Text 6"/>
          <p:cNvSpPr/>
          <p:nvPr/>
        </p:nvSpPr>
        <p:spPr>
          <a:xfrm>
            <a:off x="621792" y="2944368"/>
            <a:ext cx="3210458" cy="731520"/>
          </a:xfrm>
          <a:prstGeom prst="rect">
            <a:avLst/>
          </a:prstGeom>
          <a:noFill/>
          <a:ln/>
        </p:spPr>
        <p:txBody>
          <a:bodyPr wrap="square" lIns="0" tIns="0" rIns="0" bIns="0" rtlCol="0" anchor="ctr"/>
          <a:lstStyle/>
          <a:p>
            <a:pPr marL="0" indent="0">
              <a:buNone/>
            </a:pPr>
            <a:r>
              <a:rPr lang="en-US" sz="4600" b="1" dirty="0">
                <a:solidFill>
                  <a:srgbClr val="0B1437"/>
                </a:solidFill>
                <a:latin typeface="Aptos Display" pitchFamily="34" charset="0"/>
                <a:ea typeface="Aptos Display" pitchFamily="34" charset="-122"/>
                <a:cs typeface="Aptos Display" pitchFamily="34" charset="-120"/>
              </a:rPr>
              <a:t>2,000</a:t>
            </a:r>
            <a:endParaRPr lang="en-US" sz="4600" dirty="0"/>
          </a:p>
        </p:txBody>
      </p:sp>
      <p:sp>
        <p:nvSpPr>
          <p:cNvPr id="9" name="Text 7"/>
          <p:cNvSpPr/>
          <p:nvPr/>
        </p:nvSpPr>
        <p:spPr>
          <a:xfrm>
            <a:off x="640080" y="3767328"/>
            <a:ext cx="3210458" cy="237744"/>
          </a:xfrm>
          <a:prstGeom prst="rect">
            <a:avLst/>
          </a:prstGeom>
          <a:noFill/>
          <a:ln/>
        </p:spPr>
        <p:txBody>
          <a:bodyPr wrap="square" rtlCol="0" anchor="ctr"/>
          <a:lstStyle/>
          <a:p>
            <a:pPr marL="0" indent="0">
              <a:buNone/>
            </a:pPr>
            <a:r>
              <a:rPr lang="en-US" sz="900" kern="0" spc="150" dirty="0">
                <a:solidFill>
                  <a:srgbClr val="64748B"/>
                </a:solidFill>
                <a:latin typeface="JetBrains Mono" pitchFamily="34" charset="0"/>
                <a:ea typeface="JetBrains Mono" pitchFamily="34" charset="-122"/>
                <a:cs typeface="JetBrains Mono" pitchFamily="34" charset="-120"/>
              </a:rPr>
              <a:t>SMB CLIENTS</a:t>
            </a:r>
            <a:endParaRPr lang="en-US" sz="900" dirty="0"/>
          </a:p>
        </p:txBody>
      </p:sp>
      <p:sp>
        <p:nvSpPr>
          <p:cNvPr id="10" name="Text 8"/>
          <p:cNvSpPr/>
          <p:nvPr/>
        </p:nvSpPr>
        <p:spPr>
          <a:xfrm>
            <a:off x="640080" y="4041648"/>
            <a:ext cx="3210458" cy="320040"/>
          </a:xfrm>
          <a:prstGeom prst="rect">
            <a:avLst/>
          </a:prstGeom>
          <a:noFill/>
          <a:ln/>
        </p:spPr>
        <p:txBody>
          <a:bodyPr wrap="square" lIns="0" tIns="0" rIns="0" bIns="0" rtlCol="0" anchor="ctr"/>
          <a:lstStyle/>
          <a:p>
            <a:pPr marL="0" indent="0">
              <a:buNone/>
            </a:pPr>
            <a:r>
              <a:rPr lang="en-US" sz="1600" b="1" dirty="0">
                <a:solidFill>
                  <a:srgbClr val="2563EB"/>
                </a:solidFill>
                <a:latin typeface="Aptos Display" pitchFamily="34" charset="0"/>
                <a:ea typeface="Aptos Display" pitchFamily="34" charset="-122"/>
                <a:cs typeface="Aptos Display" pitchFamily="34" charset="-120"/>
              </a:rPr>
              <a:t>Onboarded by 2027</a:t>
            </a:r>
            <a:endParaRPr lang="en-US" sz="1600" dirty="0"/>
          </a:p>
        </p:txBody>
      </p:sp>
      <p:sp>
        <p:nvSpPr>
          <p:cNvPr id="11" name="Text 9"/>
          <p:cNvSpPr/>
          <p:nvPr/>
        </p:nvSpPr>
        <p:spPr>
          <a:xfrm>
            <a:off x="640080" y="4407408"/>
            <a:ext cx="3027578" cy="914400"/>
          </a:xfrm>
          <a:prstGeom prst="rect">
            <a:avLst/>
          </a:prstGeom>
          <a:noFill/>
          <a:ln/>
        </p:spPr>
        <p:txBody>
          <a:bodyPr wrap="square" lIns="0" tIns="0" rIns="0" bIns="0" rtlCol="0" anchor="t"/>
          <a:lstStyle/>
          <a:p>
            <a:pPr marL="0" indent="0">
              <a:lnSpc>
                <a:spcPts val="1650"/>
              </a:lnSpc>
              <a:buNone/>
            </a:pPr>
            <a:r>
              <a:rPr lang="en-US" sz="1200" dirty="0">
                <a:solidFill>
                  <a:srgbClr val="64748B"/>
                </a:solidFill>
                <a:latin typeface="Aptos" pitchFamily="34" charset="0"/>
                <a:ea typeface="Aptos" pitchFamily="34" charset="-122"/>
                <a:cs typeface="Aptos" pitchFamily="34" charset="-120"/>
              </a:rPr>
              <a:t>From 1,000 to 2,000 Quebec and Ontario SMBs, each running 20 to 80 payments a month.</a:t>
            </a:r>
            <a:endParaRPr lang="en-US" sz="1200" dirty="0"/>
          </a:p>
        </p:txBody>
      </p:sp>
      <p:sp>
        <p:nvSpPr>
          <p:cNvPr id="12" name="Shape 10"/>
          <p:cNvSpPr/>
          <p:nvPr/>
        </p:nvSpPr>
        <p:spPr>
          <a:xfrm>
            <a:off x="4170578" y="2834640"/>
            <a:ext cx="0" cy="2194560"/>
          </a:xfrm>
          <a:prstGeom prst="line">
            <a:avLst/>
          </a:prstGeom>
          <a:noFill/>
          <a:ln w="12700">
            <a:solidFill>
              <a:srgbClr val="E6EBF2"/>
            </a:solidFill>
            <a:prstDash val="solid"/>
          </a:ln>
        </p:spPr>
        <p:txBody>
          <a:bodyPr/>
          <a:lstStyle/>
          <a:p>
            <a:endParaRPr lang="en-US"/>
          </a:p>
        </p:txBody>
      </p:sp>
      <p:sp>
        <p:nvSpPr>
          <p:cNvPr id="13" name="Shape 11"/>
          <p:cNvSpPr/>
          <p:nvPr/>
        </p:nvSpPr>
        <p:spPr>
          <a:xfrm>
            <a:off x="4490618" y="2743200"/>
            <a:ext cx="457200" cy="54864"/>
          </a:xfrm>
          <a:prstGeom prst="rect">
            <a:avLst/>
          </a:prstGeom>
          <a:solidFill>
            <a:srgbClr val="2563EB"/>
          </a:solidFill>
          <a:ln/>
        </p:spPr>
        <p:txBody>
          <a:bodyPr/>
          <a:lstStyle/>
          <a:p>
            <a:endParaRPr lang="en-US"/>
          </a:p>
        </p:txBody>
      </p:sp>
      <p:sp>
        <p:nvSpPr>
          <p:cNvPr id="14" name="Text 12"/>
          <p:cNvSpPr/>
          <p:nvPr/>
        </p:nvSpPr>
        <p:spPr>
          <a:xfrm>
            <a:off x="4472330" y="2944368"/>
            <a:ext cx="3210458" cy="731520"/>
          </a:xfrm>
          <a:prstGeom prst="rect">
            <a:avLst/>
          </a:prstGeom>
          <a:noFill/>
          <a:ln/>
        </p:spPr>
        <p:txBody>
          <a:bodyPr wrap="square" lIns="0" tIns="0" rIns="0" bIns="0" rtlCol="0" anchor="ctr"/>
          <a:lstStyle/>
          <a:p>
            <a:pPr marL="0" indent="0">
              <a:buNone/>
            </a:pPr>
            <a:r>
              <a:rPr lang="en-US" sz="4600" b="1" dirty="0">
                <a:solidFill>
                  <a:srgbClr val="0B1437"/>
                </a:solidFill>
                <a:latin typeface="Aptos Display" pitchFamily="34" charset="0"/>
                <a:ea typeface="Aptos Display" pitchFamily="34" charset="-122"/>
                <a:cs typeface="Aptos Display" pitchFamily="34" charset="-120"/>
              </a:rPr>
              <a:t>350K</a:t>
            </a:r>
            <a:endParaRPr lang="en-US" sz="4600" dirty="0"/>
          </a:p>
        </p:txBody>
      </p:sp>
      <p:sp>
        <p:nvSpPr>
          <p:cNvPr id="15" name="Text 13"/>
          <p:cNvSpPr/>
          <p:nvPr/>
        </p:nvSpPr>
        <p:spPr>
          <a:xfrm>
            <a:off x="4490618" y="3767328"/>
            <a:ext cx="3210458" cy="237744"/>
          </a:xfrm>
          <a:prstGeom prst="rect">
            <a:avLst/>
          </a:prstGeom>
          <a:noFill/>
          <a:ln/>
        </p:spPr>
        <p:txBody>
          <a:bodyPr wrap="square" rtlCol="0" anchor="ctr"/>
          <a:lstStyle/>
          <a:p>
            <a:pPr marL="0" indent="0">
              <a:buNone/>
            </a:pPr>
            <a:r>
              <a:rPr lang="en-US" sz="900" kern="0" spc="150" dirty="0">
                <a:solidFill>
                  <a:srgbClr val="64748B"/>
                </a:solidFill>
                <a:latin typeface="JetBrains Mono" pitchFamily="34" charset="0"/>
                <a:ea typeface="JetBrains Mono" pitchFamily="34" charset="-122"/>
                <a:cs typeface="JetBrains Mono" pitchFamily="34" charset="-120"/>
              </a:rPr>
              <a:t>TXNS / MONTH</a:t>
            </a:r>
            <a:endParaRPr lang="en-US" sz="900" dirty="0"/>
          </a:p>
        </p:txBody>
      </p:sp>
      <p:sp>
        <p:nvSpPr>
          <p:cNvPr id="16" name="Text 14"/>
          <p:cNvSpPr/>
          <p:nvPr/>
        </p:nvSpPr>
        <p:spPr>
          <a:xfrm>
            <a:off x="4490618" y="4041648"/>
            <a:ext cx="3210458" cy="320040"/>
          </a:xfrm>
          <a:prstGeom prst="rect">
            <a:avLst/>
          </a:prstGeom>
          <a:noFill/>
          <a:ln/>
        </p:spPr>
        <p:txBody>
          <a:bodyPr wrap="square" lIns="0" tIns="0" rIns="0" bIns="0" rtlCol="0" anchor="ctr"/>
          <a:lstStyle/>
          <a:p>
            <a:pPr marL="0" indent="0">
              <a:buNone/>
            </a:pPr>
            <a:r>
              <a:rPr lang="en-US" sz="1600" b="1" dirty="0">
                <a:solidFill>
                  <a:srgbClr val="2563EB"/>
                </a:solidFill>
                <a:latin typeface="Aptos Display" pitchFamily="34" charset="0"/>
                <a:ea typeface="Aptos Display" pitchFamily="34" charset="-122"/>
                <a:cs typeface="Aptos Display" pitchFamily="34" charset="-120"/>
              </a:rPr>
              <a:t>By end of 2027</a:t>
            </a:r>
            <a:endParaRPr lang="en-US" sz="1600" dirty="0"/>
          </a:p>
        </p:txBody>
      </p:sp>
      <p:sp>
        <p:nvSpPr>
          <p:cNvPr id="17" name="Text 15"/>
          <p:cNvSpPr/>
          <p:nvPr/>
        </p:nvSpPr>
        <p:spPr>
          <a:xfrm>
            <a:off x="4490618" y="4407408"/>
            <a:ext cx="3027578" cy="914400"/>
          </a:xfrm>
          <a:prstGeom prst="rect">
            <a:avLst/>
          </a:prstGeom>
          <a:noFill/>
          <a:ln/>
        </p:spPr>
        <p:txBody>
          <a:bodyPr wrap="square" lIns="0" tIns="0" rIns="0" bIns="0" rtlCol="0" anchor="t"/>
          <a:lstStyle/>
          <a:p>
            <a:pPr marL="0" indent="0">
              <a:lnSpc>
                <a:spcPts val="1650"/>
              </a:lnSpc>
              <a:buNone/>
            </a:pPr>
            <a:r>
              <a:rPr lang="en-US" sz="1200" dirty="0">
                <a:solidFill>
                  <a:srgbClr val="64748B"/>
                </a:solidFill>
                <a:latin typeface="Aptos" pitchFamily="34" charset="0"/>
                <a:ea typeface="Aptos" pitchFamily="34" charset="-122"/>
                <a:cs typeface="Aptos" pitchFamily="34" charset="-120"/>
              </a:rPr>
              <a:t>Monthly transaction volume as clients ramp, from a launch base of 20K to 160K.</a:t>
            </a:r>
            <a:endParaRPr lang="en-US" sz="1200" dirty="0"/>
          </a:p>
        </p:txBody>
      </p:sp>
      <p:sp>
        <p:nvSpPr>
          <p:cNvPr id="18" name="Shape 16"/>
          <p:cNvSpPr/>
          <p:nvPr/>
        </p:nvSpPr>
        <p:spPr>
          <a:xfrm>
            <a:off x="8021117" y="2834640"/>
            <a:ext cx="0" cy="2194560"/>
          </a:xfrm>
          <a:prstGeom prst="line">
            <a:avLst/>
          </a:prstGeom>
          <a:noFill/>
          <a:ln w="12700">
            <a:solidFill>
              <a:srgbClr val="E6EBF2"/>
            </a:solidFill>
            <a:prstDash val="solid"/>
          </a:ln>
        </p:spPr>
        <p:txBody>
          <a:bodyPr/>
          <a:lstStyle/>
          <a:p>
            <a:endParaRPr lang="en-US"/>
          </a:p>
        </p:txBody>
      </p:sp>
      <p:sp>
        <p:nvSpPr>
          <p:cNvPr id="19" name="Shape 17"/>
          <p:cNvSpPr/>
          <p:nvPr/>
        </p:nvSpPr>
        <p:spPr>
          <a:xfrm>
            <a:off x="8341157" y="2743200"/>
            <a:ext cx="457200" cy="54864"/>
          </a:xfrm>
          <a:prstGeom prst="rect">
            <a:avLst/>
          </a:prstGeom>
          <a:solidFill>
            <a:srgbClr val="2563EB"/>
          </a:solidFill>
          <a:ln/>
        </p:spPr>
        <p:txBody>
          <a:bodyPr/>
          <a:lstStyle/>
          <a:p>
            <a:endParaRPr lang="en-US"/>
          </a:p>
        </p:txBody>
      </p:sp>
      <p:sp>
        <p:nvSpPr>
          <p:cNvPr id="20" name="Text 18"/>
          <p:cNvSpPr/>
          <p:nvPr/>
        </p:nvSpPr>
        <p:spPr>
          <a:xfrm>
            <a:off x="8322869" y="2944368"/>
            <a:ext cx="3210458" cy="731520"/>
          </a:xfrm>
          <a:prstGeom prst="rect">
            <a:avLst/>
          </a:prstGeom>
          <a:noFill/>
          <a:ln/>
        </p:spPr>
        <p:txBody>
          <a:bodyPr wrap="square" lIns="0" tIns="0" rIns="0" bIns="0" rtlCol="0" anchor="ctr"/>
          <a:lstStyle/>
          <a:p>
            <a:pPr marL="0" indent="0">
              <a:buNone/>
            </a:pPr>
            <a:r>
              <a:rPr lang="en-US" sz="4600" b="1" dirty="0">
                <a:solidFill>
                  <a:srgbClr val="0B1437"/>
                </a:solidFill>
                <a:latin typeface="Aptos Display" pitchFamily="34" charset="0"/>
                <a:ea typeface="Aptos Display" pitchFamily="34" charset="-122"/>
                <a:cs typeface="Aptos Display" pitchFamily="34" charset="-120"/>
              </a:rPr>
              <a:t>3×</a:t>
            </a:r>
            <a:endParaRPr lang="en-US" sz="4600" dirty="0"/>
          </a:p>
        </p:txBody>
      </p:sp>
      <p:sp>
        <p:nvSpPr>
          <p:cNvPr id="21" name="Text 19"/>
          <p:cNvSpPr/>
          <p:nvPr/>
        </p:nvSpPr>
        <p:spPr>
          <a:xfrm>
            <a:off x="8341157" y="3767328"/>
            <a:ext cx="3210458" cy="237744"/>
          </a:xfrm>
          <a:prstGeom prst="rect">
            <a:avLst/>
          </a:prstGeom>
          <a:noFill/>
          <a:ln/>
        </p:spPr>
        <p:txBody>
          <a:bodyPr wrap="square" rtlCol="0" anchor="ctr"/>
          <a:lstStyle/>
          <a:p>
            <a:pPr marL="0" indent="0">
              <a:buNone/>
            </a:pPr>
            <a:r>
              <a:rPr lang="en-US" sz="900" kern="0" spc="150" dirty="0">
                <a:solidFill>
                  <a:srgbClr val="64748B"/>
                </a:solidFill>
                <a:latin typeface="JetBrains Mono" pitchFamily="34" charset="0"/>
                <a:ea typeface="JetBrains Mono" pitchFamily="34" charset="-122"/>
                <a:cs typeface="JetBrains Mono" pitchFamily="34" charset="-120"/>
              </a:rPr>
              <a:t>WITH PAYROLL</a:t>
            </a:r>
            <a:endParaRPr lang="en-US" sz="900" dirty="0"/>
          </a:p>
        </p:txBody>
      </p:sp>
      <p:sp>
        <p:nvSpPr>
          <p:cNvPr id="22" name="Text 20"/>
          <p:cNvSpPr/>
          <p:nvPr/>
        </p:nvSpPr>
        <p:spPr>
          <a:xfrm>
            <a:off x="8341157" y="4041648"/>
            <a:ext cx="3210458" cy="320040"/>
          </a:xfrm>
          <a:prstGeom prst="rect">
            <a:avLst/>
          </a:prstGeom>
          <a:noFill/>
          <a:ln/>
        </p:spPr>
        <p:txBody>
          <a:bodyPr wrap="square" lIns="0" tIns="0" rIns="0" bIns="0" rtlCol="0" anchor="ctr"/>
          <a:lstStyle/>
          <a:p>
            <a:pPr marL="0" indent="0">
              <a:buNone/>
            </a:pPr>
            <a:r>
              <a:rPr lang="en-US" sz="1600" b="1" dirty="0">
                <a:solidFill>
                  <a:srgbClr val="2563EB"/>
                </a:solidFill>
                <a:latin typeface="Aptos Display" pitchFamily="34" charset="0"/>
                <a:ea typeface="Aptos Display" pitchFamily="34" charset="-122"/>
                <a:cs typeface="Aptos Display" pitchFamily="34" charset="-120"/>
              </a:rPr>
              <a:t>Volume multiplier</a:t>
            </a:r>
            <a:endParaRPr lang="en-US" sz="1600" dirty="0"/>
          </a:p>
        </p:txBody>
      </p:sp>
      <p:sp>
        <p:nvSpPr>
          <p:cNvPr id="23" name="Text 21"/>
          <p:cNvSpPr/>
          <p:nvPr/>
        </p:nvSpPr>
        <p:spPr>
          <a:xfrm>
            <a:off x="8341157" y="4407408"/>
            <a:ext cx="3027578" cy="914400"/>
          </a:xfrm>
          <a:prstGeom prst="rect">
            <a:avLst/>
          </a:prstGeom>
          <a:noFill/>
          <a:ln/>
        </p:spPr>
        <p:txBody>
          <a:bodyPr wrap="square" lIns="0" tIns="0" rIns="0" bIns="0" rtlCol="0" anchor="t"/>
          <a:lstStyle/>
          <a:p>
            <a:pPr marL="0" indent="0">
              <a:lnSpc>
                <a:spcPts val="1650"/>
              </a:lnSpc>
              <a:buNone/>
            </a:pPr>
            <a:r>
              <a:rPr lang="en-US" sz="1200" dirty="0">
                <a:solidFill>
                  <a:srgbClr val="64748B"/>
                </a:solidFill>
                <a:latin typeface="Aptos" pitchFamily="34" charset="0"/>
                <a:ea typeface="Aptos" pitchFamily="34" charset="-122"/>
                <a:cs typeface="Aptos" pitchFamily="34" charset="-120"/>
              </a:rPr>
              <a:t>Adding payroll about six months post-launch roughly triples transaction volume.</a:t>
            </a:r>
            <a:endParaRPr lang="en-US" sz="1200" dirty="0"/>
          </a:p>
        </p:txBody>
      </p:sp>
      <p:sp>
        <p:nvSpPr>
          <p:cNvPr id="24" name="Text 22"/>
          <p:cNvSpPr/>
          <p:nvPr/>
        </p:nvSpPr>
        <p:spPr>
          <a:xfrm>
            <a:off x="640080" y="5532120"/>
            <a:ext cx="10911535" cy="274320"/>
          </a:xfrm>
          <a:prstGeom prst="rect">
            <a:avLst/>
          </a:prstGeom>
          <a:noFill/>
          <a:ln/>
        </p:spPr>
        <p:txBody>
          <a:bodyPr wrap="square" rtlCol="0" anchor="ctr"/>
          <a:lstStyle/>
          <a:p>
            <a:pPr marL="0" indent="0">
              <a:buNone/>
            </a:pPr>
            <a:r>
              <a:rPr lang="en-US" sz="950" i="1" dirty="0">
                <a:solidFill>
                  <a:srgbClr val="94A3B8"/>
                </a:solidFill>
                <a:latin typeface="Aptos" pitchFamily="34" charset="0"/>
                <a:ea typeface="Aptos" pitchFamily="34" charset="-122"/>
                <a:cs typeface="Aptos" pitchFamily="34" charset="-120"/>
              </a:rPr>
              <a:t>Source: 60 Seconds, June 2026.</a:t>
            </a:r>
            <a:endParaRPr lang="en-US" sz="950" dirty="0"/>
          </a:p>
        </p:txBody>
      </p:sp>
      <p:sp>
        <p:nvSpPr>
          <p:cNvPr id="25" name="Text 23"/>
          <p:cNvSpPr/>
          <p:nvPr/>
        </p:nvSpPr>
        <p:spPr>
          <a:xfrm>
            <a:off x="640080" y="6455664"/>
            <a:ext cx="9144000" cy="274320"/>
          </a:xfrm>
          <a:prstGeom prst="rect">
            <a:avLst/>
          </a:prstGeom>
          <a:noFill/>
          <a:ln/>
        </p:spPr>
        <p:txBody>
          <a:bodyPr wrap="square" rtlCol="0" anchor="ctr"/>
          <a:lstStyle/>
          <a:p>
            <a:pPr marL="0" indent="0">
              <a:buNone/>
            </a:pPr>
            <a:r>
              <a:rPr lang="en-US" sz="750" kern="0" spc="180" dirty="0">
                <a:solidFill>
                  <a:srgbClr val="94A3B8"/>
                </a:solidFill>
                <a:latin typeface="JetBrains Mono" pitchFamily="34" charset="0"/>
                <a:ea typeface="JetBrains Mono" pitchFamily="34" charset="-122"/>
                <a:cs typeface="JetBrains Mono" pitchFamily="34" charset="-120"/>
              </a:rPr>
              <a:t>DREAM PAYMENTS  ·  BUSINESS PAYMENT HUB  ·  COMMERCIAL PROPOSAL</a:t>
            </a:r>
            <a:endParaRPr lang="en-US" sz="750" dirty="0"/>
          </a:p>
        </p:txBody>
      </p:sp>
      <p:sp>
        <p:nvSpPr>
          <p:cNvPr id="26" name="Text 24"/>
          <p:cNvSpPr/>
          <p:nvPr/>
        </p:nvSpPr>
        <p:spPr>
          <a:xfrm>
            <a:off x="10637215" y="6455664"/>
            <a:ext cx="914400" cy="274320"/>
          </a:xfrm>
          <a:prstGeom prst="rect">
            <a:avLst/>
          </a:prstGeom>
          <a:noFill/>
          <a:ln/>
        </p:spPr>
        <p:txBody>
          <a:bodyPr wrap="square" rtlCol="0" anchor="ctr"/>
          <a:lstStyle/>
          <a:p>
            <a:pPr marL="0" indent="0" algn="r">
              <a:buNone/>
            </a:pPr>
            <a:r>
              <a:rPr lang="en-US" sz="800" b="1" kern="0" spc="150" dirty="0">
                <a:solidFill>
                  <a:srgbClr val="2563EB"/>
                </a:solidFill>
                <a:latin typeface="JetBrains Mono" pitchFamily="34" charset="0"/>
                <a:ea typeface="JetBrains Mono" pitchFamily="34" charset="-122"/>
                <a:cs typeface="JetBrains Mono"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lstStyle/>
          <a:p>
            <a:pPr marL="0" indent="0">
              <a:buNone/>
            </a:pPr>
            <a:r>
              <a:rPr lang="en-US" sz="1100" b="1" kern="0" spc="300" dirty="0">
                <a:solidFill>
                  <a:srgbClr val="2563EB"/>
                </a:solidFill>
                <a:latin typeface="JetBrains Mono" pitchFamily="34" charset="0"/>
                <a:ea typeface="JetBrains Mono" pitchFamily="34" charset="-122"/>
                <a:cs typeface="JetBrains Mono" pitchFamily="34" charset="-120"/>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lstStyle/>
          <a:p>
            <a:pPr marL="0" indent="0">
              <a:buNone/>
            </a:pPr>
            <a:r>
              <a:rPr lang="en-US" sz="950" kern="0" spc="150" dirty="0">
                <a:solidFill>
                  <a:srgbClr val="64748B"/>
                </a:solidFill>
                <a:latin typeface="JetBrains Mono" pitchFamily="34" charset="0"/>
                <a:ea typeface="JetBrains Mono" pitchFamily="34" charset="-122"/>
                <a:cs typeface="JetBrains Mono" pitchFamily="34" charset="-120"/>
              </a:rPr>
              <a:t>02 · THE FIT</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lstStyle/>
          <a:p>
            <a:pPr marL="0" indent="0">
              <a:buNone/>
            </a:pPr>
            <a:r>
              <a:rPr lang="en-US" sz="2700" b="1" dirty="0">
                <a:solidFill>
                  <a:srgbClr val="0B1437"/>
                </a:solidFill>
                <a:latin typeface="Aptos Display" pitchFamily="34" charset="0"/>
                <a:ea typeface="Aptos Display" pitchFamily="34" charset="-122"/>
                <a:cs typeface="Aptos Display" pitchFamily="34" charset="-120"/>
              </a:rPr>
              <a:t>Where 60 Seconds + Dream fit together.</a:t>
            </a:r>
            <a:endParaRPr lang="en-US" sz="2700" dirty="0"/>
          </a:p>
        </p:txBody>
      </p:sp>
      <p:sp>
        <p:nvSpPr>
          <p:cNvPr id="30" name="Text 26"/>
          <p:cNvSpPr/>
          <p:nvPr/>
        </p:nvSpPr>
        <p:spPr>
          <a:xfrm>
            <a:off x="640080" y="6455664"/>
            <a:ext cx="9144000" cy="274320"/>
          </a:xfrm>
          <a:prstGeom prst="rect">
            <a:avLst/>
          </a:prstGeom>
          <a:noFill/>
          <a:ln/>
        </p:spPr>
        <p:txBody>
          <a:bodyPr wrap="square" rtlCol="0" anchor="ctr"/>
          <a:lstStyle/>
          <a:p>
            <a:pPr marL="0" indent="0">
              <a:buNone/>
            </a:pPr>
            <a:r>
              <a:rPr lang="en-US" sz="750" kern="0" spc="180" dirty="0">
                <a:solidFill>
                  <a:srgbClr val="94A3B8"/>
                </a:solidFill>
                <a:latin typeface="JetBrains Mono" pitchFamily="34" charset="0"/>
                <a:ea typeface="JetBrains Mono" pitchFamily="34" charset="-122"/>
                <a:cs typeface="JetBrains Mono" pitchFamily="34" charset="-120"/>
              </a:rPr>
              <a:t>DREAM PAYMENTS  ·  BUSINESS PAYMENT HUB  ·  COMMERCIAL PROPOSAL</a:t>
            </a:r>
            <a:endParaRPr lang="en-US" sz="750" dirty="0"/>
          </a:p>
        </p:txBody>
      </p:sp>
      <p:sp>
        <p:nvSpPr>
          <p:cNvPr id="31" name="Text 27"/>
          <p:cNvSpPr/>
          <p:nvPr/>
        </p:nvSpPr>
        <p:spPr>
          <a:xfrm>
            <a:off x="10637215" y="6455664"/>
            <a:ext cx="914400" cy="274320"/>
          </a:xfrm>
          <a:prstGeom prst="rect">
            <a:avLst/>
          </a:prstGeom>
          <a:noFill/>
          <a:ln/>
        </p:spPr>
        <p:txBody>
          <a:bodyPr wrap="square" rtlCol="0" anchor="ctr"/>
          <a:lstStyle/>
          <a:p>
            <a:pPr marL="0" indent="0" algn="r">
              <a:buNone/>
            </a:pPr>
            <a:r>
              <a:rPr lang="en-US" sz="800" b="1" kern="0" spc="150" dirty="0">
                <a:solidFill>
                  <a:srgbClr val="2563EB"/>
                </a:solidFill>
                <a:latin typeface="JetBrains Mono" pitchFamily="34" charset="0"/>
                <a:ea typeface="JetBrains Mono" pitchFamily="34" charset="-122"/>
                <a:cs typeface="JetBrains Mono" pitchFamily="34" charset="-120"/>
              </a:rPr>
              <a:t>05</a:t>
            </a:r>
            <a:endParaRPr lang="en-US" sz="800" dirty="0"/>
          </a:p>
        </p:txBody>
      </p:sp>
      <p:sp>
        <p:nvSpPr>
          <p:cNvPr id="727" name="t"/>
          <p:cNvSpPr txBox="1"/>
          <p:nvPr/>
        </p:nvSpPr>
        <p:spPr>
          <a:xfrm>
            <a:off x="640080" y="1874520"/>
            <a:ext cx="10728655" cy="420000"/>
          </a:xfrm>
          <a:prstGeom prst="rect">
            <a:avLst/>
          </a:prstGeom>
          <a:noFill/>
        </p:spPr>
        <p:txBody>
          <a:bodyPr wrap="square" lIns="0" tIns="0" rIns="0" bIns="0" anchor="t"/>
          <a:lstStyle/>
          <a:p>
            <a:pPr algn="l">
              <a:lnSpc>
                <a:spcPct val="108000"/>
              </a:lnSpc>
              <a:buNone/>
            </a:pPr>
            <a:r>
              <a:rPr lang="en-US" sz="1200" dirty="0">
                <a:solidFill>
                  <a:srgbClr val="64748B"/>
                </a:solidFill>
                <a:latin typeface="Aptos" pitchFamily="34" charset="0"/>
                <a:cs typeface="Aptos" pitchFamily="34" charset="0"/>
              </a:rPr>
              <a:t>60 Seconds owns the SMB and vendor relationships; Dream provides the rails, KYC, compliance, and operations behind them, so payments live inside the platform 60 Seconds is building.</a:t>
            </a:r>
          </a:p>
        </p:txBody>
      </p:sp>
      <p:sp>
        <p:nvSpPr>
          <p:cNvPr id="728" name="r"/>
          <p:cNvSpPr/>
          <p:nvPr/>
        </p:nvSpPr>
        <p:spPr>
          <a:xfrm>
            <a:off x="640080" y="2316480"/>
            <a:ext cx="4145280" cy="4000000"/>
          </a:xfrm>
          <a:prstGeom prst="rect">
            <a:avLst/>
          </a:prstGeom>
          <a:solidFill>
            <a:srgbClr val="0F1A3D"/>
          </a:solidFill>
          <a:ln>
            <a:noFill/>
          </a:ln>
        </p:spPr>
        <p:txBody>
          <a:bodyPr/>
          <a:lstStyle/>
          <a:p>
            <a:endParaRPr lang="en-US"/>
          </a:p>
        </p:txBody>
      </p:sp>
      <p:sp>
        <p:nvSpPr>
          <p:cNvPr id="729" name="r"/>
          <p:cNvSpPr/>
          <p:nvPr/>
        </p:nvSpPr>
        <p:spPr>
          <a:xfrm>
            <a:off x="640080" y="2316480"/>
            <a:ext cx="4145280" cy="85344"/>
          </a:xfrm>
          <a:prstGeom prst="rect">
            <a:avLst/>
          </a:prstGeom>
          <a:solidFill>
            <a:srgbClr val="2563EB"/>
          </a:solidFill>
          <a:ln>
            <a:noFill/>
          </a:ln>
        </p:spPr>
        <p:txBody>
          <a:bodyPr/>
          <a:lstStyle/>
          <a:p>
            <a:endParaRPr lang="en-US"/>
          </a:p>
        </p:txBody>
      </p:sp>
      <p:sp>
        <p:nvSpPr>
          <p:cNvPr id="730" name="t"/>
          <p:cNvSpPr txBox="1"/>
          <p:nvPr/>
        </p:nvSpPr>
        <p:spPr>
          <a:xfrm>
            <a:off x="981456" y="2657856"/>
            <a:ext cx="3535680" cy="341376"/>
          </a:xfrm>
          <a:prstGeom prst="rect">
            <a:avLst/>
          </a:prstGeom>
          <a:noFill/>
        </p:spPr>
        <p:txBody>
          <a:bodyPr wrap="square" lIns="0" tIns="0" rIns="0" bIns="0" rtlCol="0" anchor="t"/>
          <a:lstStyle/>
          <a:p>
            <a:pPr algn="l">
              <a:buNone/>
            </a:pPr>
            <a:r>
              <a:rPr lang="en-US" sz="1200" b="1" spc="267" dirty="0">
                <a:solidFill>
                  <a:srgbClr val="2563EB"/>
                </a:solidFill>
                <a:latin typeface="Aptos" pitchFamily="34" charset="0"/>
                <a:cs typeface="Aptos" pitchFamily="34" charset="0"/>
              </a:rPr>
              <a:t>THE MODEL</a:t>
            </a:r>
          </a:p>
        </p:txBody>
      </p:sp>
      <p:sp>
        <p:nvSpPr>
          <p:cNvPr id="731" name="t"/>
          <p:cNvSpPr txBox="1"/>
          <p:nvPr/>
        </p:nvSpPr>
        <p:spPr>
          <a:xfrm>
            <a:off x="981456" y="3048000"/>
            <a:ext cx="3535680" cy="1150000"/>
          </a:xfrm>
          <a:prstGeom prst="rect">
            <a:avLst/>
          </a:prstGeom>
          <a:noFill/>
        </p:spPr>
        <p:txBody>
          <a:bodyPr wrap="square" lIns="0" tIns="0" rIns="0" bIns="0" rtlCol="0" anchor="t"/>
          <a:lstStyle/>
          <a:p>
            <a:pPr algn="l">
              <a:lnSpc>
                <a:spcPct val="106000"/>
              </a:lnSpc>
              <a:buNone/>
            </a:pPr>
            <a:r>
              <a:rPr lang="en-US" sz="2000" b="1" spc="-40" dirty="0">
                <a:solidFill>
                  <a:srgbClr val="FFFFFF"/>
                </a:solidFill>
                <a:latin typeface="Aptos Display" pitchFamily="34" charset="0"/>
                <a:cs typeface="Aptos Display" pitchFamily="34" charset="0"/>
              </a:rPr>
              <a:t>60 Seconds owns the customer. Dream owns the rails.</a:t>
            </a:r>
          </a:p>
        </p:txBody>
      </p:sp>
      <p:sp>
        <p:nvSpPr>
          <p:cNvPr id="732" name="b"/>
          <p:cNvSpPr txBox="1"/>
          <p:nvPr/>
        </p:nvSpPr>
        <p:spPr>
          <a:xfrm>
            <a:off x="981456" y="4320000"/>
            <a:ext cx="3535680" cy="1850000"/>
          </a:xfrm>
          <a:prstGeom prst="rect">
            <a:avLst/>
          </a:prstGeom>
          <a:noFill/>
        </p:spPr>
        <p:txBody>
          <a:bodyPr wrap="square" lIns="0" tIns="0" rIns="0" bIns="0" anchor="t"/>
          <a:lstStyle/>
          <a:p>
            <a:pPr marL="251460" indent="-251460">
              <a:lnSpc>
                <a:spcPct val="108000"/>
              </a:lnSpc>
              <a:spcBef>
                <a:spcPts val="600"/>
              </a:spcBef>
              <a:buClr>
                <a:srgbClr val="2563EB"/>
              </a:buClr>
              <a:buFont typeface="Arial"/>
              <a:buChar char="▪"/>
            </a:pPr>
            <a:r>
              <a:rPr lang="en-US" sz="1300" dirty="0">
                <a:solidFill>
                  <a:srgbClr val="FFFFFF"/>
                </a:solidFill>
                <a:latin typeface="Aptos" pitchFamily="34" charset="0"/>
              </a:rPr>
              <a:t>60 Seconds owns the SMB and vendor relationships across Quebec and Ontario.</a:t>
            </a:r>
          </a:p>
          <a:p>
            <a:pPr marL="251460" indent="-251460">
              <a:lnSpc>
                <a:spcPct val="108000"/>
              </a:lnSpc>
              <a:spcBef>
                <a:spcPts val="600"/>
              </a:spcBef>
              <a:buClr>
                <a:srgbClr val="2563EB"/>
              </a:buClr>
              <a:buFont typeface="Arial"/>
              <a:buChar char="▪"/>
            </a:pPr>
            <a:r>
              <a:rPr lang="en-US" sz="1300" dirty="0">
                <a:solidFill>
                  <a:srgbClr val="FFFFFF"/>
                </a:solidFill>
                <a:latin typeface="Aptos" pitchFamily="34" charset="0"/>
              </a:rPr>
              <a:t>Dream provides the rails, KYC, compliance, and payment operations.</a:t>
            </a:r>
          </a:p>
          <a:p>
            <a:pPr marL="251460" indent="-251460">
              <a:lnSpc>
                <a:spcPct val="108000"/>
              </a:lnSpc>
              <a:spcBef>
                <a:spcPts val="600"/>
              </a:spcBef>
              <a:buClr>
                <a:srgbClr val="2563EB"/>
              </a:buClr>
              <a:buFont typeface="Arial"/>
              <a:buChar char="▪"/>
            </a:pPr>
            <a:r>
              <a:rPr lang="en-US" sz="1300" dirty="0">
                <a:solidFill>
                  <a:srgbClr val="FFFFFF"/>
                </a:solidFill>
                <a:latin typeface="Aptos" pitchFamily="34" charset="0"/>
              </a:rPr>
              <a:t>Together, embedded payments inside the platform 60 Seconds is building.</a:t>
            </a:r>
          </a:p>
        </p:txBody>
      </p:sp>
      <p:sp>
        <p:nvSpPr>
          <p:cNvPr id="733" name="r"/>
          <p:cNvSpPr/>
          <p:nvPr/>
        </p:nvSpPr>
        <p:spPr>
          <a:xfrm>
            <a:off x="5059680" y="2316480"/>
            <a:ext cx="3111855" cy="1950720"/>
          </a:xfrm>
          <a:prstGeom prst="rect">
            <a:avLst/>
          </a:prstGeom>
          <a:solidFill>
            <a:srgbClr val="F8FAFC"/>
          </a:solidFill>
          <a:ln w="9525">
            <a:solidFill>
              <a:srgbClr val="E2E8F0"/>
            </a:solidFill>
            <a:prstDash val="solid"/>
          </a:ln>
        </p:spPr>
        <p:txBody>
          <a:bodyPr/>
          <a:lstStyle/>
          <a:p>
            <a:endParaRPr lang="en-US"/>
          </a:p>
        </p:txBody>
      </p:sp>
      <p:sp>
        <p:nvSpPr>
          <p:cNvPr id="734" name="r"/>
          <p:cNvSpPr/>
          <p:nvPr/>
        </p:nvSpPr>
        <p:spPr>
          <a:xfrm>
            <a:off x="5059680" y="2316480"/>
            <a:ext cx="3111855" cy="73152"/>
          </a:xfrm>
          <a:prstGeom prst="rect">
            <a:avLst/>
          </a:prstGeom>
          <a:solidFill>
            <a:srgbClr val="2563EB"/>
          </a:solidFill>
          <a:ln>
            <a:noFill/>
          </a:ln>
        </p:spPr>
        <p:txBody>
          <a:bodyPr/>
          <a:lstStyle/>
          <a:p>
            <a:endParaRPr lang="en-US"/>
          </a:p>
        </p:txBody>
      </p:sp>
      <p:pic>
        <p:nvPicPr>
          <p:cNvPr id="735" name="icon"/>
          <p:cNvPicPr>
            <a:picLocks noChangeAspect="1"/>
          </p:cNvPicPr>
          <p:nvPr/>
        </p:nvPicPr>
        <p:blipFill>
          <a:blip r:embed="rId3"/>
          <a:stretch>
            <a:fillRect/>
          </a:stretch>
        </p:blipFill>
        <p:spPr>
          <a:xfrm>
            <a:off x="5376672" y="2609088"/>
            <a:ext cx="390144" cy="390144"/>
          </a:xfrm>
          <a:prstGeom prst="rect">
            <a:avLst/>
          </a:prstGeom>
        </p:spPr>
      </p:pic>
      <p:sp>
        <p:nvSpPr>
          <p:cNvPr id="736" name="t"/>
          <p:cNvSpPr txBox="1"/>
          <p:nvPr/>
        </p:nvSpPr>
        <p:spPr>
          <a:xfrm>
            <a:off x="5376672" y="3048000"/>
            <a:ext cx="2661855" cy="365760"/>
          </a:xfrm>
          <a:prstGeom prst="rect">
            <a:avLst/>
          </a:prstGeom>
          <a:noFill/>
        </p:spPr>
        <p:txBody>
          <a:bodyPr wrap="square" lIns="0" tIns="0" rIns="0" bIns="0" rtlCol="0" anchor="t"/>
          <a:lstStyle/>
          <a:p>
            <a:pPr algn="l">
              <a:buNone/>
            </a:pPr>
            <a:r>
              <a:rPr lang="en-US" sz="1600" b="1" spc="-40" dirty="0">
                <a:solidFill>
                  <a:srgbClr val="0B1437"/>
                </a:solidFill>
                <a:latin typeface="Aptos Display" pitchFamily="34" charset="0"/>
                <a:cs typeface="Aptos Display" pitchFamily="34" charset="0"/>
              </a:rPr>
              <a:t>What 60 Seconds brings</a:t>
            </a:r>
          </a:p>
        </p:txBody>
      </p:sp>
      <p:sp>
        <p:nvSpPr>
          <p:cNvPr id="737" name="t"/>
          <p:cNvSpPr txBox="1"/>
          <p:nvPr/>
        </p:nvSpPr>
        <p:spPr>
          <a:xfrm>
            <a:off x="5376672" y="3474720"/>
            <a:ext cx="2641855" cy="700000"/>
          </a:xfrm>
          <a:prstGeom prst="rect">
            <a:avLst/>
          </a:prstGeom>
          <a:noFill/>
        </p:spPr>
        <p:txBody>
          <a:bodyPr wrap="square" lIns="0" tIns="0" rIns="0" bIns="0" rtlCol="0" anchor="t"/>
          <a:lstStyle/>
          <a:p>
            <a:pPr algn="l">
              <a:lnSpc>
                <a:spcPct val="106000"/>
              </a:lnSpc>
              <a:buNone/>
            </a:pPr>
            <a:r>
              <a:rPr lang="en-US" sz="1200" dirty="0">
                <a:solidFill>
                  <a:srgbClr val="64748B"/>
                </a:solidFill>
                <a:latin typeface="Aptos" pitchFamily="34" charset="0"/>
                <a:cs typeface="Aptos" pitchFamily="34" charset="0"/>
              </a:rPr>
              <a:t>SMB and vendor relationships across Quebec and Ontario, bilingual service, with an MSB registration underway.</a:t>
            </a:r>
          </a:p>
        </p:txBody>
      </p:sp>
      <p:sp>
        <p:nvSpPr>
          <p:cNvPr id="738" name="r"/>
          <p:cNvSpPr/>
          <p:nvPr/>
        </p:nvSpPr>
        <p:spPr>
          <a:xfrm>
            <a:off x="8439759" y="2316480"/>
            <a:ext cx="3111855" cy="1950720"/>
          </a:xfrm>
          <a:prstGeom prst="rect">
            <a:avLst/>
          </a:prstGeom>
          <a:solidFill>
            <a:srgbClr val="F8FAFC"/>
          </a:solidFill>
          <a:ln w="9525">
            <a:solidFill>
              <a:srgbClr val="E2E8F0"/>
            </a:solidFill>
            <a:prstDash val="solid"/>
          </a:ln>
        </p:spPr>
        <p:txBody>
          <a:bodyPr/>
          <a:lstStyle/>
          <a:p>
            <a:endParaRPr lang="en-US"/>
          </a:p>
        </p:txBody>
      </p:sp>
      <p:sp>
        <p:nvSpPr>
          <p:cNvPr id="739" name="r"/>
          <p:cNvSpPr/>
          <p:nvPr/>
        </p:nvSpPr>
        <p:spPr>
          <a:xfrm>
            <a:off x="8439759" y="2316480"/>
            <a:ext cx="3111855" cy="73152"/>
          </a:xfrm>
          <a:prstGeom prst="rect">
            <a:avLst/>
          </a:prstGeom>
          <a:solidFill>
            <a:srgbClr val="2563EB"/>
          </a:solidFill>
          <a:ln>
            <a:noFill/>
          </a:ln>
        </p:spPr>
        <p:txBody>
          <a:bodyPr/>
          <a:lstStyle/>
          <a:p>
            <a:endParaRPr lang="en-US"/>
          </a:p>
        </p:txBody>
      </p:sp>
      <p:pic>
        <p:nvPicPr>
          <p:cNvPr id="740" name="icon"/>
          <p:cNvPicPr>
            <a:picLocks noChangeAspect="1"/>
          </p:cNvPicPr>
          <p:nvPr/>
        </p:nvPicPr>
        <p:blipFill>
          <a:blip r:embed="rId4"/>
          <a:stretch>
            <a:fillRect/>
          </a:stretch>
        </p:blipFill>
        <p:spPr>
          <a:xfrm>
            <a:off x="8756751" y="2609088"/>
            <a:ext cx="390144" cy="390144"/>
          </a:xfrm>
          <a:prstGeom prst="rect">
            <a:avLst/>
          </a:prstGeom>
        </p:spPr>
      </p:pic>
      <p:sp>
        <p:nvSpPr>
          <p:cNvPr id="741" name="t"/>
          <p:cNvSpPr txBox="1"/>
          <p:nvPr/>
        </p:nvSpPr>
        <p:spPr>
          <a:xfrm>
            <a:off x="8756751" y="3048000"/>
            <a:ext cx="2661855" cy="365760"/>
          </a:xfrm>
          <a:prstGeom prst="rect">
            <a:avLst/>
          </a:prstGeom>
          <a:noFill/>
        </p:spPr>
        <p:txBody>
          <a:bodyPr wrap="square" lIns="0" tIns="0" rIns="0" bIns="0" rtlCol="0" anchor="t"/>
          <a:lstStyle/>
          <a:p>
            <a:pPr algn="l">
              <a:buNone/>
            </a:pPr>
            <a:r>
              <a:rPr lang="en-US" sz="1600" b="1" spc="-40" dirty="0">
                <a:solidFill>
                  <a:srgbClr val="0B1437"/>
                </a:solidFill>
                <a:latin typeface="Aptos Display" pitchFamily="34" charset="0"/>
                <a:cs typeface="Aptos Display" pitchFamily="34" charset="0"/>
              </a:rPr>
              <a:t>What Dream brings</a:t>
            </a:r>
          </a:p>
        </p:txBody>
      </p:sp>
      <p:sp>
        <p:nvSpPr>
          <p:cNvPr id="742" name="t"/>
          <p:cNvSpPr txBox="1"/>
          <p:nvPr/>
        </p:nvSpPr>
        <p:spPr>
          <a:xfrm>
            <a:off x="8756751" y="3474720"/>
            <a:ext cx="2641855" cy="700000"/>
          </a:xfrm>
          <a:prstGeom prst="rect">
            <a:avLst/>
          </a:prstGeom>
          <a:noFill/>
        </p:spPr>
        <p:txBody>
          <a:bodyPr wrap="square" lIns="0" tIns="0" rIns="0" bIns="0" rtlCol="0" anchor="t"/>
          <a:lstStyle/>
          <a:p>
            <a:pPr algn="l">
              <a:lnSpc>
                <a:spcPct val="106000"/>
              </a:lnSpc>
              <a:buNone/>
            </a:pPr>
            <a:r>
              <a:rPr lang="en-US" sz="1200" dirty="0">
                <a:solidFill>
                  <a:srgbClr val="64748B"/>
                </a:solidFill>
                <a:latin typeface="Aptos" pitchFamily="34" charset="0"/>
                <a:cs typeface="Aptos" pitchFamily="34" charset="0"/>
              </a:rPr>
              <a:t>Interac and EFT rails, KYC and AML, the operations portal, reporting, and reconciliation.</a:t>
            </a:r>
          </a:p>
        </p:txBody>
      </p:sp>
      <p:sp>
        <p:nvSpPr>
          <p:cNvPr id="743" name="r"/>
          <p:cNvSpPr/>
          <p:nvPr/>
        </p:nvSpPr>
        <p:spPr>
          <a:xfrm>
            <a:off x="5059680" y="4462272"/>
            <a:ext cx="3111855" cy="1950720"/>
          </a:xfrm>
          <a:prstGeom prst="rect">
            <a:avLst/>
          </a:prstGeom>
          <a:solidFill>
            <a:srgbClr val="F8FAFC"/>
          </a:solidFill>
          <a:ln w="9525">
            <a:solidFill>
              <a:srgbClr val="E2E8F0"/>
            </a:solidFill>
            <a:prstDash val="solid"/>
          </a:ln>
        </p:spPr>
        <p:txBody>
          <a:bodyPr/>
          <a:lstStyle/>
          <a:p>
            <a:endParaRPr lang="en-US"/>
          </a:p>
        </p:txBody>
      </p:sp>
      <p:sp>
        <p:nvSpPr>
          <p:cNvPr id="744" name="r"/>
          <p:cNvSpPr/>
          <p:nvPr/>
        </p:nvSpPr>
        <p:spPr>
          <a:xfrm>
            <a:off x="5059680" y="4462272"/>
            <a:ext cx="3111855" cy="73152"/>
          </a:xfrm>
          <a:prstGeom prst="rect">
            <a:avLst/>
          </a:prstGeom>
          <a:solidFill>
            <a:srgbClr val="2563EB"/>
          </a:solidFill>
          <a:ln>
            <a:noFill/>
          </a:ln>
        </p:spPr>
        <p:txBody>
          <a:bodyPr/>
          <a:lstStyle/>
          <a:p>
            <a:endParaRPr lang="en-US"/>
          </a:p>
        </p:txBody>
      </p:sp>
      <p:pic>
        <p:nvPicPr>
          <p:cNvPr id="745" name="icon"/>
          <p:cNvPicPr>
            <a:picLocks noChangeAspect="1"/>
          </p:cNvPicPr>
          <p:nvPr/>
        </p:nvPicPr>
        <p:blipFill>
          <a:blip r:embed="rId5"/>
          <a:stretch>
            <a:fillRect/>
          </a:stretch>
        </p:blipFill>
        <p:spPr>
          <a:xfrm>
            <a:off x="5376672" y="4754880"/>
            <a:ext cx="390144" cy="390144"/>
          </a:xfrm>
          <a:prstGeom prst="rect">
            <a:avLst/>
          </a:prstGeom>
        </p:spPr>
      </p:pic>
      <p:sp>
        <p:nvSpPr>
          <p:cNvPr id="746" name="t"/>
          <p:cNvSpPr txBox="1"/>
          <p:nvPr/>
        </p:nvSpPr>
        <p:spPr>
          <a:xfrm>
            <a:off x="5376672" y="5193792"/>
            <a:ext cx="2661855" cy="365760"/>
          </a:xfrm>
          <a:prstGeom prst="rect">
            <a:avLst/>
          </a:prstGeom>
          <a:noFill/>
        </p:spPr>
        <p:txBody>
          <a:bodyPr wrap="square" lIns="0" tIns="0" rIns="0" bIns="0" rtlCol="0" anchor="t"/>
          <a:lstStyle/>
          <a:p>
            <a:pPr algn="l">
              <a:buNone/>
            </a:pPr>
            <a:r>
              <a:rPr lang="en-US" sz="1600" b="1" spc="-40" dirty="0">
                <a:solidFill>
                  <a:srgbClr val="0B1437"/>
                </a:solidFill>
                <a:latin typeface="Aptos Display" pitchFamily="34" charset="0"/>
                <a:cs typeface="Aptos Display" pitchFamily="34" charset="0"/>
              </a:rPr>
              <a:t>Go-to-market</a:t>
            </a:r>
          </a:p>
        </p:txBody>
      </p:sp>
      <p:sp>
        <p:nvSpPr>
          <p:cNvPr id="747" name="t"/>
          <p:cNvSpPr txBox="1"/>
          <p:nvPr/>
        </p:nvSpPr>
        <p:spPr>
          <a:xfrm>
            <a:off x="5376672" y="5620512"/>
            <a:ext cx="2641855" cy="700000"/>
          </a:xfrm>
          <a:prstGeom prst="rect">
            <a:avLst/>
          </a:prstGeom>
          <a:noFill/>
        </p:spPr>
        <p:txBody>
          <a:bodyPr wrap="square" lIns="0" tIns="0" rIns="0" bIns="0" rtlCol="0" anchor="t"/>
          <a:lstStyle/>
          <a:p>
            <a:pPr algn="l">
              <a:lnSpc>
                <a:spcPct val="106000"/>
              </a:lnSpc>
              <a:buNone/>
            </a:pPr>
            <a:r>
              <a:rPr lang="en-US" sz="1200" dirty="0">
                <a:solidFill>
                  <a:srgbClr val="64748B"/>
                </a:solidFill>
                <a:latin typeface="Aptos" pitchFamily="34" charset="0"/>
                <a:cs typeface="Aptos" pitchFamily="34" charset="0"/>
              </a:rPr>
              <a:t>Vendor payments for SMBs now, payroll services about six months after launch.</a:t>
            </a:r>
          </a:p>
        </p:txBody>
      </p:sp>
      <p:sp>
        <p:nvSpPr>
          <p:cNvPr id="748" name="r"/>
          <p:cNvSpPr/>
          <p:nvPr/>
        </p:nvSpPr>
        <p:spPr>
          <a:xfrm>
            <a:off x="8439759" y="4462272"/>
            <a:ext cx="3111855" cy="1950720"/>
          </a:xfrm>
          <a:prstGeom prst="rect">
            <a:avLst/>
          </a:prstGeom>
          <a:solidFill>
            <a:srgbClr val="F8FAFC"/>
          </a:solidFill>
          <a:ln w="9525">
            <a:solidFill>
              <a:srgbClr val="E2E8F0"/>
            </a:solidFill>
            <a:prstDash val="solid"/>
          </a:ln>
        </p:spPr>
        <p:txBody>
          <a:bodyPr/>
          <a:lstStyle/>
          <a:p>
            <a:endParaRPr lang="en-US"/>
          </a:p>
        </p:txBody>
      </p:sp>
      <p:sp>
        <p:nvSpPr>
          <p:cNvPr id="749" name="r"/>
          <p:cNvSpPr/>
          <p:nvPr/>
        </p:nvSpPr>
        <p:spPr>
          <a:xfrm>
            <a:off x="8439759" y="4462272"/>
            <a:ext cx="3111855" cy="73152"/>
          </a:xfrm>
          <a:prstGeom prst="rect">
            <a:avLst/>
          </a:prstGeom>
          <a:solidFill>
            <a:srgbClr val="2563EB"/>
          </a:solidFill>
          <a:ln>
            <a:noFill/>
          </a:ln>
        </p:spPr>
        <p:txBody>
          <a:bodyPr/>
          <a:lstStyle/>
          <a:p>
            <a:endParaRPr lang="en-US"/>
          </a:p>
        </p:txBody>
      </p:sp>
      <p:pic>
        <p:nvPicPr>
          <p:cNvPr id="750" name="icon"/>
          <p:cNvPicPr>
            <a:picLocks noChangeAspect="1"/>
          </p:cNvPicPr>
          <p:nvPr/>
        </p:nvPicPr>
        <p:blipFill>
          <a:blip r:embed="rId6"/>
          <a:stretch>
            <a:fillRect/>
          </a:stretch>
        </p:blipFill>
        <p:spPr>
          <a:xfrm>
            <a:off x="8756751" y="4754880"/>
            <a:ext cx="390144" cy="390144"/>
          </a:xfrm>
          <a:prstGeom prst="rect">
            <a:avLst/>
          </a:prstGeom>
        </p:spPr>
      </p:pic>
      <p:sp>
        <p:nvSpPr>
          <p:cNvPr id="751" name="t"/>
          <p:cNvSpPr txBox="1"/>
          <p:nvPr/>
        </p:nvSpPr>
        <p:spPr>
          <a:xfrm>
            <a:off x="8756751" y="5193792"/>
            <a:ext cx="2661855" cy="365760"/>
          </a:xfrm>
          <a:prstGeom prst="rect">
            <a:avLst/>
          </a:prstGeom>
          <a:noFill/>
        </p:spPr>
        <p:txBody>
          <a:bodyPr wrap="square" lIns="0" tIns="0" rIns="0" bIns="0" rtlCol="0" anchor="t"/>
          <a:lstStyle/>
          <a:p>
            <a:pPr algn="l">
              <a:buNone/>
            </a:pPr>
            <a:r>
              <a:rPr lang="en-US" sz="1600" b="1" spc="-40" dirty="0">
                <a:solidFill>
                  <a:srgbClr val="0B1437"/>
                </a:solidFill>
                <a:latin typeface="Aptos Display" pitchFamily="34" charset="0"/>
                <a:cs typeface="Aptos Display" pitchFamily="34" charset="0"/>
              </a:rPr>
              <a:t>A bidirectional platform</a:t>
            </a:r>
          </a:p>
        </p:txBody>
      </p:sp>
      <p:sp>
        <p:nvSpPr>
          <p:cNvPr id="752" name="t"/>
          <p:cNvSpPr txBox="1"/>
          <p:nvPr/>
        </p:nvSpPr>
        <p:spPr>
          <a:xfrm>
            <a:off x="8756751" y="5620512"/>
            <a:ext cx="2641855" cy="700000"/>
          </a:xfrm>
          <a:prstGeom prst="rect">
            <a:avLst/>
          </a:prstGeom>
          <a:noFill/>
        </p:spPr>
        <p:txBody>
          <a:bodyPr wrap="square" lIns="0" tIns="0" rIns="0" bIns="0" rtlCol="0" anchor="t"/>
          <a:lstStyle/>
          <a:p>
            <a:pPr algn="l">
              <a:lnSpc>
                <a:spcPct val="106000"/>
              </a:lnSpc>
              <a:buNone/>
            </a:pPr>
            <a:r>
              <a:rPr lang="en-US" sz="1200" dirty="0">
                <a:solidFill>
                  <a:srgbClr val="64748B"/>
                </a:solidFill>
                <a:latin typeface="Aptos" pitchFamily="34" charset="0"/>
                <a:cs typeface="Aptos" pitchFamily="34" charset="0"/>
              </a:rPr>
              <a:t>One platform for money in and money out, with room to add payroll, rails, and volume.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603504"/>
            <a:ext cx="384048" cy="64008"/>
          </a:xfrm>
          <a:prstGeom prst="rect">
            <a:avLst/>
          </a:prstGeom>
          <a:solidFill>
            <a:srgbClr val="7C5CFF"/>
          </a:solidFill>
          <a:ln/>
        </p:spPr>
        <p:txBody>
          <a:bodyPr/>
          <a:lstStyle/>
          <a:p>
            <a:endParaRPr lang="en-US"/>
          </a:p>
        </p:txBody>
      </p:sp>
      <p:sp>
        <p:nvSpPr>
          <p:cNvPr id="3" name="Text 1"/>
          <p:cNvSpPr/>
          <p:nvPr/>
        </p:nvSpPr>
        <p:spPr>
          <a:xfrm>
            <a:off x="1143000" y="502920"/>
            <a:ext cx="9144000" cy="274320"/>
          </a:xfrm>
          <a:prstGeom prst="rect">
            <a:avLst/>
          </a:prstGeom>
          <a:noFill/>
          <a:ln/>
        </p:spPr>
        <p:txBody>
          <a:bodyPr wrap="square" rtlCol="0" anchor="ctr"/>
          <a:lstStyle/>
          <a:p>
            <a:pPr marL="0" indent="0">
              <a:buNone/>
            </a:pPr>
            <a:r>
              <a:rPr lang="en-US" sz="1100" b="1" kern="0" spc="300" dirty="0">
                <a:solidFill>
                  <a:srgbClr val="A5B4FC"/>
                </a:solidFill>
                <a:latin typeface="JetBrains Mono" pitchFamily="34" charset="0"/>
                <a:ea typeface="JetBrains Mono" pitchFamily="34" charset="-122"/>
                <a:cs typeface="JetBrains Mono" pitchFamily="34" charset="-120"/>
              </a:rPr>
              <a:t>SECTION II · The 60 Seconds Business Payment Hub.</a:t>
            </a:r>
          </a:p>
          <a:p>
            <a:pPr marL="0" indent="0">
              <a:buNone/>
            </a:pPr>
            <a:r>
              <a:rPr lang="en-US" sz="1100" b="1" kern="0" spc="300" dirty="0">
                <a:solidFill>
                  <a:srgbClr val="A5B4FC"/>
                </a:solidFill>
                <a:latin typeface="JetBrains Mono" pitchFamily="34" charset="0"/>
                <a:ea typeface="JetBrains Mono" pitchFamily="34" charset="-122"/>
                <a:cs typeface="JetBrains Mono" pitchFamily="34" charset="-120"/>
              </a:rPr>
              <a:t>
</a:t>
            </a:r>
            <a:endParaRPr lang="en-US" sz="1100" dirty="0"/>
          </a:p>
        </p:txBody>
      </p:sp>
      <p:sp>
        <p:nvSpPr>
          <p:cNvPr id="4" name="Text 2"/>
          <p:cNvSpPr/>
          <p:nvPr/>
        </p:nvSpPr>
        <p:spPr>
          <a:xfrm>
            <a:off x="640080" y="3063240"/>
            <a:ext cx="10607040" cy="1554480"/>
          </a:xfrm>
          <a:prstGeom prst="rect">
            <a:avLst/>
          </a:prstGeom>
          <a:noFill/>
          <a:ln/>
        </p:spPr>
        <p:txBody>
          <a:bodyPr wrap="square" lIns="0" tIns="0" rIns="0" bIns="0" rtlCol="0" anchor="ctr"/>
          <a:lstStyle/>
          <a:p>
            <a:pPr marL="0" indent="0">
              <a:lnSpc>
                <a:spcPts val="4800"/>
              </a:lnSpc>
              <a:buNone/>
            </a:pPr>
            <a:r>
              <a:rPr lang="en-US" sz="4200" b="1" dirty="0">
                <a:solidFill>
                  <a:srgbClr val="FFFFFF"/>
                </a:solidFill>
                <a:latin typeface="Aptos Display" pitchFamily="34" charset="0"/>
                <a:ea typeface="Aptos Display" pitchFamily="34" charset="-122"/>
                <a:cs typeface="Aptos Display" pitchFamily="34" charset="-120"/>
              </a:rPr>
              <a:t>Money in, money out. </a:t>
            </a:r>
            <a:r>
              <a:rPr lang="en-US" sz="4200" b="1" dirty="0">
                <a:solidFill>
                  <a:srgbClr val="A78BFA"/>
                </a:solidFill>
                <a:latin typeface="Aptos Display" pitchFamily="34" charset="0"/>
                <a:ea typeface="Aptos Display" pitchFamily="34" charset="-122"/>
                <a:cs typeface="Aptos Display" pitchFamily="34" charset="-120"/>
              </a:rPr>
              <a:t>One API.</a:t>
            </a:r>
            <a:endParaRPr lang="en-US" sz="4200" dirty="0"/>
          </a:p>
        </p:txBody>
      </p:sp>
      <p:sp>
        <p:nvSpPr>
          <p:cNvPr id="5" name="Text 3"/>
          <p:cNvSpPr/>
          <p:nvPr/>
        </p:nvSpPr>
        <p:spPr>
          <a:xfrm>
            <a:off x="640080" y="4709160"/>
            <a:ext cx="9601200" cy="900000"/>
          </a:xfrm>
          <a:prstGeom prst="rect">
            <a:avLst/>
          </a:prstGeom>
          <a:noFill/>
          <a:ln/>
        </p:spPr>
        <p:txBody>
          <a:bodyPr wrap="square" rtlCol="0" anchor="ctr"/>
          <a:lstStyle/>
          <a:p>
            <a:pPr marL="0" indent="0">
              <a:lnSpc>
                <a:spcPts val="2200"/>
              </a:lnSpc>
              <a:buNone/>
            </a:pPr>
            <a:r>
              <a:rPr lang="en-US" sz="1550" dirty="0">
                <a:solidFill>
                  <a:srgbClr val="C7D2FE"/>
                </a:solidFill>
                <a:latin typeface="Aptos" pitchFamily="34" charset="0"/>
                <a:ea typeface="Aptos" pitchFamily="34" charset="-122"/>
                <a:cs typeface="Aptos" pitchFamily="34" charset="-120"/>
              </a:rPr>
              <a:t>Interac e-Transfer Request to collect from SMB clients, EFT and e-Transfer Payouts to pay vendors and employees, with the operations portal, reporting, and reconciliation, all available by API from launch.</a:t>
            </a:r>
            <a:endParaRPr lang="en-US" sz="1550" dirty="0"/>
          </a:p>
        </p:txBody>
      </p:sp>
      <p:sp>
        <p:nvSpPr>
          <p:cNvPr id="6" name="Text 4"/>
          <p:cNvSpPr/>
          <p:nvPr/>
        </p:nvSpPr>
        <p:spPr>
          <a:xfrm>
            <a:off x="10637215" y="6455664"/>
            <a:ext cx="914400" cy="274320"/>
          </a:xfrm>
          <a:prstGeom prst="rect">
            <a:avLst/>
          </a:prstGeom>
          <a:noFill/>
          <a:ln/>
        </p:spPr>
        <p:txBody>
          <a:bodyPr wrap="square" rtlCol="0" anchor="ctr"/>
          <a:lstStyle/>
          <a:p>
            <a:pPr marL="0" indent="0" algn="r">
              <a:buNone/>
            </a:pPr>
            <a:r>
              <a:rPr lang="en-US" sz="800" kern="0" spc="150" dirty="0">
                <a:solidFill>
                  <a:srgbClr val="8C97C9"/>
                </a:solidFill>
                <a:latin typeface="JetBrains Mono" pitchFamily="34" charset="0"/>
                <a:ea typeface="JetBrains Mono" pitchFamily="34" charset="-122"/>
                <a:cs typeface="JetBrains Mono"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lstStyle/>
          <a:p>
            <a:pPr marL="0" indent="0">
              <a:buNone/>
            </a:pPr>
            <a:r>
              <a:rPr lang="en-US" sz="1100" b="1" kern="0" spc="300" dirty="0">
                <a:solidFill>
                  <a:srgbClr val="2563EB"/>
                </a:solidFill>
                <a:latin typeface="JetBrains Mono" pitchFamily="34" charset="0"/>
                <a:ea typeface="JetBrains Mono" pitchFamily="34" charset="-122"/>
                <a:cs typeface="JetBrains Mono" pitchFamily="34" charset="-120"/>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lstStyle/>
          <a:p>
            <a:pPr marL="0" indent="0">
              <a:buNone/>
            </a:pPr>
            <a:r>
              <a:rPr lang="en-US" sz="950" kern="0" spc="150" dirty="0">
                <a:solidFill>
                  <a:srgbClr val="64748B"/>
                </a:solidFill>
                <a:latin typeface="JetBrains Mono" pitchFamily="34" charset="0"/>
                <a:ea typeface="JetBrains Mono" pitchFamily="34" charset="-122"/>
                <a:cs typeface="JetBrains Mono" pitchFamily="34" charset="-120"/>
              </a:rPr>
              <a:t>03 · THE COMPONENTS</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lstStyle/>
          <a:p>
            <a:pPr marL="0" indent="0">
              <a:buNone/>
            </a:pPr>
            <a:r>
              <a:rPr lang="en-US" sz="2700" b="1" dirty="0">
                <a:solidFill>
                  <a:srgbClr val="0B1437"/>
                </a:solidFill>
                <a:latin typeface="Aptos Display" pitchFamily="34" charset="0"/>
                <a:ea typeface="Aptos Display" pitchFamily="34" charset="-122"/>
                <a:cs typeface="Aptos Display" pitchFamily="34" charset="-120"/>
              </a:rPr>
              <a:t>Five components. One platform.</a:t>
            </a:r>
            <a:endParaRPr lang="en-US" sz="2700" dirty="0"/>
          </a:p>
        </p:txBody>
      </p:sp>
      <p:sp>
        <p:nvSpPr>
          <p:cNvPr id="32" name="Text 25"/>
          <p:cNvSpPr/>
          <p:nvPr/>
        </p:nvSpPr>
        <p:spPr>
          <a:xfrm>
            <a:off x="640080" y="6455664"/>
            <a:ext cx="9144000" cy="274320"/>
          </a:xfrm>
          <a:prstGeom prst="rect">
            <a:avLst/>
          </a:prstGeom>
          <a:noFill/>
          <a:ln/>
        </p:spPr>
        <p:txBody>
          <a:bodyPr wrap="square" rtlCol="0" anchor="ctr"/>
          <a:lstStyle/>
          <a:p>
            <a:pPr marL="0" indent="0">
              <a:buNone/>
            </a:pPr>
            <a:r>
              <a:rPr lang="en-US" sz="750" kern="0" spc="180" dirty="0">
                <a:solidFill>
                  <a:srgbClr val="94A3B8"/>
                </a:solidFill>
                <a:latin typeface="JetBrains Mono" pitchFamily="34" charset="0"/>
                <a:ea typeface="JetBrains Mono" pitchFamily="34" charset="-122"/>
                <a:cs typeface="JetBrains Mono" pitchFamily="34" charset="-120"/>
              </a:rPr>
              <a:t>DREAM PAYMENTS  ·  BUSINESS PAYMENT HUB  ·  COMMERCIAL PROPOSAL</a:t>
            </a:r>
            <a:endParaRPr lang="en-US" sz="750" dirty="0"/>
          </a:p>
        </p:txBody>
      </p:sp>
      <p:sp>
        <p:nvSpPr>
          <p:cNvPr id="33" name="Text 26"/>
          <p:cNvSpPr/>
          <p:nvPr/>
        </p:nvSpPr>
        <p:spPr>
          <a:xfrm>
            <a:off x="10637215" y="6455664"/>
            <a:ext cx="914400" cy="274320"/>
          </a:xfrm>
          <a:prstGeom prst="rect">
            <a:avLst/>
          </a:prstGeom>
          <a:noFill/>
          <a:ln/>
        </p:spPr>
        <p:txBody>
          <a:bodyPr wrap="square" rtlCol="0" anchor="ctr"/>
          <a:lstStyle/>
          <a:p>
            <a:pPr marL="0" indent="0" algn="r">
              <a:buNone/>
            </a:pPr>
            <a:r>
              <a:rPr lang="en-US" sz="800" b="1" kern="0" spc="150" dirty="0">
                <a:solidFill>
                  <a:srgbClr val="2563EB"/>
                </a:solidFill>
                <a:latin typeface="JetBrains Mono" pitchFamily="34" charset="0"/>
                <a:ea typeface="JetBrains Mono" pitchFamily="34" charset="-122"/>
                <a:cs typeface="JetBrains Mono" pitchFamily="34" charset="-120"/>
              </a:rPr>
              <a:t>07</a:t>
            </a:r>
            <a:endParaRPr lang="en-US" sz="800" dirty="0"/>
          </a:p>
        </p:txBody>
      </p:sp>
      <p:sp>
        <p:nvSpPr>
          <p:cNvPr id="753" name="t"/>
          <p:cNvSpPr txBox="1"/>
          <p:nvPr/>
        </p:nvSpPr>
        <p:spPr>
          <a:xfrm>
            <a:off x="640080" y="1874520"/>
            <a:ext cx="10728655" cy="520000"/>
          </a:xfrm>
          <a:prstGeom prst="rect">
            <a:avLst/>
          </a:prstGeom>
          <a:noFill/>
        </p:spPr>
        <p:txBody>
          <a:bodyPr wrap="square" lIns="0" tIns="0" rIns="0" bIns="0" anchor="t"/>
          <a:lstStyle/>
          <a:p>
            <a:pPr algn="l">
              <a:lnSpc>
                <a:spcPct val="108000"/>
              </a:lnSpc>
              <a:buNone/>
            </a:pPr>
            <a:r>
              <a:rPr lang="en-US" sz="1150" dirty="0">
                <a:solidFill>
                  <a:srgbClr val="64748B"/>
                </a:solidFill>
                <a:latin typeface="Aptos" pitchFamily="34" charset="0"/>
                <a:cs typeface="Aptos" pitchFamily="34" charset="0"/>
              </a:rPr>
              <a:t>The five building blocks that stand the platform up: an operations portal, the Dream API, a segregated bank account, the client funding flow, and the collection and payout rails. Together they cover everything needed to request, collect, pay, and reconcile.</a:t>
            </a:r>
          </a:p>
        </p:txBody>
      </p:sp>
      <p:sp>
        <p:nvSpPr>
          <p:cNvPr id="754" name="r"/>
          <p:cNvSpPr/>
          <p:nvPr/>
        </p:nvSpPr>
        <p:spPr>
          <a:xfrm>
            <a:off x="640080" y="2430000"/>
            <a:ext cx="2065263" cy="73152"/>
          </a:xfrm>
          <a:prstGeom prst="rect">
            <a:avLst/>
          </a:prstGeom>
          <a:solidFill>
            <a:srgbClr val="2563EB"/>
          </a:solidFill>
          <a:ln>
            <a:noFill/>
          </a:ln>
        </p:spPr>
        <p:txBody>
          <a:bodyPr/>
          <a:lstStyle/>
          <a:p>
            <a:endParaRPr lang="en-US"/>
          </a:p>
        </p:txBody>
      </p:sp>
      <p:sp>
        <p:nvSpPr>
          <p:cNvPr id="755" name="r"/>
          <p:cNvSpPr/>
          <p:nvPr/>
        </p:nvSpPr>
        <p:spPr>
          <a:xfrm>
            <a:off x="640080" y="2520000"/>
            <a:ext cx="2065263" cy="2960000"/>
          </a:xfrm>
          <a:prstGeom prst="rect">
            <a:avLst/>
          </a:prstGeom>
          <a:solidFill>
            <a:srgbClr val="F8FAFC"/>
          </a:solidFill>
          <a:ln w="9525">
            <a:solidFill>
              <a:srgbClr val="E2E8F0"/>
            </a:solidFill>
            <a:prstDash val="solid"/>
          </a:ln>
        </p:spPr>
        <p:txBody>
          <a:bodyPr/>
          <a:lstStyle/>
          <a:p>
            <a:endParaRPr lang="en-US"/>
          </a:p>
        </p:txBody>
      </p:sp>
      <p:sp>
        <p:nvSpPr>
          <p:cNvPr id="756" name="t"/>
          <p:cNvSpPr txBox="1"/>
          <p:nvPr/>
        </p:nvSpPr>
        <p:spPr>
          <a:xfrm>
            <a:off x="786384" y="2660000"/>
            <a:ext cx="1772655" cy="268224"/>
          </a:xfrm>
          <a:prstGeom prst="rect">
            <a:avLst/>
          </a:prstGeom>
          <a:noFill/>
        </p:spPr>
        <p:txBody>
          <a:bodyPr wrap="square" lIns="0" tIns="0" rIns="0" bIns="0" rtlCol="0" anchor="t"/>
          <a:lstStyle/>
          <a:p>
            <a:pPr algn="l">
              <a:buNone/>
            </a:pPr>
            <a:r>
              <a:rPr lang="en-US" sz="1200" b="1" spc="267" dirty="0">
                <a:solidFill>
                  <a:srgbClr val="2563EB"/>
                </a:solidFill>
                <a:latin typeface="Aptos" pitchFamily="34" charset="0"/>
                <a:cs typeface="Aptos" pitchFamily="34" charset="0"/>
              </a:rPr>
              <a:t>01</a:t>
            </a:r>
          </a:p>
        </p:txBody>
      </p:sp>
      <p:pic>
        <p:nvPicPr>
          <p:cNvPr id="757" name="icon"/>
          <p:cNvPicPr>
            <a:picLocks noChangeAspect="1"/>
          </p:cNvPicPr>
          <p:nvPr/>
        </p:nvPicPr>
        <p:blipFill>
          <a:blip r:embed="rId3"/>
          <a:stretch>
            <a:fillRect/>
          </a:stretch>
        </p:blipFill>
        <p:spPr>
          <a:xfrm>
            <a:off x="1372711" y="2760000"/>
            <a:ext cx="600000" cy="600000"/>
          </a:xfrm>
          <a:prstGeom prst="rect">
            <a:avLst/>
          </a:prstGeom>
        </p:spPr>
      </p:pic>
      <p:sp>
        <p:nvSpPr>
          <p:cNvPr id="758" name="t"/>
          <p:cNvSpPr txBox="1"/>
          <p:nvPr/>
        </p:nvSpPr>
        <p:spPr>
          <a:xfrm>
            <a:off x="640080" y="3560000"/>
            <a:ext cx="2065263" cy="620000"/>
          </a:xfrm>
          <a:prstGeom prst="rect">
            <a:avLst/>
          </a:prstGeom>
          <a:noFill/>
        </p:spPr>
        <p:txBody>
          <a:bodyPr wrap="square" lIns="0" tIns="0" rIns="0" bIns="0" rtlCol="0" anchor="t"/>
          <a:lstStyle/>
          <a:p>
            <a:pPr algn="ctr">
              <a:lnSpc>
                <a:spcPct val="104000"/>
              </a:lnSpc>
              <a:buNone/>
            </a:pPr>
            <a:r>
              <a:rPr lang="en-US" sz="1867" b="1" spc="-40" dirty="0">
                <a:solidFill>
                  <a:srgbClr val="0B1437"/>
                </a:solidFill>
                <a:latin typeface="Aptos Display" pitchFamily="34" charset="0"/>
                <a:cs typeface="Aptos Display" pitchFamily="34" charset="0"/>
              </a:rPr>
              <a:t>Operations Portal</a:t>
            </a:r>
          </a:p>
        </p:txBody>
      </p:sp>
      <p:sp>
        <p:nvSpPr>
          <p:cNvPr id="759" name="t"/>
          <p:cNvSpPr txBox="1"/>
          <p:nvPr/>
        </p:nvSpPr>
        <p:spPr>
          <a:xfrm>
            <a:off x="730080" y="4220000"/>
            <a:ext cx="1885263" cy="1180000"/>
          </a:xfrm>
          <a:prstGeom prst="rect">
            <a:avLst/>
          </a:prstGeom>
          <a:noFill/>
        </p:spPr>
        <p:txBody>
          <a:bodyPr wrap="square" lIns="0" tIns="0" rIns="0" bIns="0" rtlCol="0" anchor="t"/>
          <a:lstStyle/>
          <a:p>
            <a:pPr algn="ctr">
              <a:lnSpc>
                <a:spcPct val="108000"/>
              </a:lnSpc>
              <a:buNone/>
            </a:pPr>
            <a:r>
              <a:rPr lang="en-US" sz="1100" dirty="0">
                <a:solidFill>
                  <a:srgbClr val="64748B"/>
                </a:solidFill>
                <a:latin typeface="Aptos" pitchFamily="34" charset="0"/>
                <a:cs typeface="Aptos" pitchFamily="34" charset="0"/>
              </a:rPr>
              <a:t>Web console for onboarding, funding, payment initiation, and reconciliation. Role-based access for finance and ops.</a:t>
            </a:r>
          </a:p>
        </p:txBody>
      </p:sp>
      <p:sp>
        <p:nvSpPr>
          <p:cNvPr id="760" name="r"/>
          <p:cNvSpPr/>
          <p:nvPr/>
        </p:nvSpPr>
        <p:spPr>
          <a:xfrm>
            <a:off x="2851648" y="2430000"/>
            <a:ext cx="2065263" cy="73152"/>
          </a:xfrm>
          <a:prstGeom prst="rect">
            <a:avLst/>
          </a:prstGeom>
          <a:solidFill>
            <a:srgbClr val="2563EB"/>
          </a:solidFill>
          <a:ln>
            <a:noFill/>
          </a:ln>
        </p:spPr>
        <p:txBody>
          <a:bodyPr/>
          <a:lstStyle/>
          <a:p>
            <a:endParaRPr lang="en-US"/>
          </a:p>
        </p:txBody>
      </p:sp>
      <p:sp>
        <p:nvSpPr>
          <p:cNvPr id="761" name="r"/>
          <p:cNvSpPr/>
          <p:nvPr/>
        </p:nvSpPr>
        <p:spPr>
          <a:xfrm>
            <a:off x="2851648" y="2520000"/>
            <a:ext cx="2065263" cy="2960000"/>
          </a:xfrm>
          <a:prstGeom prst="rect">
            <a:avLst/>
          </a:prstGeom>
          <a:solidFill>
            <a:srgbClr val="F8FAFC"/>
          </a:solidFill>
          <a:ln w="9525">
            <a:solidFill>
              <a:srgbClr val="E2E8F0"/>
            </a:solidFill>
            <a:prstDash val="solid"/>
          </a:ln>
        </p:spPr>
        <p:txBody>
          <a:bodyPr/>
          <a:lstStyle/>
          <a:p>
            <a:endParaRPr lang="en-US"/>
          </a:p>
        </p:txBody>
      </p:sp>
      <p:sp>
        <p:nvSpPr>
          <p:cNvPr id="762" name="t"/>
          <p:cNvSpPr txBox="1"/>
          <p:nvPr/>
        </p:nvSpPr>
        <p:spPr>
          <a:xfrm>
            <a:off x="2997952" y="2660000"/>
            <a:ext cx="1772655" cy="268224"/>
          </a:xfrm>
          <a:prstGeom prst="rect">
            <a:avLst/>
          </a:prstGeom>
          <a:noFill/>
        </p:spPr>
        <p:txBody>
          <a:bodyPr wrap="square" lIns="0" tIns="0" rIns="0" bIns="0" rtlCol="0" anchor="t"/>
          <a:lstStyle/>
          <a:p>
            <a:pPr algn="l">
              <a:buNone/>
            </a:pPr>
            <a:r>
              <a:rPr lang="en-US" sz="1200" b="1" spc="267" dirty="0">
                <a:solidFill>
                  <a:srgbClr val="2563EB"/>
                </a:solidFill>
                <a:latin typeface="Aptos" pitchFamily="34" charset="0"/>
                <a:cs typeface="Aptos" pitchFamily="34" charset="0"/>
              </a:rPr>
              <a:t>02</a:t>
            </a:r>
          </a:p>
        </p:txBody>
      </p:sp>
      <p:pic>
        <p:nvPicPr>
          <p:cNvPr id="763" name="icon"/>
          <p:cNvPicPr>
            <a:picLocks noChangeAspect="1"/>
          </p:cNvPicPr>
          <p:nvPr/>
        </p:nvPicPr>
        <p:blipFill>
          <a:blip r:embed="rId4"/>
          <a:stretch>
            <a:fillRect/>
          </a:stretch>
        </p:blipFill>
        <p:spPr>
          <a:xfrm>
            <a:off x="3584279" y="2760000"/>
            <a:ext cx="600000" cy="600000"/>
          </a:xfrm>
          <a:prstGeom prst="rect">
            <a:avLst/>
          </a:prstGeom>
        </p:spPr>
      </p:pic>
      <p:sp>
        <p:nvSpPr>
          <p:cNvPr id="764" name="t"/>
          <p:cNvSpPr txBox="1"/>
          <p:nvPr/>
        </p:nvSpPr>
        <p:spPr>
          <a:xfrm>
            <a:off x="2851648" y="3560000"/>
            <a:ext cx="2065263" cy="620000"/>
          </a:xfrm>
          <a:prstGeom prst="rect">
            <a:avLst/>
          </a:prstGeom>
          <a:noFill/>
        </p:spPr>
        <p:txBody>
          <a:bodyPr wrap="square" lIns="0" tIns="0" rIns="0" bIns="0" rtlCol="0" anchor="t"/>
          <a:lstStyle/>
          <a:p>
            <a:pPr algn="ctr">
              <a:lnSpc>
                <a:spcPct val="104000"/>
              </a:lnSpc>
              <a:buNone/>
            </a:pPr>
            <a:r>
              <a:rPr lang="en-US" sz="1867" b="1" spc="-40" dirty="0">
                <a:solidFill>
                  <a:srgbClr val="0B1437"/>
                </a:solidFill>
                <a:latin typeface="Aptos Display" pitchFamily="34" charset="0"/>
                <a:cs typeface="Aptos Display" pitchFamily="34" charset="0"/>
              </a:rPr>
              <a:t>The Dream API</a:t>
            </a:r>
          </a:p>
        </p:txBody>
      </p:sp>
      <p:sp>
        <p:nvSpPr>
          <p:cNvPr id="765" name="t"/>
          <p:cNvSpPr txBox="1"/>
          <p:nvPr/>
        </p:nvSpPr>
        <p:spPr>
          <a:xfrm>
            <a:off x="2941648" y="4220000"/>
            <a:ext cx="1885263" cy="1180000"/>
          </a:xfrm>
          <a:prstGeom prst="rect">
            <a:avLst/>
          </a:prstGeom>
          <a:noFill/>
        </p:spPr>
        <p:txBody>
          <a:bodyPr wrap="square" lIns="0" tIns="0" rIns="0" bIns="0" rtlCol="0" anchor="t"/>
          <a:lstStyle/>
          <a:p>
            <a:pPr algn="ctr">
              <a:lnSpc>
                <a:spcPct val="108000"/>
              </a:lnSpc>
              <a:buNone/>
            </a:pPr>
            <a:r>
              <a:rPr lang="en-US" sz="1100" dirty="0">
                <a:solidFill>
                  <a:srgbClr val="64748B"/>
                </a:solidFill>
                <a:latin typeface="Aptos" pitchFamily="34" charset="0"/>
                <a:cs typeface="Aptos" pitchFamily="34" charset="0"/>
              </a:rPr>
              <a:t>REST. JSON. Idempotent. HMAC-signed webhooks. Sandbox provisioned the same day you sign.</a:t>
            </a:r>
          </a:p>
        </p:txBody>
      </p:sp>
      <p:sp>
        <p:nvSpPr>
          <p:cNvPr id="766" name="r"/>
          <p:cNvSpPr/>
          <p:nvPr/>
        </p:nvSpPr>
        <p:spPr>
          <a:xfrm>
            <a:off x="5063216" y="2430000"/>
            <a:ext cx="2065263" cy="73152"/>
          </a:xfrm>
          <a:prstGeom prst="rect">
            <a:avLst/>
          </a:prstGeom>
          <a:solidFill>
            <a:srgbClr val="2563EB"/>
          </a:solidFill>
          <a:ln>
            <a:noFill/>
          </a:ln>
        </p:spPr>
        <p:txBody>
          <a:bodyPr/>
          <a:lstStyle/>
          <a:p>
            <a:endParaRPr lang="en-US"/>
          </a:p>
        </p:txBody>
      </p:sp>
      <p:sp>
        <p:nvSpPr>
          <p:cNvPr id="767" name="r"/>
          <p:cNvSpPr/>
          <p:nvPr/>
        </p:nvSpPr>
        <p:spPr>
          <a:xfrm>
            <a:off x="5063216" y="2520000"/>
            <a:ext cx="2065263" cy="2960000"/>
          </a:xfrm>
          <a:prstGeom prst="rect">
            <a:avLst/>
          </a:prstGeom>
          <a:solidFill>
            <a:srgbClr val="F8FAFC"/>
          </a:solidFill>
          <a:ln w="9525">
            <a:solidFill>
              <a:srgbClr val="E2E8F0"/>
            </a:solidFill>
            <a:prstDash val="solid"/>
          </a:ln>
        </p:spPr>
        <p:txBody>
          <a:bodyPr/>
          <a:lstStyle/>
          <a:p>
            <a:endParaRPr lang="en-US"/>
          </a:p>
        </p:txBody>
      </p:sp>
      <p:sp>
        <p:nvSpPr>
          <p:cNvPr id="768" name="t"/>
          <p:cNvSpPr txBox="1"/>
          <p:nvPr/>
        </p:nvSpPr>
        <p:spPr>
          <a:xfrm>
            <a:off x="5209520" y="2660000"/>
            <a:ext cx="1772655" cy="268224"/>
          </a:xfrm>
          <a:prstGeom prst="rect">
            <a:avLst/>
          </a:prstGeom>
          <a:noFill/>
        </p:spPr>
        <p:txBody>
          <a:bodyPr wrap="square" lIns="0" tIns="0" rIns="0" bIns="0" rtlCol="0" anchor="t"/>
          <a:lstStyle/>
          <a:p>
            <a:pPr algn="l">
              <a:buNone/>
            </a:pPr>
            <a:r>
              <a:rPr lang="en-US" sz="1200" b="1" spc="267" dirty="0">
                <a:solidFill>
                  <a:srgbClr val="2563EB"/>
                </a:solidFill>
                <a:latin typeface="Aptos" pitchFamily="34" charset="0"/>
                <a:cs typeface="Aptos" pitchFamily="34" charset="0"/>
              </a:rPr>
              <a:t>03</a:t>
            </a:r>
          </a:p>
        </p:txBody>
      </p:sp>
      <p:pic>
        <p:nvPicPr>
          <p:cNvPr id="769" name="icon"/>
          <p:cNvPicPr>
            <a:picLocks noChangeAspect="1"/>
          </p:cNvPicPr>
          <p:nvPr/>
        </p:nvPicPr>
        <p:blipFill>
          <a:blip r:embed="rId5"/>
          <a:stretch>
            <a:fillRect/>
          </a:stretch>
        </p:blipFill>
        <p:spPr>
          <a:xfrm>
            <a:off x="5795847" y="2760000"/>
            <a:ext cx="600000" cy="600000"/>
          </a:xfrm>
          <a:prstGeom prst="rect">
            <a:avLst/>
          </a:prstGeom>
        </p:spPr>
      </p:pic>
      <p:sp>
        <p:nvSpPr>
          <p:cNvPr id="770" name="t"/>
          <p:cNvSpPr txBox="1"/>
          <p:nvPr/>
        </p:nvSpPr>
        <p:spPr>
          <a:xfrm>
            <a:off x="5063216" y="3560000"/>
            <a:ext cx="2065263" cy="620000"/>
          </a:xfrm>
          <a:prstGeom prst="rect">
            <a:avLst/>
          </a:prstGeom>
          <a:noFill/>
        </p:spPr>
        <p:txBody>
          <a:bodyPr wrap="square" lIns="0" tIns="0" rIns="0" bIns="0" rtlCol="0" anchor="t"/>
          <a:lstStyle/>
          <a:p>
            <a:pPr algn="ctr">
              <a:lnSpc>
                <a:spcPct val="104000"/>
              </a:lnSpc>
              <a:buNone/>
            </a:pPr>
            <a:r>
              <a:rPr lang="en-US" sz="1867" b="1" spc="-40" dirty="0">
                <a:solidFill>
                  <a:srgbClr val="0B1437"/>
                </a:solidFill>
                <a:latin typeface="Aptos Display" pitchFamily="34" charset="0"/>
                <a:cs typeface="Aptos Display" pitchFamily="34" charset="0"/>
              </a:rPr>
              <a:t>Bank Account</a:t>
            </a:r>
          </a:p>
        </p:txBody>
      </p:sp>
      <p:sp>
        <p:nvSpPr>
          <p:cNvPr id="771" name="t"/>
          <p:cNvSpPr txBox="1"/>
          <p:nvPr/>
        </p:nvSpPr>
        <p:spPr>
          <a:xfrm>
            <a:off x="5153216" y="4220000"/>
            <a:ext cx="1885263" cy="1180000"/>
          </a:xfrm>
          <a:prstGeom prst="rect">
            <a:avLst/>
          </a:prstGeom>
          <a:noFill/>
        </p:spPr>
        <p:txBody>
          <a:bodyPr wrap="square" lIns="0" tIns="0" rIns="0" bIns="0" rtlCol="0" anchor="t"/>
          <a:lstStyle/>
          <a:p>
            <a:pPr algn="ctr">
              <a:lnSpc>
                <a:spcPct val="108000"/>
              </a:lnSpc>
              <a:buNone/>
            </a:pPr>
            <a:r>
              <a:rPr lang="en-US" sz="1100" dirty="0">
                <a:solidFill>
                  <a:srgbClr val="64748B"/>
                </a:solidFill>
                <a:latin typeface="Aptos" pitchFamily="34" charset="0"/>
                <a:cs typeface="Aptos" pitchFamily="34" charset="0"/>
              </a:rPr>
              <a:t>Held at a Canadian Tier-1 bank. Segregated by client. Inbound and outbound on the same account.</a:t>
            </a:r>
          </a:p>
        </p:txBody>
      </p:sp>
      <p:sp>
        <p:nvSpPr>
          <p:cNvPr id="772" name="r"/>
          <p:cNvSpPr/>
          <p:nvPr/>
        </p:nvSpPr>
        <p:spPr>
          <a:xfrm>
            <a:off x="7274784" y="2430000"/>
            <a:ext cx="2065263" cy="73152"/>
          </a:xfrm>
          <a:prstGeom prst="rect">
            <a:avLst/>
          </a:prstGeom>
          <a:solidFill>
            <a:srgbClr val="2563EB"/>
          </a:solidFill>
          <a:ln>
            <a:noFill/>
          </a:ln>
        </p:spPr>
        <p:txBody>
          <a:bodyPr/>
          <a:lstStyle/>
          <a:p>
            <a:endParaRPr lang="en-US"/>
          </a:p>
        </p:txBody>
      </p:sp>
      <p:sp>
        <p:nvSpPr>
          <p:cNvPr id="773" name="r"/>
          <p:cNvSpPr/>
          <p:nvPr/>
        </p:nvSpPr>
        <p:spPr>
          <a:xfrm>
            <a:off x="7274784" y="2520000"/>
            <a:ext cx="2065263" cy="2960000"/>
          </a:xfrm>
          <a:prstGeom prst="rect">
            <a:avLst/>
          </a:prstGeom>
          <a:solidFill>
            <a:srgbClr val="F8FAFC"/>
          </a:solidFill>
          <a:ln w="9525">
            <a:solidFill>
              <a:srgbClr val="E2E8F0"/>
            </a:solidFill>
            <a:prstDash val="solid"/>
          </a:ln>
        </p:spPr>
        <p:txBody>
          <a:bodyPr/>
          <a:lstStyle/>
          <a:p>
            <a:endParaRPr lang="en-US"/>
          </a:p>
        </p:txBody>
      </p:sp>
      <p:sp>
        <p:nvSpPr>
          <p:cNvPr id="774" name="t"/>
          <p:cNvSpPr txBox="1"/>
          <p:nvPr/>
        </p:nvSpPr>
        <p:spPr>
          <a:xfrm>
            <a:off x="7421088" y="2660000"/>
            <a:ext cx="1772655" cy="268224"/>
          </a:xfrm>
          <a:prstGeom prst="rect">
            <a:avLst/>
          </a:prstGeom>
          <a:noFill/>
        </p:spPr>
        <p:txBody>
          <a:bodyPr wrap="square" lIns="0" tIns="0" rIns="0" bIns="0" rtlCol="0" anchor="t"/>
          <a:lstStyle/>
          <a:p>
            <a:pPr algn="l">
              <a:buNone/>
            </a:pPr>
            <a:r>
              <a:rPr lang="en-US" sz="1200" b="1" spc="267" dirty="0">
                <a:solidFill>
                  <a:srgbClr val="2563EB"/>
                </a:solidFill>
                <a:latin typeface="Aptos" pitchFamily="34" charset="0"/>
                <a:cs typeface="Aptos" pitchFamily="34" charset="0"/>
              </a:rPr>
              <a:t>04</a:t>
            </a:r>
          </a:p>
        </p:txBody>
      </p:sp>
      <p:pic>
        <p:nvPicPr>
          <p:cNvPr id="775" name="icon"/>
          <p:cNvPicPr>
            <a:picLocks noChangeAspect="1"/>
          </p:cNvPicPr>
          <p:nvPr/>
        </p:nvPicPr>
        <p:blipFill>
          <a:blip r:embed="rId6"/>
          <a:stretch>
            <a:fillRect/>
          </a:stretch>
        </p:blipFill>
        <p:spPr>
          <a:xfrm>
            <a:off x="8007415" y="2760000"/>
            <a:ext cx="600000" cy="600000"/>
          </a:xfrm>
          <a:prstGeom prst="rect">
            <a:avLst/>
          </a:prstGeom>
        </p:spPr>
      </p:pic>
      <p:sp>
        <p:nvSpPr>
          <p:cNvPr id="776" name="t"/>
          <p:cNvSpPr txBox="1"/>
          <p:nvPr/>
        </p:nvSpPr>
        <p:spPr>
          <a:xfrm>
            <a:off x="7274784" y="3560000"/>
            <a:ext cx="2065263" cy="620000"/>
          </a:xfrm>
          <a:prstGeom prst="rect">
            <a:avLst/>
          </a:prstGeom>
          <a:noFill/>
        </p:spPr>
        <p:txBody>
          <a:bodyPr wrap="square" lIns="0" tIns="0" rIns="0" bIns="0" rtlCol="0" anchor="t"/>
          <a:lstStyle/>
          <a:p>
            <a:pPr algn="ctr">
              <a:lnSpc>
                <a:spcPct val="104000"/>
              </a:lnSpc>
              <a:buNone/>
            </a:pPr>
            <a:r>
              <a:rPr lang="en-US" sz="1867" b="1" spc="-40" dirty="0">
                <a:solidFill>
                  <a:srgbClr val="0B1437"/>
                </a:solidFill>
                <a:latin typeface="Aptos Display" pitchFamily="34" charset="0"/>
                <a:cs typeface="Aptos Display" pitchFamily="34" charset="0"/>
              </a:rPr>
              <a:t>Funding Flow</a:t>
            </a:r>
          </a:p>
        </p:txBody>
      </p:sp>
      <p:sp>
        <p:nvSpPr>
          <p:cNvPr id="777" name="t"/>
          <p:cNvSpPr txBox="1"/>
          <p:nvPr/>
        </p:nvSpPr>
        <p:spPr>
          <a:xfrm>
            <a:off x="7364784" y="4220000"/>
            <a:ext cx="1885263" cy="1180000"/>
          </a:xfrm>
          <a:prstGeom prst="rect">
            <a:avLst/>
          </a:prstGeom>
          <a:noFill/>
        </p:spPr>
        <p:txBody>
          <a:bodyPr wrap="square" lIns="0" tIns="0" rIns="0" bIns="0" rtlCol="0" anchor="t"/>
          <a:lstStyle/>
          <a:p>
            <a:pPr algn="ctr">
              <a:lnSpc>
                <a:spcPct val="108000"/>
              </a:lnSpc>
              <a:buNone/>
            </a:pPr>
            <a:r>
              <a:rPr lang="en-US" sz="1100" dirty="0">
                <a:solidFill>
                  <a:srgbClr val="64748B"/>
                </a:solidFill>
                <a:latin typeface="Aptos" pitchFamily="34" charset="0"/>
                <a:cs typeface="Aptos" pitchFamily="34" charset="0"/>
              </a:rPr>
              <a:t>Branded Interac e-Transfer Request by email and secure web. Clients fund and get instant confirmation.</a:t>
            </a:r>
          </a:p>
        </p:txBody>
      </p:sp>
      <p:sp>
        <p:nvSpPr>
          <p:cNvPr id="778" name="r"/>
          <p:cNvSpPr/>
          <p:nvPr/>
        </p:nvSpPr>
        <p:spPr>
          <a:xfrm>
            <a:off x="9486352" y="2430000"/>
            <a:ext cx="2065263" cy="73152"/>
          </a:xfrm>
          <a:prstGeom prst="rect">
            <a:avLst/>
          </a:prstGeom>
          <a:solidFill>
            <a:srgbClr val="2563EB"/>
          </a:solidFill>
          <a:ln>
            <a:noFill/>
          </a:ln>
        </p:spPr>
        <p:txBody>
          <a:bodyPr/>
          <a:lstStyle/>
          <a:p>
            <a:endParaRPr lang="en-US"/>
          </a:p>
        </p:txBody>
      </p:sp>
      <p:sp>
        <p:nvSpPr>
          <p:cNvPr id="779" name="r"/>
          <p:cNvSpPr/>
          <p:nvPr/>
        </p:nvSpPr>
        <p:spPr>
          <a:xfrm>
            <a:off x="9486352" y="2520000"/>
            <a:ext cx="2065263" cy="2960000"/>
          </a:xfrm>
          <a:prstGeom prst="rect">
            <a:avLst/>
          </a:prstGeom>
          <a:solidFill>
            <a:srgbClr val="F8FAFC"/>
          </a:solidFill>
          <a:ln w="9525">
            <a:solidFill>
              <a:srgbClr val="E2E8F0"/>
            </a:solidFill>
            <a:prstDash val="solid"/>
          </a:ln>
        </p:spPr>
        <p:txBody>
          <a:bodyPr/>
          <a:lstStyle/>
          <a:p>
            <a:endParaRPr lang="en-US"/>
          </a:p>
        </p:txBody>
      </p:sp>
      <p:sp>
        <p:nvSpPr>
          <p:cNvPr id="780" name="t"/>
          <p:cNvSpPr txBox="1"/>
          <p:nvPr/>
        </p:nvSpPr>
        <p:spPr>
          <a:xfrm>
            <a:off x="9632656" y="2660000"/>
            <a:ext cx="1772655" cy="268224"/>
          </a:xfrm>
          <a:prstGeom prst="rect">
            <a:avLst/>
          </a:prstGeom>
          <a:noFill/>
        </p:spPr>
        <p:txBody>
          <a:bodyPr wrap="square" lIns="0" tIns="0" rIns="0" bIns="0" rtlCol="0" anchor="t"/>
          <a:lstStyle/>
          <a:p>
            <a:pPr algn="l">
              <a:buNone/>
            </a:pPr>
            <a:r>
              <a:rPr lang="en-US" sz="1200" b="1" spc="267" dirty="0">
                <a:solidFill>
                  <a:srgbClr val="2563EB"/>
                </a:solidFill>
                <a:latin typeface="Aptos" pitchFamily="34" charset="0"/>
                <a:cs typeface="Aptos" pitchFamily="34" charset="0"/>
              </a:rPr>
              <a:t>05</a:t>
            </a:r>
          </a:p>
        </p:txBody>
      </p:sp>
      <p:pic>
        <p:nvPicPr>
          <p:cNvPr id="781" name="icon"/>
          <p:cNvPicPr>
            <a:picLocks noChangeAspect="1"/>
          </p:cNvPicPr>
          <p:nvPr/>
        </p:nvPicPr>
        <p:blipFill>
          <a:blip r:embed="rId7"/>
          <a:stretch>
            <a:fillRect/>
          </a:stretch>
        </p:blipFill>
        <p:spPr>
          <a:xfrm>
            <a:off x="10218983" y="2760000"/>
            <a:ext cx="600000" cy="600000"/>
          </a:xfrm>
          <a:prstGeom prst="rect">
            <a:avLst/>
          </a:prstGeom>
        </p:spPr>
      </p:pic>
      <p:sp>
        <p:nvSpPr>
          <p:cNvPr id="782" name="t"/>
          <p:cNvSpPr txBox="1"/>
          <p:nvPr/>
        </p:nvSpPr>
        <p:spPr>
          <a:xfrm>
            <a:off x="9486352" y="3560000"/>
            <a:ext cx="2065263" cy="620000"/>
          </a:xfrm>
          <a:prstGeom prst="rect">
            <a:avLst/>
          </a:prstGeom>
          <a:noFill/>
        </p:spPr>
        <p:txBody>
          <a:bodyPr wrap="square" lIns="0" tIns="0" rIns="0" bIns="0" rtlCol="0" anchor="t"/>
          <a:lstStyle/>
          <a:p>
            <a:pPr algn="ctr">
              <a:lnSpc>
                <a:spcPct val="104000"/>
              </a:lnSpc>
              <a:buNone/>
            </a:pPr>
            <a:r>
              <a:rPr lang="en-US" sz="1867" b="1" spc="-40" dirty="0">
                <a:solidFill>
                  <a:srgbClr val="0B1437"/>
                </a:solidFill>
                <a:latin typeface="Aptos Display" pitchFamily="34" charset="0"/>
                <a:cs typeface="Aptos Display" pitchFamily="34" charset="0"/>
              </a:rPr>
              <a:t>Collection &amp; Payout Rails</a:t>
            </a:r>
          </a:p>
        </p:txBody>
      </p:sp>
      <p:sp>
        <p:nvSpPr>
          <p:cNvPr id="783" name="t"/>
          <p:cNvSpPr txBox="1"/>
          <p:nvPr/>
        </p:nvSpPr>
        <p:spPr>
          <a:xfrm>
            <a:off x="9576352" y="4220000"/>
            <a:ext cx="1885263" cy="1180000"/>
          </a:xfrm>
          <a:prstGeom prst="rect">
            <a:avLst/>
          </a:prstGeom>
          <a:noFill/>
        </p:spPr>
        <p:txBody>
          <a:bodyPr wrap="square" lIns="0" tIns="0" rIns="0" bIns="0" rtlCol="0" anchor="t"/>
          <a:lstStyle/>
          <a:p>
            <a:pPr algn="ctr">
              <a:lnSpc>
                <a:spcPct val="108000"/>
              </a:lnSpc>
              <a:buNone/>
            </a:pPr>
            <a:r>
              <a:rPr lang="en-US" sz="1100" dirty="0">
                <a:solidFill>
                  <a:srgbClr val="64748B"/>
                </a:solidFill>
                <a:latin typeface="Aptos" pitchFamily="34" charset="0"/>
                <a:cs typeface="Aptos" pitchFamily="34" charset="0"/>
              </a:rPr>
              <a:t>Interac e-Transfer Request to collect, EFT and e-Transfer to pay out. Canada. One API.</a:t>
            </a:r>
          </a:p>
        </p:txBody>
      </p:sp>
      <p:sp>
        <p:nvSpPr>
          <p:cNvPr id="784" name="r"/>
          <p:cNvSpPr/>
          <p:nvPr/>
        </p:nvSpPr>
        <p:spPr>
          <a:xfrm>
            <a:off x="640080" y="5827776"/>
            <a:ext cx="73152" cy="365760"/>
          </a:xfrm>
          <a:prstGeom prst="rect">
            <a:avLst/>
          </a:prstGeom>
          <a:solidFill>
            <a:srgbClr val="2563EB"/>
          </a:solidFill>
          <a:ln>
            <a:noFill/>
          </a:ln>
        </p:spPr>
        <p:txBody>
          <a:bodyPr/>
          <a:lstStyle/>
          <a:p>
            <a:endParaRPr lang="en-US"/>
          </a:p>
        </p:txBody>
      </p:sp>
      <p:sp>
        <p:nvSpPr>
          <p:cNvPr id="785" name="t"/>
          <p:cNvSpPr txBox="1"/>
          <p:nvPr/>
        </p:nvSpPr>
        <p:spPr>
          <a:xfrm>
            <a:off x="823440" y="5852160"/>
            <a:ext cx="2600000" cy="341376"/>
          </a:xfrm>
          <a:prstGeom prst="rect">
            <a:avLst/>
          </a:prstGeom>
          <a:noFill/>
        </p:spPr>
        <p:txBody>
          <a:bodyPr wrap="square" lIns="0" tIns="0" rIns="0" bIns="0" rtlCol="0" anchor="t"/>
          <a:lstStyle/>
          <a:p>
            <a:pPr algn="l">
              <a:buNone/>
            </a:pPr>
            <a:r>
              <a:rPr lang="en-US" sz="1467" b="1" dirty="0">
                <a:solidFill>
                  <a:srgbClr val="0B1437"/>
                </a:solidFill>
                <a:latin typeface="Aptos Display" pitchFamily="34" charset="0"/>
                <a:cs typeface="Aptos Display" pitchFamily="34" charset="0"/>
              </a:rPr>
              <a:t>Built for speed.</a:t>
            </a:r>
          </a:p>
        </p:txBody>
      </p:sp>
      <p:sp>
        <p:nvSpPr>
          <p:cNvPr id="786" name="t"/>
          <p:cNvSpPr txBox="1"/>
          <p:nvPr/>
        </p:nvSpPr>
        <p:spPr>
          <a:xfrm>
            <a:off x="4020000" y="5827776"/>
            <a:ext cx="2300000" cy="250000"/>
          </a:xfrm>
          <a:prstGeom prst="rect">
            <a:avLst/>
          </a:prstGeom>
          <a:noFill/>
        </p:spPr>
        <p:txBody>
          <a:bodyPr wrap="square" lIns="0" tIns="0" rIns="0" bIns="0" rtlCol="0" anchor="t"/>
          <a:lstStyle/>
          <a:p>
            <a:pPr algn="l">
              <a:buNone/>
            </a:pPr>
            <a:r>
              <a:rPr lang="en-US" sz="1600" b="1" dirty="0">
                <a:solidFill>
                  <a:srgbClr val="0B1437"/>
                </a:solidFill>
                <a:latin typeface="Aptos Display" pitchFamily="34" charset="0"/>
                <a:cs typeface="Aptos Display" pitchFamily="34" charset="0"/>
              </a:rPr>
              <a:t>&lt; 30 min</a:t>
            </a:r>
          </a:p>
        </p:txBody>
      </p:sp>
      <p:sp>
        <p:nvSpPr>
          <p:cNvPr id="787" name="t"/>
          <p:cNvSpPr txBox="1"/>
          <p:nvPr/>
        </p:nvSpPr>
        <p:spPr>
          <a:xfrm>
            <a:off x="4020000" y="6090000"/>
            <a:ext cx="2300000" cy="200000"/>
          </a:xfrm>
          <a:prstGeom prst="rect">
            <a:avLst/>
          </a:prstGeom>
          <a:noFill/>
        </p:spPr>
        <p:txBody>
          <a:bodyPr wrap="square" lIns="0" tIns="0" rIns="0" bIns="0" rtlCol="0" anchor="t"/>
          <a:lstStyle/>
          <a:p>
            <a:pPr algn="l">
              <a:buNone/>
            </a:pPr>
            <a:r>
              <a:rPr lang="en-US" sz="1000" b="1" spc="200" dirty="0">
                <a:solidFill>
                  <a:srgbClr val="2563EB"/>
                </a:solidFill>
                <a:latin typeface="Aptos" pitchFamily="34" charset="0"/>
                <a:cs typeface="Aptos" pitchFamily="34" charset="0"/>
              </a:rPr>
              <a:t>INTERAC REQUEST</a:t>
            </a:r>
          </a:p>
        </p:txBody>
      </p:sp>
      <p:sp>
        <p:nvSpPr>
          <p:cNvPr id="788" name="t"/>
          <p:cNvSpPr txBox="1"/>
          <p:nvPr/>
        </p:nvSpPr>
        <p:spPr>
          <a:xfrm>
            <a:off x="6650000" y="5827776"/>
            <a:ext cx="2300000" cy="250000"/>
          </a:xfrm>
          <a:prstGeom prst="rect">
            <a:avLst/>
          </a:prstGeom>
          <a:noFill/>
        </p:spPr>
        <p:txBody>
          <a:bodyPr wrap="square" lIns="0" tIns="0" rIns="0" bIns="0" rtlCol="0" anchor="t"/>
          <a:lstStyle/>
          <a:p>
            <a:pPr algn="l">
              <a:buNone/>
            </a:pPr>
            <a:r>
              <a:rPr lang="en-US" sz="1600" b="1" dirty="0">
                <a:solidFill>
                  <a:srgbClr val="0B1437"/>
                </a:solidFill>
                <a:latin typeface="Aptos Display" pitchFamily="34" charset="0"/>
                <a:cs typeface="Aptos Display" pitchFamily="34" charset="0"/>
              </a:rPr>
              <a:t>T + 1</a:t>
            </a:r>
          </a:p>
        </p:txBody>
      </p:sp>
      <p:sp>
        <p:nvSpPr>
          <p:cNvPr id="789" name="t"/>
          <p:cNvSpPr txBox="1"/>
          <p:nvPr/>
        </p:nvSpPr>
        <p:spPr>
          <a:xfrm>
            <a:off x="6650000" y="6090000"/>
            <a:ext cx="2300000" cy="200000"/>
          </a:xfrm>
          <a:prstGeom prst="rect">
            <a:avLst/>
          </a:prstGeom>
          <a:noFill/>
        </p:spPr>
        <p:txBody>
          <a:bodyPr wrap="square" lIns="0" tIns="0" rIns="0" bIns="0" rtlCol="0" anchor="t"/>
          <a:lstStyle/>
          <a:p>
            <a:pPr algn="l">
              <a:buNone/>
            </a:pPr>
            <a:r>
              <a:rPr lang="en-US" sz="1000" b="1" spc="200" dirty="0">
                <a:solidFill>
                  <a:srgbClr val="2563EB"/>
                </a:solidFill>
                <a:latin typeface="Aptos" pitchFamily="34" charset="0"/>
                <a:cs typeface="Aptos" pitchFamily="34" charset="0"/>
              </a:rPr>
              <a:t>EFT SETTLEMENT</a:t>
            </a:r>
          </a:p>
        </p:txBody>
      </p:sp>
      <p:sp>
        <p:nvSpPr>
          <p:cNvPr id="790" name="t"/>
          <p:cNvSpPr txBox="1"/>
          <p:nvPr/>
        </p:nvSpPr>
        <p:spPr>
          <a:xfrm>
            <a:off x="9250000" y="5827776"/>
            <a:ext cx="2300000" cy="250000"/>
          </a:xfrm>
          <a:prstGeom prst="rect">
            <a:avLst/>
          </a:prstGeom>
          <a:noFill/>
        </p:spPr>
        <p:txBody>
          <a:bodyPr wrap="square" lIns="0" tIns="0" rIns="0" bIns="0" rtlCol="0" anchor="t"/>
          <a:lstStyle/>
          <a:p>
            <a:pPr algn="l">
              <a:buNone/>
            </a:pPr>
            <a:r>
              <a:rPr lang="en-US" sz="1600" b="1" dirty="0">
                <a:solidFill>
                  <a:srgbClr val="0B1437"/>
                </a:solidFill>
                <a:latin typeface="Aptos Display" pitchFamily="34" charset="0"/>
                <a:cs typeface="Aptos Display" pitchFamily="34" charset="0"/>
              </a:rPr>
              <a:t>99.99%</a:t>
            </a:r>
          </a:p>
        </p:txBody>
      </p:sp>
      <p:sp>
        <p:nvSpPr>
          <p:cNvPr id="791" name="t"/>
          <p:cNvSpPr txBox="1"/>
          <p:nvPr/>
        </p:nvSpPr>
        <p:spPr>
          <a:xfrm>
            <a:off x="9250000" y="6090000"/>
            <a:ext cx="2300000" cy="200000"/>
          </a:xfrm>
          <a:prstGeom prst="rect">
            <a:avLst/>
          </a:prstGeom>
          <a:noFill/>
        </p:spPr>
        <p:txBody>
          <a:bodyPr wrap="square" lIns="0" tIns="0" rIns="0" bIns="0" rtlCol="0" anchor="t"/>
          <a:lstStyle/>
          <a:p>
            <a:pPr algn="l">
              <a:buNone/>
            </a:pPr>
            <a:r>
              <a:rPr lang="en-US" sz="1000" b="1" spc="200" dirty="0">
                <a:solidFill>
                  <a:srgbClr val="2563EB"/>
                </a:solidFill>
                <a:latin typeface="Aptos" pitchFamily="34" charset="0"/>
                <a:cs typeface="Aptos" pitchFamily="34" charset="0"/>
              </a:rPr>
              <a:t>UPTIME SLA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lstStyle/>
          <a:p>
            <a:pPr marL="0" indent="0">
              <a:buNone/>
            </a:pPr>
            <a:r>
              <a:rPr lang="en-US" sz="1100" b="1" kern="0" spc="300" dirty="0">
                <a:solidFill>
                  <a:srgbClr val="2563EB"/>
                </a:solidFill>
                <a:latin typeface="JetBrains Mono" pitchFamily="34" charset="0"/>
                <a:ea typeface="JetBrains Mono" pitchFamily="34" charset="-122"/>
                <a:cs typeface="JetBrains Mono" pitchFamily="34" charset="-120"/>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lstStyle/>
          <a:p>
            <a:pPr marL="0" indent="0">
              <a:buNone/>
            </a:pPr>
            <a:r>
              <a:rPr lang="en-US" sz="950" kern="0" spc="150" dirty="0">
                <a:solidFill>
                  <a:srgbClr val="64748B"/>
                </a:solidFill>
                <a:latin typeface="JetBrains Mono" pitchFamily="34" charset="0"/>
                <a:ea typeface="JetBrains Mono" pitchFamily="34" charset="-122"/>
                <a:cs typeface="JetBrains Mono" pitchFamily="34" charset="-120"/>
              </a:rPr>
              <a:t>04 · HOW IT WORKS</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lstStyle/>
          <a:p>
            <a:pPr marL="0" indent="0">
              <a:buNone/>
            </a:pPr>
            <a:r>
              <a:rPr lang="en-US" sz="2700" b="1" dirty="0">
                <a:solidFill>
                  <a:srgbClr val="0B1437"/>
                </a:solidFill>
                <a:latin typeface="Aptos Display" pitchFamily="34" charset="0"/>
                <a:ea typeface="Aptos Display" pitchFamily="34" charset="-122"/>
                <a:cs typeface="Aptos Display" pitchFamily="34" charset="-120"/>
              </a:rPr>
              <a:t>From request to reconciled settlement.</a:t>
            </a:r>
            <a:endParaRPr lang="en-US" sz="2700" dirty="0"/>
          </a:p>
        </p:txBody>
      </p:sp>
      <p:sp>
        <p:nvSpPr>
          <p:cNvPr id="6" name="Shape 4"/>
          <p:cNvSpPr/>
          <p:nvPr/>
        </p:nvSpPr>
        <p:spPr>
          <a:xfrm>
            <a:off x="640080" y="2514600"/>
            <a:ext cx="2384984" cy="2606040"/>
          </a:xfrm>
          <a:prstGeom prst="roundRect">
            <a:avLst>
              <a:gd name="adj" fmla="val 2300"/>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7" name="Shape 5"/>
          <p:cNvSpPr/>
          <p:nvPr/>
        </p:nvSpPr>
        <p:spPr>
          <a:xfrm>
            <a:off x="676656" y="2505456"/>
            <a:ext cx="2311832" cy="64008"/>
          </a:xfrm>
          <a:prstGeom prst="roundRect">
            <a:avLst>
              <a:gd name="adj" fmla="val 28571"/>
            </a:avLst>
          </a:prstGeom>
          <a:solidFill>
            <a:srgbClr val="2563EB"/>
          </a:solidFill>
          <a:ln/>
        </p:spPr>
        <p:txBody>
          <a:bodyPr/>
          <a:lstStyle/>
          <a:p>
            <a:endParaRPr lang="en-US"/>
          </a:p>
        </p:txBody>
      </p:sp>
      <p:pic>
        <p:nvPicPr>
          <p:cNvPr id="8" name="Image 0" descr="assets/fi_send_ink.png"/>
          <p:cNvPicPr>
            <a:picLocks noChangeAspect="1"/>
          </p:cNvPicPr>
          <p:nvPr/>
        </p:nvPicPr>
        <p:blipFill>
          <a:blip r:embed="rId3"/>
          <a:stretch>
            <a:fillRect/>
          </a:stretch>
        </p:blipFill>
        <p:spPr>
          <a:xfrm>
            <a:off x="1521676" y="2898648"/>
            <a:ext cx="621792" cy="621792"/>
          </a:xfrm>
          <a:prstGeom prst="rect">
            <a:avLst/>
          </a:prstGeom>
        </p:spPr>
      </p:pic>
      <p:sp>
        <p:nvSpPr>
          <p:cNvPr id="9" name="Text 6"/>
          <p:cNvSpPr/>
          <p:nvPr/>
        </p:nvSpPr>
        <p:spPr>
          <a:xfrm>
            <a:off x="640080" y="3721608"/>
            <a:ext cx="2384984" cy="274320"/>
          </a:xfrm>
          <a:prstGeom prst="rect">
            <a:avLst/>
          </a:prstGeom>
          <a:noFill/>
          <a:ln/>
        </p:spPr>
        <p:txBody>
          <a:bodyPr wrap="square" rtlCol="0" anchor="ctr"/>
          <a:lstStyle/>
          <a:p>
            <a:pPr marL="0" indent="0" algn="ctr">
              <a:buNone/>
            </a:pPr>
            <a:r>
              <a:rPr lang="en-US" sz="900" b="1" kern="0" spc="200" dirty="0">
                <a:solidFill>
                  <a:srgbClr val="2563EB"/>
                </a:solidFill>
                <a:latin typeface="JetBrains Mono" pitchFamily="34" charset="0"/>
                <a:ea typeface="JetBrains Mono" pitchFamily="34" charset="-122"/>
                <a:cs typeface="JetBrains Mono" pitchFamily="34" charset="-120"/>
              </a:rPr>
              <a:t>STEP 01</a:t>
            </a:r>
            <a:endParaRPr lang="en-US" sz="900" dirty="0"/>
          </a:p>
        </p:txBody>
      </p:sp>
      <p:sp>
        <p:nvSpPr>
          <p:cNvPr id="10" name="Text 7"/>
          <p:cNvSpPr/>
          <p:nvPr/>
        </p:nvSpPr>
        <p:spPr>
          <a:xfrm>
            <a:off x="777240" y="3977640"/>
            <a:ext cx="2110664" cy="365760"/>
          </a:xfrm>
          <a:prstGeom prst="rect">
            <a:avLst/>
          </a:prstGeom>
          <a:noFill/>
          <a:ln/>
        </p:spPr>
        <p:txBody>
          <a:bodyPr wrap="square" lIns="0" tIns="0" rIns="0" bIns="0" rtlCol="0" anchor="ctr"/>
          <a:lstStyle/>
          <a:p>
            <a:pPr marL="0" indent="0" algn="ctr">
              <a:buNone/>
            </a:pPr>
            <a:r>
              <a:rPr lang="en-US" sz="1700" b="1" dirty="0">
                <a:solidFill>
                  <a:srgbClr val="0B1437"/>
                </a:solidFill>
                <a:latin typeface="Aptos Display" pitchFamily="34" charset="0"/>
                <a:ea typeface="Aptos Display" pitchFamily="34" charset="-122"/>
                <a:cs typeface="Aptos Display" pitchFamily="34" charset="-120"/>
              </a:rPr>
              <a:t>Request</a:t>
            </a:r>
            <a:endParaRPr lang="en-US" sz="1700" dirty="0"/>
          </a:p>
        </p:txBody>
      </p:sp>
      <p:sp>
        <p:nvSpPr>
          <p:cNvPr id="11" name="Text 8"/>
          <p:cNvSpPr/>
          <p:nvPr/>
        </p:nvSpPr>
        <p:spPr>
          <a:xfrm>
            <a:off x="841248" y="4343400"/>
            <a:ext cx="1982648" cy="640080"/>
          </a:xfrm>
          <a:prstGeom prst="rect">
            <a:avLst/>
          </a:prstGeom>
          <a:noFill/>
          <a:ln/>
        </p:spPr>
        <p:txBody>
          <a:bodyPr wrap="square" lIns="0" tIns="0" rIns="0" bIns="0" rtlCol="0" anchor="ctr"/>
          <a:lstStyle/>
          <a:p>
            <a:pPr marL="0" indent="0" algn="ctr">
              <a:lnSpc>
                <a:spcPts val="1450"/>
              </a:lnSpc>
              <a:buNone/>
            </a:pPr>
            <a:r>
              <a:rPr lang="en-US" sz="1100" dirty="0">
                <a:solidFill>
                  <a:srgbClr val="64748B"/>
                </a:solidFill>
                <a:latin typeface="Aptos" pitchFamily="34" charset="0"/>
                <a:ea typeface="Aptos" pitchFamily="34" charset="-122"/>
                <a:cs typeface="Aptos" pitchFamily="34" charset="-120"/>
              </a:rPr>
              <a:t>EFT or </a:t>
            </a:r>
            <a:r>
              <a:rPr lang="en-US" sz="1100" dirty="0" err="1">
                <a:solidFill>
                  <a:srgbClr val="64748B"/>
                </a:solidFill>
                <a:latin typeface="Aptos" pitchFamily="34" charset="0"/>
                <a:ea typeface="Aptos" pitchFamily="34" charset="-122"/>
                <a:cs typeface="Aptos" pitchFamily="34" charset="-120"/>
              </a:rPr>
              <a:t>Interac</a:t>
            </a:r>
            <a:r>
              <a:rPr lang="en-US" sz="1100" dirty="0">
                <a:solidFill>
                  <a:srgbClr val="64748B"/>
                </a:solidFill>
                <a:latin typeface="Aptos" pitchFamily="34" charset="0"/>
                <a:ea typeface="Aptos" pitchFamily="34" charset="-122"/>
                <a:cs typeface="Aptos" pitchFamily="34" charset="-120"/>
              </a:rPr>
              <a:t> e-Transfer Request issued to the SMB client via API</a:t>
            </a:r>
            <a:endParaRPr lang="en-US" sz="1100" dirty="0"/>
          </a:p>
        </p:txBody>
      </p:sp>
      <p:pic>
        <p:nvPicPr>
          <p:cNvPr id="12" name="Image 1" descr="assets/fi_arrow_blue.png"/>
          <p:cNvPicPr>
            <a:picLocks noChangeAspect="1"/>
          </p:cNvPicPr>
          <p:nvPr/>
        </p:nvPicPr>
        <p:blipFill>
          <a:blip r:embed="rId4"/>
          <a:stretch>
            <a:fillRect/>
          </a:stretch>
        </p:blipFill>
        <p:spPr>
          <a:xfrm>
            <a:off x="3134792" y="3429000"/>
            <a:ext cx="237744" cy="237744"/>
          </a:xfrm>
          <a:prstGeom prst="rect">
            <a:avLst/>
          </a:prstGeom>
        </p:spPr>
      </p:pic>
      <p:sp>
        <p:nvSpPr>
          <p:cNvPr id="13" name="Shape 9"/>
          <p:cNvSpPr/>
          <p:nvPr/>
        </p:nvSpPr>
        <p:spPr>
          <a:xfrm>
            <a:off x="3482264" y="2514600"/>
            <a:ext cx="2384984" cy="2606040"/>
          </a:xfrm>
          <a:prstGeom prst="roundRect">
            <a:avLst>
              <a:gd name="adj" fmla="val 2300"/>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14" name="Shape 10"/>
          <p:cNvSpPr/>
          <p:nvPr/>
        </p:nvSpPr>
        <p:spPr>
          <a:xfrm>
            <a:off x="3518840" y="2505456"/>
            <a:ext cx="2311832" cy="64008"/>
          </a:xfrm>
          <a:prstGeom prst="roundRect">
            <a:avLst>
              <a:gd name="adj" fmla="val 28571"/>
            </a:avLst>
          </a:prstGeom>
          <a:solidFill>
            <a:srgbClr val="2563EB"/>
          </a:solidFill>
          <a:ln/>
        </p:spPr>
        <p:txBody>
          <a:bodyPr/>
          <a:lstStyle/>
          <a:p>
            <a:endParaRPr lang="en-US"/>
          </a:p>
        </p:txBody>
      </p:sp>
      <p:pic>
        <p:nvPicPr>
          <p:cNvPr id="15" name="Image 2" descr="assets/fi_users_ink.png"/>
          <p:cNvPicPr>
            <a:picLocks noChangeAspect="1"/>
          </p:cNvPicPr>
          <p:nvPr/>
        </p:nvPicPr>
        <p:blipFill>
          <a:blip r:embed="rId5"/>
          <a:stretch>
            <a:fillRect/>
          </a:stretch>
        </p:blipFill>
        <p:spPr>
          <a:xfrm>
            <a:off x="4363860" y="2898648"/>
            <a:ext cx="621792" cy="621792"/>
          </a:xfrm>
          <a:prstGeom prst="rect">
            <a:avLst/>
          </a:prstGeom>
        </p:spPr>
      </p:pic>
      <p:sp>
        <p:nvSpPr>
          <p:cNvPr id="16" name="Text 11"/>
          <p:cNvSpPr/>
          <p:nvPr/>
        </p:nvSpPr>
        <p:spPr>
          <a:xfrm>
            <a:off x="3482264" y="3721608"/>
            <a:ext cx="2384984" cy="274320"/>
          </a:xfrm>
          <a:prstGeom prst="rect">
            <a:avLst/>
          </a:prstGeom>
          <a:noFill/>
          <a:ln/>
        </p:spPr>
        <p:txBody>
          <a:bodyPr wrap="square" rtlCol="0" anchor="ctr"/>
          <a:lstStyle/>
          <a:p>
            <a:pPr marL="0" indent="0" algn="ctr">
              <a:buNone/>
            </a:pPr>
            <a:r>
              <a:rPr lang="en-US" sz="900" b="1" kern="0" spc="200" dirty="0">
                <a:solidFill>
                  <a:srgbClr val="2563EB"/>
                </a:solidFill>
                <a:latin typeface="JetBrains Mono" pitchFamily="34" charset="0"/>
                <a:ea typeface="JetBrains Mono" pitchFamily="34" charset="-122"/>
                <a:cs typeface="JetBrains Mono" pitchFamily="34" charset="-120"/>
              </a:rPr>
              <a:t>STEP 02</a:t>
            </a:r>
            <a:endParaRPr lang="en-US" sz="900" dirty="0"/>
          </a:p>
        </p:txBody>
      </p:sp>
      <p:sp>
        <p:nvSpPr>
          <p:cNvPr id="17" name="Text 12"/>
          <p:cNvSpPr/>
          <p:nvPr/>
        </p:nvSpPr>
        <p:spPr>
          <a:xfrm>
            <a:off x="3619424" y="3977640"/>
            <a:ext cx="2110664" cy="365760"/>
          </a:xfrm>
          <a:prstGeom prst="rect">
            <a:avLst/>
          </a:prstGeom>
          <a:noFill/>
          <a:ln/>
        </p:spPr>
        <p:txBody>
          <a:bodyPr wrap="square" lIns="0" tIns="0" rIns="0" bIns="0" rtlCol="0" anchor="ctr"/>
          <a:lstStyle/>
          <a:p>
            <a:pPr marL="0" indent="0" algn="ctr">
              <a:buNone/>
            </a:pPr>
            <a:r>
              <a:rPr lang="en-US" sz="1700" b="1" dirty="0">
                <a:solidFill>
                  <a:srgbClr val="0B1437"/>
                </a:solidFill>
                <a:latin typeface="Aptos Display" pitchFamily="34" charset="0"/>
                <a:ea typeface="Aptos Display" pitchFamily="34" charset="-122"/>
                <a:cs typeface="Aptos Display" pitchFamily="34" charset="-120"/>
              </a:rPr>
              <a:t>Fund</a:t>
            </a:r>
            <a:endParaRPr lang="en-US" sz="1700" dirty="0"/>
          </a:p>
        </p:txBody>
      </p:sp>
      <p:sp>
        <p:nvSpPr>
          <p:cNvPr id="18" name="Text 13"/>
          <p:cNvSpPr/>
          <p:nvPr/>
        </p:nvSpPr>
        <p:spPr>
          <a:xfrm>
            <a:off x="3683432" y="4343400"/>
            <a:ext cx="1982648" cy="640080"/>
          </a:xfrm>
          <a:prstGeom prst="rect">
            <a:avLst/>
          </a:prstGeom>
          <a:noFill/>
          <a:ln/>
        </p:spPr>
        <p:txBody>
          <a:bodyPr wrap="square" lIns="0" tIns="0" rIns="0" bIns="0" rtlCol="0" anchor="ctr"/>
          <a:lstStyle/>
          <a:p>
            <a:pPr marL="0" indent="0" algn="ctr">
              <a:lnSpc>
                <a:spcPts val="1450"/>
              </a:lnSpc>
              <a:buNone/>
            </a:pPr>
            <a:r>
              <a:rPr lang="en-US" sz="1100" dirty="0">
                <a:solidFill>
                  <a:srgbClr val="64748B"/>
                </a:solidFill>
                <a:latin typeface="Aptos" pitchFamily="34" charset="0"/>
                <a:ea typeface="Aptos" pitchFamily="34" charset="-122"/>
                <a:cs typeface="Aptos" pitchFamily="34" charset="-120"/>
              </a:rPr>
              <a:t>The client funds from their bank in a frictionless flow</a:t>
            </a:r>
            <a:endParaRPr lang="en-US" sz="1100" dirty="0"/>
          </a:p>
        </p:txBody>
      </p:sp>
      <p:pic>
        <p:nvPicPr>
          <p:cNvPr id="19" name="Image 3" descr="assets/fi_arrow_blue.png"/>
          <p:cNvPicPr>
            <a:picLocks noChangeAspect="1"/>
          </p:cNvPicPr>
          <p:nvPr/>
        </p:nvPicPr>
        <p:blipFill>
          <a:blip r:embed="rId4"/>
          <a:stretch>
            <a:fillRect/>
          </a:stretch>
        </p:blipFill>
        <p:spPr>
          <a:xfrm>
            <a:off x="5976976" y="3429000"/>
            <a:ext cx="237744" cy="237744"/>
          </a:xfrm>
          <a:prstGeom prst="rect">
            <a:avLst/>
          </a:prstGeom>
        </p:spPr>
      </p:pic>
      <p:sp>
        <p:nvSpPr>
          <p:cNvPr id="20" name="Shape 14"/>
          <p:cNvSpPr/>
          <p:nvPr/>
        </p:nvSpPr>
        <p:spPr>
          <a:xfrm>
            <a:off x="6324448" y="2514600"/>
            <a:ext cx="2384984" cy="2606040"/>
          </a:xfrm>
          <a:prstGeom prst="roundRect">
            <a:avLst>
              <a:gd name="adj" fmla="val 2300"/>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21" name="Shape 15"/>
          <p:cNvSpPr/>
          <p:nvPr/>
        </p:nvSpPr>
        <p:spPr>
          <a:xfrm>
            <a:off x="6361024" y="2505456"/>
            <a:ext cx="2311832" cy="64008"/>
          </a:xfrm>
          <a:prstGeom prst="roundRect">
            <a:avLst>
              <a:gd name="adj" fmla="val 28571"/>
            </a:avLst>
          </a:prstGeom>
          <a:solidFill>
            <a:srgbClr val="2563EB"/>
          </a:solidFill>
          <a:ln/>
        </p:spPr>
        <p:txBody>
          <a:bodyPr/>
          <a:lstStyle/>
          <a:p>
            <a:endParaRPr lang="en-US"/>
          </a:p>
        </p:txBody>
      </p:sp>
      <p:pic>
        <p:nvPicPr>
          <p:cNvPr id="22" name="Image 4" descr="assets/fi_file_ink.png"/>
          <p:cNvPicPr>
            <a:picLocks noChangeAspect="1"/>
          </p:cNvPicPr>
          <p:nvPr/>
        </p:nvPicPr>
        <p:blipFill>
          <a:blip r:embed="rId6"/>
          <a:stretch>
            <a:fillRect/>
          </a:stretch>
        </p:blipFill>
        <p:spPr>
          <a:xfrm>
            <a:off x="7206044" y="2898648"/>
            <a:ext cx="621792" cy="621792"/>
          </a:xfrm>
          <a:prstGeom prst="rect">
            <a:avLst/>
          </a:prstGeom>
        </p:spPr>
      </p:pic>
      <p:sp>
        <p:nvSpPr>
          <p:cNvPr id="23" name="Text 16"/>
          <p:cNvSpPr/>
          <p:nvPr/>
        </p:nvSpPr>
        <p:spPr>
          <a:xfrm>
            <a:off x="6324448" y="3721608"/>
            <a:ext cx="2384984" cy="274320"/>
          </a:xfrm>
          <a:prstGeom prst="rect">
            <a:avLst/>
          </a:prstGeom>
          <a:noFill/>
          <a:ln/>
        </p:spPr>
        <p:txBody>
          <a:bodyPr wrap="square" rtlCol="0" anchor="ctr"/>
          <a:lstStyle/>
          <a:p>
            <a:pPr marL="0" indent="0" algn="ctr">
              <a:buNone/>
            </a:pPr>
            <a:r>
              <a:rPr lang="en-US" sz="900" b="1" kern="0" spc="200" dirty="0">
                <a:solidFill>
                  <a:srgbClr val="2563EB"/>
                </a:solidFill>
                <a:latin typeface="JetBrains Mono" pitchFamily="34" charset="0"/>
                <a:ea typeface="JetBrains Mono" pitchFamily="34" charset="-122"/>
                <a:cs typeface="JetBrains Mono" pitchFamily="34" charset="-120"/>
              </a:rPr>
              <a:t>STEP 03</a:t>
            </a:r>
            <a:endParaRPr lang="en-US" sz="900" dirty="0"/>
          </a:p>
        </p:txBody>
      </p:sp>
      <p:sp>
        <p:nvSpPr>
          <p:cNvPr id="24" name="Text 17"/>
          <p:cNvSpPr/>
          <p:nvPr/>
        </p:nvSpPr>
        <p:spPr>
          <a:xfrm>
            <a:off x="6461608" y="3977640"/>
            <a:ext cx="2110664" cy="365760"/>
          </a:xfrm>
          <a:prstGeom prst="rect">
            <a:avLst/>
          </a:prstGeom>
          <a:noFill/>
          <a:ln/>
        </p:spPr>
        <p:txBody>
          <a:bodyPr wrap="square" lIns="0" tIns="0" rIns="0" bIns="0" rtlCol="0" anchor="ctr"/>
          <a:lstStyle/>
          <a:p>
            <a:pPr marL="0" indent="0" algn="ctr">
              <a:buNone/>
            </a:pPr>
            <a:r>
              <a:rPr lang="en-US" sz="1700" b="1" dirty="0">
                <a:solidFill>
                  <a:srgbClr val="0B1437"/>
                </a:solidFill>
                <a:latin typeface="Aptos Display" pitchFamily="34" charset="0"/>
                <a:ea typeface="Aptos Display" pitchFamily="34" charset="-122"/>
                <a:cs typeface="Aptos Display" pitchFamily="34" charset="-120"/>
              </a:rPr>
              <a:t>Reconcile</a:t>
            </a:r>
            <a:endParaRPr lang="en-US" sz="1700" dirty="0"/>
          </a:p>
        </p:txBody>
      </p:sp>
      <p:sp>
        <p:nvSpPr>
          <p:cNvPr id="25" name="Text 18"/>
          <p:cNvSpPr/>
          <p:nvPr/>
        </p:nvSpPr>
        <p:spPr>
          <a:xfrm>
            <a:off x="6525616" y="4343400"/>
            <a:ext cx="1982648" cy="640080"/>
          </a:xfrm>
          <a:prstGeom prst="rect">
            <a:avLst/>
          </a:prstGeom>
          <a:noFill/>
          <a:ln/>
        </p:spPr>
        <p:txBody>
          <a:bodyPr wrap="square" lIns="0" tIns="0" rIns="0" bIns="0" rtlCol="0" anchor="ctr"/>
          <a:lstStyle/>
          <a:p>
            <a:pPr marL="0" indent="0" algn="ctr">
              <a:lnSpc>
                <a:spcPts val="1450"/>
              </a:lnSpc>
              <a:buNone/>
            </a:pPr>
            <a:r>
              <a:rPr lang="en-US" sz="1100" dirty="0">
                <a:solidFill>
                  <a:srgbClr val="64748B"/>
                </a:solidFill>
                <a:latin typeface="Aptos" pitchFamily="34" charset="0"/>
                <a:ea typeface="Aptos" pitchFamily="34" charset="-122"/>
                <a:cs typeface="Aptos" pitchFamily="34" charset="-120"/>
              </a:rPr>
              <a:t>Auto-matched and reported in the operations portal</a:t>
            </a:r>
            <a:endParaRPr lang="en-US" sz="1100" dirty="0"/>
          </a:p>
        </p:txBody>
      </p:sp>
      <p:pic>
        <p:nvPicPr>
          <p:cNvPr id="26" name="Image 5" descr="assets/fi_arrow_blue.png"/>
          <p:cNvPicPr>
            <a:picLocks noChangeAspect="1"/>
          </p:cNvPicPr>
          <p:nvPr/>
        </p:nvPicPr>
        <p:blipFill>
          <a:blip r:embed="rId4"/>
          <a:stretch>
            <a:fillRect/>
          </a:stretch>
        </p:blipFill>
        <p:spPr>
          <a:xfrm>
            <a:off x="8819159" y="3429000"/>
            <a:ext cx="237744" cy="237744"/>
          </a:xfrm>
          <a:prstGeom prst="rect">
            <a:avLst/>
          </a:prstGeom>
        </p:spPr>
      </p:pic>
      <p:sp>
        <p:nvSpPr>
          <p:cNvPr id="27" name="Shape 19"/>
          <p:cNvSpPr/>
          <p:nvPr/>
        </p:nvSpPr>
        <p:spPr>
          <a:xfrm>
            <a:off x="9166631" y="2514600"/>
            <a:ext cx="2384984" cy="2606040"/>
          </a:xfrm>
          <a:prstGeom prst="roundRect">
            <a:avLst>
              <a:gd name="adj" fmla="val 2300"/>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28" name="Shape 20"/>
          <p:cNvSpPr/>
          <p:nvPr/>
        </p:nvSpPr>
        <p:spPr>
          <a:xfrm>
            <a:off x="9203207" y="2505456"/>
            <a:ext cx="2311832" cy="64008"/>
          </a:xfrm>
          <a:prstGeom prst="roundRect">
            <a:avLst>
              <a:gd name="adj" fmla="val 28571"/>
            </a:avLst>
          </a:prstGeom>
          <a:solidFill>
            <a:srgbClr val="2563EB"/>
          </a:solidFill>
          <a:ln/>
        </p:spPr>
        <p:txBody>
          <a:bodyPr/>
          <a:lstStyle/>
          <a:p>
            <a:endParaRPr lang="en-US"/>
          </a:p>
        </p:txBody>
      </p:sp>
      <p:pic>
        <p:nvPicPr>
          <p:cNvPr id="29" name="Image 6" descr="assets/fi_db_ink.png"/>
          <p:cNvPicPr>
            <a:picLocks noChangeAspect="1"/>
          </p:cNvPicPr>
          <p:nvPr/>
        </p:nvPicPr>
        <p:blipFill>
          <a:blip r:embed="rId7"/>
          <a:stretch>
            <a:fillRect/>
          </a:stretch>
        </p:blipFill>
        <p:spPr>
          <a:xfrm>
            <a:off x="10048227" y="2898648"/>
            <a:ext cx="621792" cy="621792"/>
          </a:xfrm>
          <a:prstGeom prst="rect">
            <a:avLst/>
          </a:prstGeom>
        </p:spPr>
      </p:pic>
      <p:sp>
        <p:nvSpPr>
          <p:cNvPr id="30" name="Text 21"/>
          <p:cNvSpPr/>
          <p:nvPr/>
        </p:nvSpPr>
        <p:spPr>
          <a:xfrm>
            <a:off x="9166631" y="3721608"/>
            <a:ext cx="2384984" cy="274320"/>
          </a:xfrm>
          <a:prstGeom prst="rect">
            <a:avLst/>
          </a:prstGeom>
          <a:noFill/>
          <a:ln/>
        </p:spPr>
        <p:txBody>
          <a:bodyPr wrap="square" rtlCol="0" anchor="ctr"/>
          <a:lstStyle/>
          <a:p>
            <a:pPr marL="0" indent="0" algn="ctr">
              <a:buNone/>
            </a:pPr>
            <a:r>
              <a:rPr lang="en-US" sz="900" b="1" kern="0" spc="200" dirty="0">
                <a:solidFill>
                  <a:srgbClr val="2563EB"/>
                </a:solidFill>
                <a:latin typeface="JetBrains Mono" pitchFamily="34" charset="0"/>
                <a:ea typeface="JetBrains Mono" pitchFamily="34" charset="-122"/>
                <a:cs typeface="JetBrains Mono" pitchFamily="34" charset="-120"/>
              </a:rPr>
              <a:t>STEP 04</a:t>
            </a:r>
            <a:endParaRPr lang="en-US" sz="900" dirty="0"/>
          </a:p>
        </p:txBody>
      </p:sp>
      <p:sp>
        <p:nvSpPr>
          <p:cNvPr id="31" name="Text 22"/>
          <p:cNvSpPr/>
          <p:nvPr/>
        </p:nvSpPr>
        <p:spPr>
          <a:xfrm>
            <a:off x="9303791" y="3977640"/>
            <a:ext cx="2110664" cy="365760"/>
          </a:xfrm>
          <a:prstGeom prst="rect">
            <a:avLst/>
          </a:prstGeom>
          <a:noFill/>
          <a:ln/>
        </p:spPr>
        <p:txBody>
          <a:bodyPr wrap="square" lIns="0" tIns="0" rIns="0" bIns="0" rtlCol="0" anchor="ctr"/>
          <a:lstStyle/>
          <a:p>
            <a:pPr marL="0" indent="0" algn="ctr">
              <a:buNone/>
            </a:pPr>
            <a:r>
              <a:rPr lang="en-US" sz="1700" b="1" dirty="0">
                <a:solidFill>
                  <a:srgbClr val="0B1437"/>
                </a:solidFill>
                <a:latin typeface="Aptos Display" pitchFamily="34" charset="0"/>
                <a:ea typeface="Aptos Display" pitchFamily="34" charset="-122"/>
                <a:cs typeface="Aptos Display" pitchFamily="34" charset="-120"/>
              </a:rPr>
              <a:t>Pay out</a:t>
            </a:r>
            <a:endParaRPr lang="en-US" sz="1700" dirty="0"/>
          </a:p>
        </p:txBody>
      </p:sp>
      <p:sp>
        <p:nvSpPr>
          <p:cNvPr id="32" name="Text 23"/>
          <p:cNvSpPr/>
          <p:nvPr/>
        </p:nvSpPr>
        <p:spPr>
          <a:xfrm>
            <a:off x="9367799" y="4343400"/>
            <a:ext cx="1982648" cy="640080"/>
          </a:xfrm>
          <a:prstGeom prst="rect">
            <a:avLst/>
          </a:prstGeom>
          <a:noFill/>
          <a:ln/>
        </p:spPr>
        <p:txBody>
          <a:bodyPr wrap="square" lIns="0" tIns="0" rIns="0" bIns="0" rtlCol="0" anchor="ctr"/>
          <a:lstStyle/>
          <a:p>
            <a:pPr marL="0" indent="0" algn="ctr">
              <a:lnSpc>
                <a:spcPts val="1450"/>
              </a:lnSpc>
              <a:buNone/>
            </a:pPr>
            <a:r>
              <a:rPr lang="en-US" sz="1100" dirty="0">
                <a:solidFill>
                  <a:srgbClr val="64748B"/>
                </a:solidFill>
                <a:latin typeface="Aptos" pitchFamily="34" charset="0"/>
                <a:ea typeface="Aptos" pitchFamily="34" charset="-122"/>
                <a:cs typeface="Aptos" pitchFamily="34" charset="-120"/>
              </a:rPr>
              <a:t>EFT or e-Transfer out to the vendor or employee</a:t>
            </a:r>
            <a:endParaRPr lang="en-US" sz="1100" dirty="0"/>
          </a:p>
        </p:txBody>
      </p:sp>
      <p:sp>
        <p:nvSpPr>
          <p:cNvPr id="33" name="Shape 24"/>
          <p:cNvSpPr/>
          <p:nvPr/>
        </p:nvSpPr>
        <p:spPr>
          <a:xfrm>
            <a:off x="640080" y="5486400"/>
            <a:ext cx="10911535" cy="502920"/>
          </a:xfrm>
          <a:prstGeom prst="roundRect">
            <a:avLst>
              <a:gd name="adj" fmla="val 10909"/>
            </a:avLst>
          </a:prstGeom>
          <a:solidFill>
            <a:srgbClr val="F1F5FB"/>
          </a:solidFill>
          <a:ln/>
        </p:spPr>
        <p:txBody>
          <a:bodyPr/>
          <a:lstStyle/>
          <a:p>
            <a:endParaRPr lang="en-US"/>
          </a:p>
        </p:txBody>
      </p:sp>
      <p:sp>
        <p:nvSpPr>
          <p:cNvPr id="34" name="Text 25"/>
          <p:cNvSpPr/>
          <p:nvPr/>
        </p:nvSpPr>
        <p:spPr>
          <a:xfrm>
            <a:off x="640080" y="5486400"/>
            <a:ext cx="10911535" cy="502920"/>
          </a:xfrm>
          <a:prstGeom prst="rect">
            <a:avLst/>
          </a:prstGeom>
          <a:noFill/>
          <a:ln/>
        </p:spPr>
        <p:txBody>
          <a:bodyPr wrap="square" lIns="0" tIns="0" rIns="0" bIns="0" rtlCol="0" anchor="ctr"/>
          <a:lstStyle/>
          <a:p>
            <a:pPr marL="0" indent="0" algn="ctr">
              <a:buNone/>
            </a:pPr>
            <a:r>
              <a:rPr lang="en-US" sz="1300" dirty="0">
                <a:solidFill>
                  <a:srgbClr val="64748B"/>
                </a:solidFill>
                <a:latin typeface="Aptos" pitchFamily="34" charset="0"/>
                <a:ea typeface="Aptos" pitchFamily="34" charset="-122"/>
                <a:cs typeface="Aptos" pitchFamily="34" charset="-120"/>
              </a:rPr>
              <a:t>Payors  </a:t>
            </a:r>
            <a:r>
              <a:rPr lang="en-US" sz="1300" b="1" dirty="0">
                <a:solidFill>
                  <a:srgbClr val="0B1437"/>
                </a:solidFill>
                <a:latin typeface="Aptos" pitchFamily="34" charset="0"/>
                <a:ea typeface="Aptos" pitchFamily="34" charset="-122"/>
                <a:cs typeface="Aptos" pitchFamily="34" charset="-120"/>
              </a:rPr>
              <a:t>SMB clients     </a:t>
            </a:r>
            <a:r>
              <a:rPr lang="en-US" sz="1300" dirty="0">
                <a:solidFill>
                  <a:srgbClr val="64748B"/>
                </a:solidFill>
                <a:latin typeface="Aptos" pitchFamily="34" charset="0"/>
                <a:ea typeface="Aptos" pitchFamily="34" charset="-122"/>
                <a:cs typeface="Aptos" pitchFamily="34" charset="-120"/>
              </a:rPr>
              <a:t>Payees  </a:t>
            </a:r>
            <a:r>
              <a:rPr lang="en-US" sz="1300" b="1" dirty="0">
                <a:solidFill>
                  <a:srgbClr val="0B1437"/>
                </a:solidFill>
                <a:latin typeface="Aptos" pitchFamily="34" charset="0"/>
                <a:ea typeface="Aptos" pitchFamily="34" charset="-122"/>
                <a:cs typeface="Aptos" pitchFamily="34" charset="-120"/>
              </a:rPr>
              <a:t>vendors and employees</a:t>
            </a:r>
            <a:endParaRPr lang="en-US" sz="1300" dirty="0"/>
          </a:p>
        </p:txBody>
      </p:sp>
      <p:sp>
        <p:nvSpPr>
          <p:cNvPr id="35" name="Text 26"/>
          <p:cNvSpPr/>
          <p:nvPr/>
        </p:nvSpPr>
        <p:spPr>
          <a:xfrm>
            <a:off x="640080" y="6455664"/>
            <a:ext cx="9144000" cy="274320"/>
          </a:xfrm>
          <a:prstGeom prst="rect">
            <a:avLst/>
          </a:prstGeom>
          <a:noFill/>
          <a:ln/>
        </p:spPr>
        <p:txBody>
          <a:bodyPr wrap="square" rtlCol="0" anchor="ctr"/>
          <a:lstStyle/>
          <a:p>
            <a:pPr marL="0" indent="0">
              <a:buNone/>
            </a:pPr>
            <a:r>
              <a:rPr lang="en-US" sz="750" kern="0" spc="180" dirty="0">
                <a:solidFill>
                  <a:srgbClr val="94A3B8"/>
                </a:solidFill>
                <a:latin typeface="JetBrains Mono" pitchFamily="34" charset="0"/>
                <a:ea typeface="JetBrains Mono" pitchFamily="34" charset="-122"/>
                <a:cs typeface="JetBrains Mono" pitchFamily="34" charset="-120"/>
              </a:rPr>
              <a:t>DREAM PAYMENTS  ·  BUSINESS PAYMENT HUB  ·  COMMERCIAL PROPOSAL</a:t>
            </a:r>
            <a:endParaRPr lang="en-US" sz="750" dirty="0"/>
          </a:p>
        </p:txBody>
      </p:sp>
      <p:sp>
        <p:nvSpPr>
          <p:cNvPr id="36" name="Text 27"/>
          <p:cNvSpPr/>
          <p:nvPr/>
        </p:nvSpPr>
        <p:spPr>
          <a:xfrm>
            <a:off x="10637215" y="6455664"/>
            <a:ext cx="914400" cy="274320"/>
          </a:xfrm>
          <a:prstGeom prst="rect">
            <a:avLst/>
          </a:prstGeom>
          <a:noFill/>
          <a:ln/>
        </p:spPr>
        <p:txBody>
          <a:bodyPr wrap="square" rtlCol="0" anchor="ctr"/>
          <a:lstStyle/>
          <a:p>
            <a:pPr marL="0" indent="0" algn="r">
              <a:buNone/>
            </a:pPr>
            <a:r>
              <a:rPr lang="en-US" sz="800" b="1" kern="0" spc="150" dirty="0">
                <a:solidFill>
                  <a:srgbClr val="2563EB"/>
                </a:solidFill>
                <a:latin typeface="JetBrains Mono" pitchFamily="34" charset="0"/>
                <a:ea typeface="JetBrains Mono" pitchFamily="34" charset="-122"/>
                <a:cs typeface="JetBrains Mono" pitchFamily="34" charset="-120"/>
              </a:rPr>
              <a:t>08</a:t>
            </a:r>
            <a:endParaRPr lang="en-US" sz="800" dirty="0"/>
          </a:p>
        </p:txBody>
      </p:sp>
      <p:sp>
        <p:nvSpPr>
          <p:cNvPr id="950" name="subtitle"/>
          <p:cNvSpPr txBox="1"/>
          <p:nvPr/>
        </p:nvSpPr>
        <p:spPr>
          <a:xfrm>
            <a:off x="640080" y="1874520"/>
            <a:ext cx="10728655" cy="590000"/>
          </a:xfrm>
          <a:prstGeom prst="rect">
            <a:avLst/>
          </a:prstGeom>
          <a:noFill/>
        </p:spPr>
        <p:txBody>
          <a:bodyPr wrap="square" lIns="0" tIns="0" rIns="0" bIns="0" anchor="t"/>
          <a:lstStyle/>
          <a:p>
            <a:pPr algn="l">
              <a:lnSpc>
                <a:spcPct val="108000"/>
              </a:lnSpc>
              <a:buNone/>
            </a:pPr>
            <a:r>
              <a:rPr lang="en-US" sz="1200" dirty="0">
                <a:solidFill>
                  <a:srgbClr val="64748B"/>
                </a:solidFill>
                <a:latin typeface="Aptos" pitchFamily="34" charset="0"/>
                <a:cs typeface="Aptos" pitchFamily="34" charset="0"/>
              </a:rPr>
              <a:t>How a single payment moves end to end: 60 Seconds issues an Interac e-Transfer Request, the client funds, Dream validates and reconciles the money, then pays the vendor or employee by EFT or e-Transfer. Every step is tracked, so money in always ties back to money out.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lstStyle/>
          <a:p>
            <a:pPr marL="0" indent="0">
              <a:buNone/>
            </a:pPr>
            <a:r>
              <a:rPr lang="en-US" sz="1100" b="1" kern="0" spc="300" dirty="0">
                <a:solidFill>
                  <a:srgbClr val="2563EB"/>
                </a:solidFill>
                <a:latin typeface="JetBrains Mono" pitchFamily="34" charset="0"/>
                <a:ea typeface="JetBrains Mono" pitchFamily="34" charset="-122"/>
                <a:cs typeface="JetBrains Mono" pitchFamily="34" charset="-120"/>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lstStyle/>
          <a:p>
            <a:pPr marL="0" indent="0">
              <a:buNone/>
            </a:pPr>
            <a:r>
              <a:rPr lang="en-US" sz="950" kern="0" spc="150" dirty="0">
                <a:solidFill>
                  <a:srgbClr val="64748B"/>
                </a:solidFill>
                <a:latin typeface="JetBrains Mono" pitchFamily="34" charset="0"/>
                <a:ea typeface="JetBrains Mono" pitchFamily="34" charset="-122"/>
                <a:cs typeface="JetBrains Mono" pitchFamily="34" charset="-120"/>
              </a:rPr>
              <a:t>05 · ARCHITECTURE</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lstStyle/>
          <a:p>
            <a:pPr marL="0" indent="0">
              <a:buNone/>
            </a:pPr>
            <a:r>
              <a:rPr lang="en-US" sz="2700" b="1" dirty="0">
                <a:solidFill>
                  <a:srgbClr val="0B1437"/>
                </a:solidFill>
                <a:latin typeface="Aptos Display" pitchFamily="34" charset="0"/>
                <a:ea typeface="Aptos Display" pitchFamily="34" charset="-122"/>
                <a:cs typeface="Aptos Display" pitchFamily="34" charset="-120"/>
              </a:rPr>
              <a:t>The architecture, top to bottom.</a:t>
            </a:r>
            <a:endParaRPr lang="en-US" sz="2700" dirty="0"/>
          </a:p>
        </p:txBody>
      </p:sp>
      <p:sp>
        <p:nvSpPr>
          <p:cNvPr id="55" name="Text 48"/>
          <p:cNvSpPr/>
          <p:nvPr/>
        </p:nvSpPr>
        <p:spPr>
          <a:xfrm>
            <a:off x="640080" y="6455664"/>
            <a:ext cx="9144000" cy="274320"/>
          </a:xfrm>
          <a:prstGeom prst="rect">
            <a:avLst/>
          </a:prstGeom>
          <a:noFill/>
          <a:ln/>
        </p:spPr>
        <p:txBody>
          <a:bodyPr wrap="square" rtlCol="0" anchor="ctr"/>
          <a:lstStyle/>
          <a:p>
            <a:pPr marL="0" indent="0">
              <a:buNone/>
            </a:pPr>
            <a:r>
              <a:rPr lang="en-US" sz="750" kern="0" spc="180" dirty="0">
                <a:solidFill>
                  <a:srgbClr val="94A3B8"/>
                </a:solidFill>
                <a:latin typeface="JetBrains Mono" pitchFamily="34" charset="0"/>
                <a:ea typeface="JetBrains Mono" pitchFamily="34" charset="-122"/>
                <a:cs typeface="JetBrains Mono" pitchFamily="34" charset="-120"/>
              </a:rPr>
              <a:t>DREAM PAYMENTS  ·  BUSINESS PAYMENT HUB  ·  COMMERCIAL PROPOSAL</a:t>
            </a:r>
            <a:endParaRPr lang="en-US" sz="750" dirty="0"/>
          </a:p>
        </p:txBody>
      </p:sp>
      <p:sp>
        <p:nvSpPr>
          <p:cNvPr id="56" name="Text 49"/>
          <p:cNvSpPr/>
          <p:nvPr/>
        </p:nvSpPr>
        <p:spPr>
          <a:xfrm>
            <a:off x="10637215" y="6455664"/>
            <a:ext cx="914400" cy="274320"/>
          </a:xfrm>
          <a:prstGeom prst="rect">
            <a:avLst/>
          </a:prstGeom>
          <a:noFill/>
          <a:ln/>
        </p:spPr>
        <p:txBody>
          <a:bodyPr wrap="square" rtlCol="0" anchor="ctr"/>
          <a:lstStyle/>
          <a:p>
            <a:pPr marL="0" indent="0" algn="r">
              <a:buNone/>
            </a:pPr>
            <a:r>
              <a:rPr lang="en-US" sz="800" b="1" kern="0" spc="150" dirty="0">
                <a:solidFill>
                  <a:srgbClr val="2563EB"/>
                </a:solidFill>
                <a:latin typeface="JetBrains Mono" pitchFamily="34" charset="0"/>
                <a:ea typeface="JetBrains Mono" pitchFamily="34" charset="-122"/>
                <a:cs typeface="JetBrains Mono" pitchFamily="34" charset="-120"/>
              </a:rPr>
              <a:t>09</a:t>
            </a:r>
            <a:endParaRPr lang="en-US" sz="800" dirty="0"/>
          </a:p>
        </p:txBody>
      </p:sp>
      <p:sp>
        <p:nvSpPr>
          <p:cNvPr id="6" name="t"/>
          <p:cNvSpPr txBox="1"/>
          <p:nvPr/>
        </p:nvSpPr>
        <p:spPr>
          <a:xfrm>
            <a:off x="640080" y="2370000"/>
            <a:ext cx="1600000" cy="230000"/>
          </a:xfrm>
          <a:prstGeom prst="rect">
            <a:avLst/>
          </a:prstGeom>
          <a:noFill/>
          <a:ln/>
        </p:spPr>
        <p:txBody>
          <a:bodyPr wrap="square" lIns="0" tIns="0" rIns="0" bIns="0" rtlCol="0" anchor="t"/>
          <a:lstStyle/>
          <a:p>
            <a:pPr marL="0" indent="0" algn="l">
              <a:buNone/>
            </a:pPr>
            <a:r>
              <a:rPr lang="en-US" sz="850" spc="80" dirty="0">
                <a:solidFill>
                  <a:srgbClr val="2563EB"/>
                </a:solidFill>
                <a:latin typeface="JetBrains Mono"/>
                <a:cs typeface="JetBrains Mono"/>
              </a:rPr>
              <a:t>LAYER 01</a:t>
            </a:r>
          </a:p>
        </p:txBody>
      </p:sp>
      <p:sp>
        <p:nvSpPr>
          <p:cNvPr id="7" name="t"/>
          <p:cNvSpPr txBox="1"/>
          <p:nvPr/>
        </p:nvSpPr>
        <p:spPr>
          <a:xfrm>
            <a:off x="640080" y="2600000"/>
            <a:ext cx="1640000" cy="360000"/>
          </a:xfrm>
          <a:prstGeom prst="rect">
            <a:avLst/>
          </a:prstGeom>
          <a:noFill/>
          <a:ln/>
        </p:spPr>
        <p:txBody>
          <a:bodyPr wrap="square" lIns="0" tIns="0" rIns="0" bIns="0" rtlCol="0" anchor="t"/>
          <a:lstStyle/>
          <a:p>
            <a:pPr marL="0" indent="0" algn="l">
              <a:buNone/>
            </a:pPr>
            <a:r>
              <a:rPr lang="en-US" sz="1250" dirty="0">
                <a:solidFill>
                  <a:srgbClr val="0B1437"/>
                </a:solidFill>
                <a:latin typeface="Aptos Display"/>
                <a:cs typeface="Aptos Display"/>
              </a:rPr>
              <a:t>Who pays</a:t>
            </a:r>
          </a:p>
        </p:txBody>
      </p:sp>
      <p:sp>
        <p:nvSpPr>
          <p:cNvPr id="8" name="b1"/>
          <p:cNvSpPr/>
          <p:nvPr/>
        </p:nvSpPr>
        <p:spPr>
          <a:xfrm>
            <a:off x="2331720" y="2300000"/>
            <a:ext cx="9219895" cy="470000"/>
          </a:xfrm>
          <a:prstGeom prst="roundRect">
            <a:avLst>
              <a:gd name="adj" fmla="val 12000"/>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a:p>
        </p:txBody>
      </p:sp>
      <p:pic>
        <p:nvPicPr>
          <p:cNvPr id="9" name="ic"/>
          <p:cNvPicPr/>
          <p:nvPr/>
        </p:nvPicPr>
        <p:blipFill>
          <a:blip r:embed="rId3"/>
          <a:stretch>
            <a:fillRect/>
          </a:stretch>
        </p:blipFill>
        <p:spPr>
          <a:xfrm>
            <a:off x="2581720" y="2385000"/>
            <a:ext cx="300000" cy="300000"/>
          </a:xfrm>
          <a:prstGeom prst="rect">
            <a:avLst/>
          </a:prstGeom>
        </p:spPr>
      </p:pic>
      <p:sp>
        <p:nvSpPr>
          <p:cNvPr id="10" name="t"/>
          <p:cNvSpPr txBox="1"/>
          <p:nvPr/>
        </p:nvSpPr>
        <p:spPr>
          <a:xfrm>
            <a:off x="3011720" y="2405000"/>
            <a:ext cx="8319895" cy="260000"/>
          </a:xfrm>
          <a:prstGeom prst="rect">
            <a:avLst/>
          </a:prstGeom>
          <a:noFill/>
          <a:ln/>
        </p:spPr>
        <p:txBody>
          <a:bodyPr wrap="square" lIns="0" tIns="0" rIns="0" bIns="0" rtlCol="0" anchor="t"/>
          <a:lstStyle/>
          <a:p>
            <a:pPr marL="0" indent="0" algn="l">
              <a:buNone/>
            </a:pPr>
            <a:r>
              <a:rPr lang="en-US" sz="1500" b="1" dirty="0">
                <a:solidFill>
                  <a:srgbClr val="0B1437"/>
                </a:solidFill>
                <a:latin typeface="Aptos Display"/>
                <a:cs typeface="Aptos Display"/>
              </a:rPr>
              <a:t>SMBs   ·   Businesses   ·   Clients</a:t>
            </a:r>
          </a:p>
        </p:txBody>
      </p:sp>
      <p:sp>
        <p:nvSpPr>
          <p:cNvPr id="11" name="t"/>
          <p:cNvSpPr txBox="1"/>
          <p:nvPr/>
        </p:nvSpPr>
        <p:spPr>
          <a:xfrm>
            <a:off x="3011720" y="2620000"/>
            <a:ext cx="8319895" cy="200000"/>
          </a:xfrm>
          <a:prstGeom prst="rect">
            <a:avLst/>
          </a:prstGeom>
          <a:noFill/>
          <a:ln/>
        </p:spPr>
        <p:txBody>
          <a:bodyPr wrap="square" lIns="0" tIns="0" rIns="0" bIns="0" rtlCol="0" anchor="t"/>
          <a:lstStyle/>
          <a:p>
            <a:pPr marL="0" indent="0" algn="l">
              <a:buNone/>
            </a:pPr>
            <a:r>
              <a:rPr lang="en-US" sz="1000" dirty="0">
                <a:solidFill>
                  <a:srgbClr val="64748B"/>
                </a:solidFill>
                <a:latin typeface="Aptos"/>
                <a:cs typeface="Aptos"/>
              </a:rPr>
              <a:t>They interact only with the 60 Seconds experience.</a:t>
            </a:r>
          </a:p>
        </p:txBody>
      </p:sp>
      <p:sp>
        <p:nvSpPr>
          <p:cNvPr id="12" name="t"/>
          <p:cNvSpPr txBox="1"/>
          <p:nvPr/>
        </p:nvSpPr>
        <p:spPr>
          <a:xfrm>
            <a:off x="6801667" y="2790000"/>
            <a:ext cx="280000" cy="120000"/>
          </a:xfrm>
          <a:prstGeom prst="rect">
            <a:avLst/>
          </a:prstGeom>
          <a:noFill/>
          <a:ln/>
        </p:spPr>
        <p:txBody>
          <a:bodyPr wrap="square" lIns="0" tIns="0" rIns="0" bIns="0" rtlCol="0" anchor="ctr"/>
          <a:lstStyle/>
          <a:p>
            <a:pPr marL="0" indent="0" algn="ctr">
              <a:buNone/>
            </a:pPr>
            <a:r>
              <a:rPr lang="en-US" sz="1100" dirty="0">
                <a:solidFill>
                  <a:srgbClr val="94A3B8"/>
                </a:solidFill>
                <a:latin typeface="Aptos"/>
                <a:cs typeface="Aptos"/>
              </a:rPr>
              <a:t>▾</a:t>
            </a:r>
          </a:p>
        </p:txBody>
      </p:sp>
      <p:sp>
        <p:nvSpPr>
          <p:cNvPr id="13" name="t"/>
          <p:cNvSpPr txBox="1"/>
          <p:nvPr/>
        </p:nvSpPr>
        <p:spPr>
          <a:xfrm>
            <a:off x="640080" y="2950000"/>
            <a:ext cx="1600000" cy="230000"/>
          </a:xfrm>
          <a:prstGeom prst="rect">
            <a:avLst/>
          </a:prstGeom>
          <a:noFill/>
          <a:ln/>
        </p:spPr>
        <p:txBody>
          <a:bodyPr wrap="square" lIns="0" tIns="0" rIns="0" bIns="0" rtlCol="0" anchor="t"/>
          <a:lstStyle/>
          <a:p>
            <a:pPr marL="0" indent="0" algn="l">
              <a:buNone/>
            </a:pPr>
            <a:r>
              <a:rPr lang="en-US" sz="850" spc="80" dirty="0">
                <a:solidFill>
                  <a:srgbClr val="2563EB"/>
                </a:solidFill>
                <a:latin typeface="JetBrains Mono"/>
                <a:cs typeface="JetBrains Mono"/>
              </a:rPr>
              <a:t>LAYER 02</a:t>
            </a:r>
          </a:p>
        </p:txBody>
      </p:sp>
      <p:sp>
        <p:nvSpPr>
          <p:cNvPr id="14" name="t"/>
          <p:cNvSpPr txBox="1"/>
          <p:nvPr/>
        </p:nvSpPr>
        <p:spPr>
          <a:xfrm>
            <a:off x="640080" y="3180000"/>
            <a:ext cx="1640000" cy="360000"/>
          </a:xfrm>
          <a:prstGeom prst="rect">
            <a:avLst/>
          </a:prstGeom>
          <a:noFill/>
          <a:ln/>
        </p:spPr>
        <p:txBody>
          <a:bodyPr wrap="square" lIns="0" tIns="0" rIns="0" bIns="0" rtlCol="0" anchor="t"/>
          <a:lstStyle/>
          <a:p>
            <a:pPr marL="0" indent="0" algn="l">
              <a:buNone/>
            </a:pPr>
            <a:r>
              <a:rPr lang="en-US" sz="1250" dirty="0">
                <a:solidFill>
                  <a:srgbClr val="0B1437"/>
                </a:solidFill>
                <a:latin typeface="Aptos Display"/>
                <a:cs typeface="Aptos Display"/>
              </a:rPr>
              <a:t>60 Seconds</a:t>
            </a:r>
          </a:p>
        </p:txBody>
      </p:sp>
      <p:sp>
        <p:nvSpPr>
          <p:cNvPr id="15" name="b2"/>
          <p:cNvSpPr/>
          <p:nvPr/>
        </p:nvSpPr>
        <p:spPr>
          <a:xfrm>
            <a:off x="2331720" y="2880000"/>
            <a:ext cx="9219895" cy="470000"/>
          </a:xfrm>
          <a:prstGeom prst="roundRect">
            <a:avLst>
              <a:gd name="adj" fmla="val 12000"/>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a:p>
        </p:txBody>
      </p:sp>
      <p:pic>
        <p:nvPicPr>
          <p:cNvPr id="16" name="ic"/>
          <p:cNvPicPr/>
          <p:nvPr/>
        </p:nvPicPr>
        <p:blipFill>
          <a:blip r:embed="rId4"/>
          <a:stretch>
            <a:fillRect/>
          </a:stretch>
        </p:blipFill>
        <p:spPr>
          <a:xfrm>
            <a:off x="2581720" y="2965000"/>
            <a:ext cx="300000" cy="300000"/>
          </a:xfrm>
          <a:prstGeom prst="rect">
            <a:avLst/>
          </a:prstGeom>
        </p:spPr>
      </p:pic>
      <p:sp>
        <p:nvSpPr>
          <p:cNvPr id="17" name="t"/>
          <p:cNvSpPr txBox="1"/>
          <p:nvPr/>
        </p:nvSpPr>
        <p:spPr>
          <a:xfrm>
            <a:off x="3011720" y="2985000"/>
            <a:ext cx="8319895" cy="260000"/>
          </a:xfrm>
          <a:prstGeom prst="rect">
            <a:avLst/>
          </a:prstGeom>
          <a:noFill/>
          <a:ln/>
        </p:spPr>
        <p:txBody>
          <a:bodyPr wrap="square" lIns="0" tIns="0" rIns="0" bIns="0" rtlCol="0" anchor="t"/>
          <a:lstStyle/>
          <a:p>
            <a:pPr marL="0" indent="0" algn="l">
              <a:buNone/>
            </a:pPr>
            <a:r>
              <a:rPr lang="en-US" sz="1500" b="1" dirty="0">
                <a:solidFill>
                  <a:srgbClr val="0B1437"/>
                </a:solidFill>
                <a:latin typeface="Aptos Display"/>
                <a:cs typeface="Aptos Display"/>
              </a:rPr>
              <a:t>60 Seconds Platform</a:t>
            </a:r>
          </a:p>
        </p:txBody>
      </p:sp>
      <p:sp>
        <p:nvSpPr>
          <p:cNvPr id="18" name="t"/>
          <p:cNvSpPr txBox="1"/>
          <p:nvPr/>
        </p:nvSpPr>
        <p:spPr>
          <a:xfrm>
            <a:off x="3011720" y="3200000"/>
            <a:ext cx="8319895" cy="200000"/>
          </a:xfrm>
          <a:prstGeom prst="rect">
            <a:avLst/>
          </a:prstGeom>
          <a:noFill/>
          <a:ln/>
        </p:spPr>
        <p:txBody>
          <a:bodyPr wrap="square" lIns="0" tIns="0" rIns="0" bIns="0" rtlCol="0" anchor="t"/>
          <a:lstStyle/>
          <a:p>
            <a:pPr marL="0" indent="0" algn="l">
              <a:buNone/>
            </a:pPr>
            <a:r>
              <a:rPr lang="en-US" sz="1000" dirty="0">
                <a:solidFill>
                  <a:srgbClr val="64748B"/>
                </a:solidFill>
                <a:latin typeface="Aptos"/>
                <a:cs typeface="Aptos"/>
              </a:rPr>
              <a:t>The branded front-end where businesses initiate payments.</a:t>
            </a:r>
          </a:p>
        </p:txBody>
      </p:sp>
      <p:sp>
        <p:nvSpPr>
          <p:cNvPr id="19" name="t"/>
          <p:cNvSpPr txBox="1"/>
          <p:nvPr/>
        </p:nvSpPr>
        <p:spPr>
          <a:xfrm>
            <a:off x="6801667" y="3370000"/>
            <a:ext cx="280000" cy="120000"/>
          </a:xfrm>
          <a:prstGeom prst="rect">
            <a:avLst/>
          </a:prstGeom>
          <a:noFill/>
          <a:ln/>
        </p:spPr>
        <p:txBody>
          <a:bodyPr wrap="square" lIns="0" tIns="0" rIns="0" bIns="0" rtlCol="0" anchor="ctr"/>
          <a:lstStyle/>
          <a:p>
            <a:pPr marL="0" indent="0" algn="ctr">
              <a:buNone/>
            </a:pPr>
            <a:r>
              <a:rPr lang="en-US" sz="1100" dirty="0">
                <a:solidFill>
                  <a:srgbClr val="94A3B8"/>
                </a:solidFill>
                <a:latin typeface="Aptos"/>
                <a:cs typeface="Aptos"/>
              </a:rPr>
              <a:t>▾</a:t>
            </a:r>
          </a:p>
        </p:txBody>
      </p:sp>
      <p:sp>
        <p:nvSpPr>
          <p:cNvPr id="20" name="t"/>
          <p:cNvSpPr txBox="1"/>
          <p:nvPr/>
        </p:nvSpPr>
        <p:spPr>
          <a:xfrm>
            <a:off x="640080" y="3490000"/>
            <a:ext cx="1600000" cy="230000"/>
          </a:xfrm>
          <a:prstGeom prst="rect">
            <a:avLst/>
          </a:prstGeom>
          <a:noFill/>
          <a:ln/>
        </p:spPr>
        <p:txBody>
          <a:bodyPr wrap="square" lIns="0" tIns="0" rIns="0" bIns="0" rtlCol="0" anchor="t"/>
          <a:lstStyle/>
          <a:p>
            <a:pPr marL="0" indent="0" algn="l">
              <a:buNone/>
            </a:pPr>
            <a:r>
              <a:rPr lang="en-US" sz="850" spc="80" dirty="0">
                <a:solidFill>
                  <a:srgbClr val="2563EB"/>
                </a:solidFill>
                <a:latin typeface="JetBrains Mono"/>
                <a:cs typeface="JetBrains Mono"/>
              </a:rPr>
              <a:t>LAYER 03</a:t>
            </a:r>
          </a:p>
        </p:txBody>
      </p:sp>
      <p:sp>
        <p:nvSpPr>
          <p:cNvPr id="21" name="t"/>
          <p:cNvSpPr txBox="1"/>
          <p:nvPr/>
        </p:nvSpPr>
        <p:spPr>
          <a:xfrm>
            <a:off x="640080" y="3720000"/>
            <a:ext cx="1640000" cy="360000"/>
          </a:xfrm>
          <a:prstGeom prst="rect">
            <a:avLst/>
          </a:prstGeom>
          <a:noFill/>
          <a:ln/>
        </p:spPr>
        <p:txBody>
          <a:bodyPr wrap="square" lIns="0" tIns="0" rIns="0" bIns="0" rtlCol="0" anchor="t"/>
          <a:lstStyle/>
          <a:p>
            <a:pPr marL="0" indent="0" algn="l">
              <a:buNone/>
            </a:pPr>
            <a:r>
              <a:rPr lang="en-US" sz="1250" dirty="0">
                <a:solidFill>
                  <a:srgbClr val="0B1437"/>
                </a:solidFill>
                <a:latin typeface="Aptos Display"/>
                <a:cs typeface="Aptos Display"/>
              </a:rPr>
              <a:t>Dream API</a:t>
            </a:r>
          </a:p>
        </p:txBody>
      </p:sp>
      <p:sp>
        <p:nvSpPr>
          <p:cNvPr id="22" name="b3"/>
          <p:cNvSpPr/>
          <p:nvPr/>
        </p:nvSpPr>
        <p:spPr>
          <a:xfrm>
            <a:off x="2331720" y="3460000"/>
            <a:ext cx="9219895" cy="380000"/>
          </a:xfrm>
          <a:prstGeom prst="roundRect">
            <a:avLst>
              <a:gd name="adj" fmla="val 11000"/>
            </a:avLst>
          </a:prstGeom>
          <a:solidFill>
            <a:srgbClr val="0B1437"/>
          </a:solidFill>
          <a:ln>
            <a:noFill/>
          </a:ln>
          <a:effectLst>
            <a:outerShdw blurRad="127000" dist="38100" dir="5400000" algn="bl" rotWithShape="0">
              <a:srgbClr val="1E2A52">
                <a:alpha val="13000"/>
              </a:srgbClr>
            </a:outerShdw>
          </a:effectLst>
        </p:spPr>
        <p:txBody>
          <a:bodyPr/>
          <a:lstStyle/>
          <a:p>
            <a:endParaRPr/>
          </a:p>
        </p:txBody>
      </p:sp>
      <p:pic>
        <p:nvPicPr>
          <p:cNvPr id="23" name="ic"/>
          <p:cNvPicPr/>
          <p:nvPr/>
        </p:nvPicPr>
        <p:blipFill>
          <a:blip r:embed="rId5"/>
          <a:stretch>
            <a:fillRect/>
          </a:stretch>
        </p:blipFill>
        <p:spPr>
          <a:xfrm>
            <a:off x="2581720" y="3525000"/>
            <a:ext cx="250000" cy="250000"/>
          </a:xfrm>
          <a:prstGeom prst="rect">
            <a:avLst/>
          </a:prstGeom>
        </p:spPr>
      </p:pic>
      <p:sp>
        <p:nvSpPr>
          <p:cNvPr id="24" name="t"/>
          <p:cNvSpPr txBox="1"/>
          <p:nvPr/>
        </p:nvSpPr>
        <p:spPr>
          <a:xfrm>
            <a:off x="2931720" y="3460000"/>
            <a:ext cx="8419895" cy="380000"/>
          </a:xfrm>
          <a:prstGeom prst="rect">
            <a:avLst/>
          </a:prstGeom>
          <a:noFill/>
          <a:ln/>
        </p:spPr>
        <p:txBody>
          <a:bodyPr wrap="square" lIns="0" tIns="0" rIns="0" bIns="0" rtlCol="0" anchor="ctr"/>
          <a:lstStyle/>
          <a:p>
            <a:pPr marL="0" indent="0" algn="l">
              <a:buNone/>
            </a:pPr>
            <a:r>
              <a:rPr lang="en-US" sz="1000" spc="60" dirty="0">
                <a:solidFill>
                  <a:srgbClr val="A5B4FC"/>
                </a:solidFill>
                <a:latin typeface="JetBrains Mono"/>
                <a:cs typeface="JetBrains Mono"/>
              </a:rPr>
              <a:t>THE DREAM API</a:t>
            </a:r>
            <a:r>
              <a:rPr lang="en-US" sz="900" spc="40" dirty="0">
                <a:solidFill>
                  <a:srgbClr val="C7D2FE"/>
                </a:solidFill>
                <a:latin typeface="JetBrains Mono"/>
                <a:cs typeface="JetBrains Mono"/>
              </a:rPr>
              <a:t>      embedded into the 60 Seconds platform   ·   COLLECT + SETTLE</a:t>
            </a:r>
          </a:p>
        </p:txBody>
      </p:sp>
      <p:sp>
        <p:nvSpPr>
          <p:cNvPr id="25" name="t"/>
          <p:cNvSpPr txBox="1"/>
          <p:nvPr/>
        </p:nvSpPr>
        <p:spPr>
          <a:xfrm>
            <a:off x="6801667" y="3860000"/>
            <a:ext cx="280000" cy="120000"/>
          </a:xfrm>
          <a:prstGeom prst="rect">
            <a:avLst/>
          </a:prstGeom>
          <a:noFill/>
          <a:ln/>
        </p:spPr>
        <p:txBody>
          <a:bodyPr wrap="square" lIns="0" tIns="0" rIns="0" bIns="0" rtlCol="0" anchor="ctr"/>
          <a:lstStyle/>
          <a:p>
            <a:pPr marL="0" indent="0" algn="ctr">
              <a:buNone/>
            </a:pPr>
            <a:r>
              <a:rPr lang="en-US" sz="1100" dirty="0">
                <a:solidFill>
                  <a:srgbClr val="94A3B8"/>
                </a:solidFill>
                <a:latin typeface="Aptos"/>
                <a:cs typeface="Aptos"/>
              </a:rPr>
              <a:t>▾</a:t>
            </a:r>
          </a:p>
        </p:txBody>
      </p:sp>
      <p:sp>
        <p:nvSpPr>
          <p:cNvPr id="26" name="t"/>
          <p:cNvSpPr txBox="1"/>
          <p:nvPr/>
        </p:nvSpPr>
        <p:spPr>
          <a:xfrm>
            <a:off x="640080" y="4020000"/>
            <a:ext cx="1600000" cy="230000"/>
          </a:xfrm>
          <a:prstGeom prst="rect">
            <a:avLst/>
          </a:prstGeom>
          <a:noFill/>
          <a:ln/>
        </p:spPr>
        <p:txBody>
          <a:bodyPr wrap="square" lIns="0" tIns="0" rIns="0" bIns="0" rtlCol="0" anchor="t"/>
          <a:lstStyle/>
          <a:p>
            <a:pPr marL="0" indent="0" algn="l">
              <a:buNone/>
            </a:pPr>
            <a:r>
              <a:rPr lang="en-US" sz="850" spc="80" dirty="0">
                <a:solidFill>
                  <a:srgbClr val="2563EB"/>
                </a:solidFill>
                <a:latin typeface="JetBrains Mono"/>
                <a:cs typeface="JetBrains Mono"/>
              </a:rPr>
              <a:t>LAYER 04</a:t>
            </a:r>
          </a:p>
        </p:txBody>
      </p:sp>
      <p:sp>
        <p:nvSpPr>
          <p:cNvPr id="27" name="t"/>
          <p:cNvSpPr txBox="1"/>
          <p:nvPr/>
        </p:nvSpPr>
        <p:spPr>
          <a:xfrm>
            <a:off x="640080" y="4250000"/>
            <a:ext cx="1640000" cy="360000"/>
          </a:xfrm>
          <a:prstGeom prst="rect">
            <a:avLst/>
          </a:prstGeom>
          <a:noFill/>
          <a:ln/>
        </p:spPr>
        <p:txBody>
          <a:bodyPr wrap="square" lIns="0" tIns="0" rIns="0" bIns="0" rtlCol="0" anchor="t"/>
          <a:lstStyle/>
          <a:p>
            <a:pPr marL="0" indent="0" algn="l">
              <a:buNone/>
            </a:pPr>
            <a:r>
              <a:rPr lang="en-US" sz="1250" dirty="0">
                <a:solidFill>
                  <a:srgbClr val="0B1437"/>
                </a:solidFill>
                <a:latin typeface="Aptos Display"/>
                <a:cs typeface="Aptos Display"/>
              </a:rPr>
              <a:t>DreamPay</a:t>
            </a:r>
          </a:p>
        </p:txBody>
      </p:sp>
      <p:sp>
        <p:nvSpPr>
          <p:cNvPr id="28" name="fb"/>
          <p:cNvSpPr/>
          <p:nvPr/>
        </p:nvSpPr>
        <p:spPr>
          <a:xfrm>
            <a:off x="2331720" y="3950000"/>
            <a:ext cx="4509947" cy="1620000"/>
          </a:xfrm>
          <a:prstGeom prst="roundRect">
            <a:avLst>
              <a:gd name="adj" fmla="val 7000"/>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a:p>
        </p:txBody>
      </p:sp>
      <p:sp>
        <p:nvSpPr>
          <p:cNvPr id="29" name="bar"/>
          <p:cNvSpPr/>
          <p:nvPr/>
        </p:nvSpPr>
        <p:spPr>
          <a:xfrm>
            <a:off x="2368296" y="3940856"/>
            <a:ext cx="4436795" cy="64008"/>
          </a:xfrm>
          <a:prstGeom prst="roundRect">
            <a:avLst>
              <a:gd name="adj" fmla="val 40000"/>
            </a:avLst>
          </a:prstGeom>
          <a:solidFill>
            <a:srgbClr val="2563EB"/>
          </a:solidFill>
          <a:ln>
            <a:noFill/>
          </a:ln>
        </p:spPr>
        <p:txBody>
          <a:bodyPr/>
          <a:lstStyle/>
          <a:p>
            <a:endParaRPr/>
          </a:p>
        </p:txBody>
      </p:sp>
      <p:pic>
        <p:nvPicPr>
          <p:cNvPr id="30" name="ic"/>
          <p:cNvPicPr/>
          <p:nvPr/>
        </p:nvPicPr>
        <p:blipFill>
          <a:blip r:embed="rId6"/>
          <a:stretch>
            <a:fillRect/>
          </a:stretch>
        </p:blipFill>
        <p:spPr>
          <a:xfrm>
            <a:off x="2531720" y="4070000"/>
            <a:ext cx="300000" cy="300000"/>
          </a:xfrm>
          <a:prstGeom prst="rect">
            <a:avLst/>
          </a:prstGeom>
        </p:spPr>
      </p:pic>
      <p:sp>
        <p:nvSpPr>
          <p:cNvPr id="31" name="t"/>
          <p:cNvSpPr txBox="1"/>
          <p:nvPr/>
        </p:nvSpPr>
        <p:spPr>
          <a:xfrm>
            <a:off x="2891720" y="4100000"/>
            <a:ext cx="3809947" cy="250000"/>
          </a:xfrm>
          <a:prstGeom prst="rect">
            <a:avLst/>
          </a:prstGeom>
          <a:noFill/>
          <a:ln/>
        </p:spPr>
        <p:txBody>
          <a:bodyPr wrap="square" lIns="0" tIns="0" rIns="0" bIns="0" rtlCol="0" anchor="t"/>
          <a:lstStyle/>
          <a:p>
            <a:pPr marL="0" indent="0" algn="l">
              <a:buNone/>
            </a:pPr>
            <a:r>
              <a:rPr lang="en-US" sz="1000" spc="60" dirty="0">
                <a:solidFill>
                  <a:srgbClr val="2563EB"/>
                </a:solidFill>
                <a:latin typeface="JetBrains Mono"/>
                <a:cs typeface="JetBrains Mono"/>
              </a:rPr>
              <a:t>COLLECTIONS</a:t>
            </a:r>
            <a:r>
              <a:rPr lang="en-US" sz="900" spc="20" dirty="0">
                <a:solidFill>
                  <a:srgbClr val="64748B"/>
                </a:solidFill>
                <a:latin typeface="JetBrains Mono"/>
                <a:cs typeface="JetBrains Mono"/>
              </a:rPr>
              <a:t>   ·   from clients</a:t>
            </a:r>
          </a:p>
        </p:txBody>
      </p:sp>
      <p:sp>
        <p:nvSpPr>
          <p:cNvPr id="32" name="mc"/>
          <p:cNvSpPr/>
          <p:nvPr/>
        </p:nvSpPr>
        <p:spPr>
          <a:xfrm>
            <a:off x="2491720" y="4420000"/>
            <a:ext cx="1323315" cy="1000000"/>
          </a:xfrm>
          <a:prstGeom prst="roundRect">
            <a:avLst>
              <a:gd name="adj" fmla="val 10000"/>
            </a:avLst>
          </a:prstGeom>
          <a:solidFill>
            <a:srgbClr val="FFFFFF"/>
          </a:solidFill>
          <a:ln w="9525">
            <a:solidFill>
              <a:srgbClr val="E6EBF2"/>
            </a:solidFill>
            <a:prstDash val="solid"/>
          </a:ln>
        </p:spPr>
        <p:txBody>
          <a:bodyPr/>
          <a:lstStyle/>
          <a:p>
            <a:endParaRPr/>
          </a:p>
        </p:txBody>
      </p:sp>
      <p:pic>
        <p:nvPicPr>
          <p:cNvPr id="33" name="ic"/>
          <p:cNvPicPr/>
          <p:nvPr/>
        </p:nvPicPr>
        <p:blipFill>
          <a:blip r:embed="rId7"/>
          <a:stretch>
            <a:fillRect/>
          </a:stretch>
        </p:blipFill>
        <p:spPr>
          <a:xfrm>
            <a:off x="3003377" y="4550000"/>
            <a:ext cx="300000" cy="300000"/>
          </a:xfrm>
          <a:prstGeom prst="rect">
            <a:avLst/>
          </a:prstGeom>
        </p:spPr>
      </p:pic>
      <p:sp>
        <p:nvSpPr>
          <p:cNvPr id="34" name="t"/>
          <p:cNvSpPr txBox="1"/>
          <p:nvPr/>
        </p:nvSpPr>
        <p:spPr>
          <a:xfrm>
            <a:off x="2491720" y="4890000"/>
            <a:ext cx="1323315" cy="210000"/>
          </a:xfrm>
          <a:prstGeom prst="rect">
            <a:avLst/>
          </a:prstGeom>
          <a:noFill/>
          <a:ln/>
        </p:spPr>
        <p:txBody>
          <a:bodyPr wrap="square" lIns="0" tIns="0" rIns="0" bIns="0" rtlCol="0" anchor="t"/>
          <a:lstStyle/>
          <a:p>
            <a:pPr marL="0" indent="0" algn="ctr">
              <a:buNone/>
            </a:pPr>
            <a:r>
              <a:rPr lang="en-US" sz="1050" b="1" dirty="0">
                <a:solidFill>
                  <a:srgbClr val="0B1437"/>
                </a:solidFill>
                <a:latin typeface="Aptos Display"/>
                <a:cs typeface="Aptos Display"/>
              </a:rPr>
              <a:t>Request</a:t>
            </a:r>
          </a:p>
        </p:txBody>
      </p:sp>
      <p:sp>
        <p:nvSpPr>
          <p:cNvPr id="35" name="t"/>
          <p:cNvSpPr txBox="1"/>
          <p:nvPr/>
        </p:nvSpPr>
        <p:spPr>
          <a:xfrm>
            <a:off x="2551720" y="5110000"/>
            <a:ext cx="1203315" cy="300000"/>
          </a:xfrm>
          <a:prstGeom prst="rect">
            <a:avLst/>
          </a:prstGeom>
          <a:noFill/>
          <a:ln/>
        </p:spPr>
        <p:txBody>
          <a:bodyPr wrap="square" lIns="0" tIns="0" rIns="0" bIns="0" rtlCol="0" anchor="t"/>
          <a:lstStyle/>
          <a:p>
            <a:pPr marL="0" indent="0" algn="ctr">
              <a:lnSpc>
                <a:spcPts val="900"/>
              </a:lnSpc>
              <a:buNone/>
            </a:pPr>
            <a:r>
              <a:rPr lang="en-US" sz="800" dirty="0">
                <a:solidFill>
                  <a:srgbClr val="64748B"/>
                </a:solidFill>
                <a:latin typeface="Aptos"/>
                <a:cs typeface="Aptos"/>
              </a:rPr>
              <a:t>Issue e-Transfer Request</a:t>
            </a:r>
          </a:p>
        </p:txBody>
      </p:sp>
      <p:sp>
        <p:nvSpPr>
          <p:cNvPr id="36" name="mc"/>
          <p:cNvSpPr/>
          <p:nvPr/>
        </p:nvSpPr>
        <p:spPr>
          <a:xfrm>
            <a:off x="3925035" y="4420000"/>
            <a:ext cx="1323315" cy="1000000"/>
          </a:xfrm>
          <a:prstGeom prst="roundRect">
            <a:avLst>
              <a:gd name="adj" fmla="val 10000"/>
            </a:avLst>
          </a:prstGeom>
          <a:solidFill>
            <a:srgbClr val="FFFFFF"/>
          </a:solidFill>
          <a:ln w="9525">
            <a:solidFill>
              <a:srgbClr val="E6EBF2"/>
            </a:solidFill>
            <a:prstDash val="solid"/>
          </a:ln>
        </p:spPr>
        <p:txBody>
          <a:bodyPr/>
          <a:lstStyle/>
          <a:p>
            <a:endParaRPr/>
          </a:p>
        </p:txBody>
      </p:sp>
      <p:pic>
        <p:nvPicPr>
          <p:cNvPr id="37" name="ic"/>
          <p:cNvPicPr/>
          <p:nvPr/>
        </p:nvPicPr>
        <p:blipFill>
          <a:blip r:embed="rId8"/>
          <a:stretch>
            <a:fillRect/>
          </a:stretch>
        </p:blipFill>
        <p:spPr>
          <a:xfrm>
            <a:off x="4436692" y="4550000"/>
            <a:ext cx="300000" cy="300000"/>
          </a:xfrm>
          <a:prstGeom prst="rect">
            <a:avLst/>
          </a:prstGeom>
        </p:spPr>
      </p:pic>
      <p:sp>
        <p:nvSpPr>
          <p:cNvPr id="38" name="t"/>
          <p:cNvSpPr txBox="1"/>
          <p:nvPr/>
        </p:nvSpPr>
        <p:spPr>
          <a:xfrm>
            <a:off x="3925035" y="4890000"/>
            <a:ext cx="1323315" cy="210000"/>
          </a:xfrm>
          <a:prstGeom prst="rect">
            <a:avLst/>
          </a:prstGeom>
          <a:noFill/>
          <a:ln/>
        </p:spPr>
        <p:txBody>
          <a:bodyPr wrap="square" lIns="0" tIns="0" rIns="0" bIns="0" rtlCol="0" anchor="t"/>
          <a:lstStyle/>
          <a:p>
            <a:pPr marL="0" indent="0" algn="ctr">
              <a:buNone/>
            </a:pPr>
            <a:r>
              <a:rPr lang="en-US" sz="1050" b="1" dirty="0">
                <a:solidFill>
                  <a:srgbClr val="0B1437"/>
                </a:solidFill>
                <a:latin typeface="Aptos Display"/>
                <a:cs typeface="Aptos Display"/>
              </a:rPr>
              <a:t>Validate</a:t>
            </a:r>
          </a:p>
        </p:txBody>
      </p:sp>
      <p:sp>
        <p:nvSpPr>
          <p:cNvPr id="39" name="t"/>
          <p:cNvSpPr txBox="1"/>
          <p:nvPr/>
        </p:nvSpPr>
        <p:spPr>
          <a:xfrm>
            <a:off x="3985035" y="5110000"/>
            <a:ext cx="1203315" cy="300000"/>
          </a:xfrm>
          <a:prstGeom prst="rect">
            <a:avLst/>
          </a:prstGeom>
          <a:noFill/>
          <a:ln/>
        </p:spPr>
        <p:txBody>
          <a:bodyPr wrap="square" lIns="0" tIns="0" rIns="0" bIns="0" rtlCol="0" anchor="t"/>
          <a:lstStyle/>
          <a:p>
            <a:pPr marL="0" indent="0" algn="ctr">
              <a:lnSpc>
                <a:spcPts val="900"/>
              </a:lnSpc>
              <a:buNone/>
            </a:pPr>
            <a:r>
              <a:rPr lang="en-US" sz="800" dirty="0">
                <a:solidFill>
                  <a:srgbClr val="64748B"/>
                </a:solidFill>
                <a:latin typeface="Aptos"/>
                <a:cs typeface="Aptos"/>
              </a:rPr>
              <a:t>KYC, AML, screening</a:t>
            </a:r>
          </a:p>
        </p:txBody>
      </p:sp>
      <p:sp>
        <p:nvSpPr>
          <p:cNvPr id="40" name="mc"/>
          <p:cNvSpPr/>
          <p:nvPr/>
        </p:nvSpPr>
        <p:spPr>
          <a:xfrm>
            <a:off x="5358350" y="4420000"/>
            <a:ext cx="1323315" cy="1000000"/>
          </a:xfrm>
          <a:prstGeom prst="roundRect">
            <a:avLst>
              <a:gd name="adj" fmla="val 10000"/>
            </a:avLst>
          </a:prstGeom>
          <a:solidFill>
            <a:srgbClr val="FFFFFF"/>
          </a:solidFill>
          <a:ln w="9525">
            <a:solidFill>
              <a:srgbClr val="E6EBF2"/>
            </a:solidFill>
            <a:prstDash val="solid"/>
          </a:ln>
        </p:spPr>
        <p:txBody>
          <a:bodyPr/>
          <a:lstStyle/>
          <a:p>
            <a:endParaRPr/>
          </a:p>
        </p:txBody>
      </p:sp>
      <p:pic>
        <p:nvPicPr>
          <p:cNvPr id="41" name="ic"/>
          <p:cNvPicPr/>
          <p:nvPr/>
        </p:nvPicPr>
        <p:blipFill>
          <a:blip r:embed="rId9"/>
          <a:stretch>
            <a:fillRect/>
          </a:stretch>
        </p:blipFill>
        <p:spPr>
          <a:xfrm>
            <a:off x="5870007" y="4550000"/>
            <a:ext cx="300000" cy="300000"/>
          </a:xfrm>
          <a:prstGeom prst="rect">
            <a:avLst/>
          </a:prstGeom>
        </p:spPr>
      </p:pic>
      <p:sp>
        <p:nvSpPr>
          <p:cNvPr id="42" name="t"/>
          <p:cNvSpPr txBox="1"/>
          <p:nvPr/>
        </p:nvSpPr>
        <p:spPr>
          <a:xfrm>
            <a:off x="5358350" y="4890000"/>
            <a:ext cx="1323315" cy="210000"/>
          </a:xfrm>
          <a:prstGeom prst="rect">
            <a:avLst/>
          </a:prstGeom>
          <a:noFill/>
          <a:ln/>
        </p:spPr>
        <p:txBody>
          <a:bodyPr wrap="square" lIns="0" tIns="0" rIns="0" bIns="0" rtlCol="0" anchor="t"/>
          <a:lstStyle/>
          <a:p>
            <a:pPr marL="0" indent="0" algn="ctr">
              <a:buNone/>
            </a:pPr>
            <a:r>
              <a:rPr lang="en-US" sz="1050" b="1" dirty="0">
                <a:solidFill>
                  <a:srgbClr val="0B1437"/>
                </a:solidFill>
                <a:latin typeface="Aptos Display"/>
                <a:cs typeface="Aptos Display"/>
              </a:rPr>
              <a:t>Reconcile</a:t>
            </a:r>
          </a:p>
        </p:txBody>
      </p:sp>
      <p:sp>
        <p:nvSpPr>
          <p:cNvPr id="43" name="t"/>
          <p:cNvSpPr txBox="1"/>
          <p:nvPr/>
        </p:nvSpPr>
        <p:spPr>
          <a:xfrm>
            <a:off x="5418350" y="5110000"/>
            <a:ext cx="1203315" cy="300000"/>
          </a:xfrm>
          <a:prstGeom prst="rect">
            <a:avLst/>
          </a:prstGeom>
          <a:noFill/>
          <a:ln/>
        </p:spPr>
        <p:txBody>
          <a:bodyPr wrap="square" lIns="0" tIns="0" rIns="0" bIns="0" rtlCol="0" anchor="t"/>
          <a:lstStyle/>
          <a:p>
            <a:pPr marL="0" indent="0" algn="ctr">
              <a:lnSpc>
                <a:spcPts val="900"/>
              </a:lnSpc>
              <a:buNone/>
            </a:pPr>
            <a:r>
              <a:rPr lang="en-US" sz="800" dirty="0">
                <a:solidFill>
                  <a:srgbClr val="64748B"/>
                </a:solidFill>
                <a:latin typeface="Aptos"/>
                <a:cs typeface="Aptos"/>
              </a:rPr>
              <a:t>Match funds to source</a:t>
            </a:r>
          </a:p>
        </p:txBody>
      </p:sp>
      <p:sp>
        <p:nvSpPr>
          <p:cNvPr id="44" name="fb"/>
          <p:cNvSpPr/>
          <p:nvPr/>
        </p:nvSpPr>
        <p:spPr>
          <a:xfrm>
            <a:off x="7041667" y="3950000"/>
            <a:ext cx="4509947" cy="1620000"/>
          </a:xfrm>
          <a:prstGeom prst="roundRect">
            <a:avLst>
              <a:gd name="adj" fmla="val 7000"/>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a:p>
        </p:txBody>
      </p:sp>
      <p:sp>
        <p:nvSpPr>
          <p:cNvPr id="45" name="bar"/>
          <p:cNvSpPr/>
          <p:nvPr/>
        </p:nvSpPr>
        <p:spPr>
          <a:xfrm>
            <a:off x="7078243" y="3940856"/>
            <a:ext cx="4436795" cy="64008"/>
          </a:xfrm>
          <a:prstGeom prst="roundRect">
            <a:avLst>
              <a:gd name="adj" fmla="val 40000"/>
            </a:avLst>
          </a:prstGeom>
          <a:solidFill>
            <a:srgbClr val="7C5CFF"/>
          </a:solidFill>
          <a:ln>
            <a:noFill/>
          </a:ln>
        </p:spPr>
        <p:txBody>
          <a:bodyPr/>
          <a:lstStyle/>
          <a:p>
            <a:endParaRPr/>
          </a:p>
        </p:txBody>
      </p:sp>
      <p:pic>
        <p:nvPicPr>
          <p:cNvPr id="46" name="ic"/>
          <p:cNvPicPr/>
          <p:nvPr/>
        </p:nvPicPr>
        <p:blipFill>
          <a:blip r:embed="rId10"/>
          <a:stretch>
            <a:fillRect/>
          </a:stretch>
        </p:blipFill>
        <p:spPr>
          <a:xfrm>
            <a:off x="7241667" y="4070000"/>
            <a:ext cx="300000" cy="300000"/>
          </a:xfrm>
          <a:prstGeom prst="rect">
            <a:avLst/>
          </a:prstGeom>
        </p:spPr>
      </p:pic>
      <p:sp>
        <p:nvSpPr>
          <p:cNvPr id="47" name="t"/>
          <p:cNvSpPr txBox="1"/>
          <p:nvPr/>
        </p:nvSpPr>
        <p:spPr>
          <a:xfrm>
            <a:off x="7601667" y="4100000"/>
            <a:ext cx="3809947" cy="250000"/>
          </a:xfrm>
          <a:prstGeom prst="rect">
            <a:avLst/>
          </a:prstGeom>
          <a:noFill/>
          <a:ln/>
        </p:spPr>
        <p:txBody>
          <a:bodyPr wrap="square" lIns="0" tIns="0" rIns="0" bIns="0" rtlCol="0" anchor="t"/>
          <a:lstStyle/>
          <a:p>
            <a:pPr marL="0" indent="0" algn="l">
              <a:buNone/>
            </a:pPr>
            <a:r>
              <a:rPr lang="en-US" sz="1000" spc="60" dirty="0">
                <a:solidFill>
                  <a:srgbClr val="7C5CFF"/>
                </a:solidFill>
                <a:latin typeface="JetBrains Mono"/>
                <a:cs typeface="JetBrains Mono"/>
              </a:rPr>
              <a:t>PAYOUTS</a:t>
            </a:r>
            <a:r>
              <a:rPr lang="en-US" sz="900" spc="20" dirty="0">
                <a:solidFill>
                  <a:srgbClr val="64748B"/>
                </a:solidFill>
                <a:latin typeface="JetBrains Mono"/>
                <a:cs typeface="JetBrains Mono"/>
              </a:rPr>
              <a:t>   ·   to vendors &amp; employees</a:t>
            </a:r>
          </a:p>
        </p:txBody>
      </p:sp>
      <p:sp>
        <p:nvSpPr>
          <p:cNvPr id="48" name="mc"/>
          <p:cNvSpPr/>
          <p:nvPr/>
        </p:nvSpPr>
        <p:spPr>
          <a:xfrm>
            <a:off x="7201667" y="4420000"/>
            <a:ext cx="1323315" cy="1000000"/>
          </a:xfrm>
          <a:prstGeom prst="roundRect">
            <a:avLst>
              <a:gd name="adj" fmla="val 10000"/>
            </a:avLst>
          </a:prstGeom>
          <a:solidFill>
            <a:srgbClr val="FFFFFF"/>
          </a:solidFill>
          <a:ln w="9525">
            <a:solidFill>
              <a:srgbClr val="E6EBF2"/>
            </a:solidFill>
            <a:prstDash val="solid"/>
          </a:ln>
        </p:spPr>
        <p:txBody>
          <a:bodyPr/>
          <a:lstStyle/>
          <a:p>
            <a:endParaRPr/>
          </a:p>
        </p:txBody>
      </p:sp>
      <p:pic>
        <p:nvPicPr>
          <p:cNvPr id="49" name="ic"/>
          <p:cNvPicPr/>
          <p:nvPr/>
        </p:nvPicPr>
        <p:blipFill>
          <a:blip r:embed="rId11"/>
          <a:stretch>
            <a:fillRect/>
          </a:stretch>
        </p:blipFill>
        <p:spPr>
          <a:xfrm>
            <a:off x="7713324" y="4550000"/>
            <a:ext cx="300000" cy="300000"/>
          </a:xfrm>
          <a:prstGeom prst="rect">
            <a:avLst/>
          </a:prstGeom>
        </p:spPr>
      </p:pic>
      <p:sp>
        <p:nvSpPr>
          <p:cNvPr id="50" name="t"/>
          <p:cNvSpPr txBox="1"/>
          <p:nvPr/>
        </p:nvSpPr>
        <p:spPr>
          <a:xfrm>
            <a:off x="7201667" y="4890000"/>
            <a:ext cx="1323315" cy="210000"/>
          </a:xfrm>
          <a:prstGeom prst="rect">
            <a:avLst/>
          </a:prstGeom>
          <a:noFill/>
          <a:ln/>
        </p:spPr>
        <p:txBody>
          <a:bodyPr wrap="square" lIns="0" tIns="0" rIns="0" bIns="0" rtlCol="0" anchor="t"/>
          <a:lstStyle/>
          <a:p>
            <a:pPr marL="0" indent="0" algn="ctr">
              <a:buNone/>
            </a:pPr>
            <a:r>
              <a:rPr lang="en-US" sz="1050" b="1" dirty="0">
                <a:solidFill>
                  <a:srgbClr val="0B1437"/>
                </a:solidFill>
                <a:latin typeface="Aptos Display"/>
                <a:cs typeface="Aptos Display"/>
              </a:rPr>
              <a:t>Aggregate</a:t>
            </a:r>
          </a:p>
        </p:txBody>
      </p:sp>
      <p:sp>
        <p:nvSpPr>
          <p:cNvPr id="51" name="t"/>
          <p:cNvSpPr txBox="1"/>
          <p:nvPr/>
        </p:nvSpPr>
        <p:spPr>
          <a:xfrm>
            <a:off x="7261667" y="5110000"/>
            <a:ext cx="1203315" cy="300000"/>
          </a:xfrm>
          <a:prstGeom prst="rect">
            <a:avLst/>
          </a:prstGeom>
          <a:noFill/>
          <a:ln/>
        </p:spPr>
        <p:txBody>
          <a:bodyPr wrap="square" lIns="0" tIns="0" rIns="0" bIns="0" rtlCol="0" anchor="t"/>
          <a:lstStyle/>
          <a:p>
            <a:pPr marL="0" indent="0" algn="ctr">
              <a:lnSpc>
                <a:spcPts val="900"/>
              </a:lnSpc>
              <a:buNone/>
            </a:pPr>
            <a:r>
              <a:rPr lang="en-US" sz="800" dirty="0">
                <a:solidFill>
                  <a:srgbClr val="64748B"/>
                </a:solidFill>
                <a:latin typeface="Aptos"/>
                <a:cs typeface="Aptos"/>
              </a:rPr>
              <a:t>Batch by payee</a:t>
            </a:r>
          </a:p>
        </p:txBody>
      </p:sp>
      <p:sp>
        <p:nvSpPr>
          <p:cNvPr id="52" name="mc"/>
          <p:cNvSpPr/>
          <p:nvPr/>
        </p:nvSpPr>
        <p:spPr>
          <a:xfrm>
            <a:off x="8634982" y="4420000"/>
            <a:ext cx="1323315" cy="1000000"/>
          </a:xfrm>
          <a:prstGeom prst="roundRect">
            <a:avLst>
              <a:gd name="adj" fmla="val 10000"/>
            </a:avLst>
          </a:prstGeom>
          <a:solidFill>
            <a:srgbClr val="FFFFFF"/>
          </a:solidFill>
          <a:ln w="9525">
            <a:solidFill>
              <a:srgbClr val="E6EBF2"/>
            </a:solidFill>
            <a:prstDash val="solid"/>
          </a:ln>
        </p:spPr>
        <p:txBody>
          <a:bodyPr/>
          <a:lstStyle/>
          <a:p>
            <a:endParaRPr/>
          </a:p>
        </p:txBody>
      </p:sp>
      <p:pic>
        <p:nvPicPr>
          <p:cNvPr id="53" name="ic"/>
          <p:cNvPicPr/>
          <p:nvPr/>
        </p:nvPicPr>
        <p:blipFill>
          <a:blip r:embed="rId12"/>
          <a:stretch>
            <a:fillRect/>
          </a:stretch>
        </p:blipFill>
        <p:spPr>
          <a:xfrm>
            <a:off x="9146639" y="4550000"/>
            <a:ext cx="300000" cy="300000"/>
          </a:xfrm>
          <a:prstGeom prst="rect">
            <a:avLst/>
          </a:prstGeom>
        </p:spPr>
      </p:pic>
      <p:sp>
        <p:nvSpPr>
          <p:cNvPr id="54" name="t"/>
          <p:cNvSpPr txBox="1"/>
          <p:nvPr/>
        </p:nvSpPr>
        <p:spPr>
          <a:xfrm>
            <a:off x="8634982" y="4890000"/>
            <a:ext cx="1323315" cy="210000"/>
          </a:xfrm>
          <a:prstGeom prst="rect">
            <a:avLst/>
          </a:prstGeom>
          <a:noFill/>
          <a:ln/>
        </p:spPr>
        <p:txBody>
          <a:bodyPr wrap="square" lIns="0" tIns="0" rIns="0" bIns="0" rtlCol="0" anchor="t"/>
          <a:lstStyle/>
          <a:p>
            <a:pPr marL="0" indent="0" algn="ctr">
              <a:buNone/>
            </a:pPr>
            <a:r>
              <a:rPr lang="en-US" sz="1050" b="1" dirty="0">
                <a:solidFill>
                  <a:srgbClr val="0B1437"/>
                </a:solidFill>
                <a:latin typeface="Aptos Display"/>
                <a:cs typeface="Aptos Display"/>
              </a:rPr>
              <a:t>Settle</a:t>
            </a:r>
          </a:p>
        </p:txBody>
      </p:sp>
      <p:sp>
        <p:nvSpPr>
          <p:cNvPr id="57" name="t"/>
          <p:cNvSpPr txBox="1"/>
          <p:nvPr/>
        </p:nvSpPr>
        <p:spPr>
          <a:xfrm>
            <a:off x="8694982" y="5110000"/>
            <a:ext cx="1203315" cy="300000"/>
          </a:xfrm>
          <a:prstGeom prst="rect">
            <a:avLst/>
          </a:prstGeom>
          <a:noFill/>
          <a:ln/>
        </p:spPr>
        <p:txBody>
          <a:bodyPr wrap="square" lIns="0" tIns="0" rIns="0" bIns="0" rtlCol="0" anchor="t"/>
          <a:lstStyle/>
          <a:p>
            <a:pPr marL="0" indent="0" algn="ctr">
              <a:lnSpc>
                <a:spcPts val="900"/>
              </a:lnSpc>
              <a:buNone/>
            </a:pPr>
            <a:r>
              <a:rPr lang="en-US" sz="800" dirty="0">
                <a:solidFill>
                  <a:srgbClr val="64748B"/>
                </a:solidFill>
                <a:latin typeface="Aptos"/>
                <a:cs typeface="Aptos"/>
              </a:rPr>
              <a:t>EFT and e-Transfer out</a:t>
            </a:r>
          </a:p>
        </p:txBody>
      </p:sp>
      <p:sp>
        <p:nvSpPr>
          <p:cNvPr id="58" name="mc"/>
          <p:cNvSpPr/>
          <p:nvPr/>
        </p:nvSpPr>
        <p:spPr>
          <a:xfrm>
            <a:off x="10068297" y="4420000"/>
            <a:ext cx="1323315" cy="1000000"/>
          </a:xfrm>
          <a:prstGeom prst="roundRect">
            <a:avLst>
              <a:gd name="adj" fmla="val 10000"/>
            </a:avLst>
          </a:prstGeom>
          <a:solidFill>
            <a:srgbClr val="FFFFFF"/>
          </a:solidFill>
          <a:ln w="9525">
            <a:solidFill>
              <a:srgbClr val="E6EBF2"/>
            </a:solidFill>
            <a:prstDash val="solid"/>
          </a:ln>
        </p:spPr>
        <p:txBody>
          <a:bodyPr/>
          <a:lstStyle/>
          <a:p>
            <a:endParaRPr/>
          </a:p>
        </p:txBody>
      </p:sp>
      <p:pic>
        <p:nvPicPr>
          <p:cNvPr id="59" name="ic"/>
          <p:cNvPicPr/>
          <p:nvPr/>
        </p:nvPicPr>
        <p:blipFill>
          <a:blip r:embed="rId13"/>
          <a:stretch>
            <a:fillRect/>
          </a:stretch>
        </p:blipFill>
        <p:spPr>
          <a:xfrm>
            <a:off x="10579954" y="4550000"/>
            <a:ext cx="300000" cy="300000"/>
          </a:xfrm>
          <a:prstGeom prst="rect">
            <a:avLst/>
          </a:prstGeom>
        </p:spPr>
      </p:pic>
      <p:sp>
        <p:nvSpPr>
          <p:cNvPr id="60" name="t"/>
          <p:cNvSpPr txBox="1"/>
          <p:nvPr/>
        </p:nvSpPr>
        <p:spPr>
          <a:xfrm>
            <a:off x="10068297" y="4890000"/>
            <a:ext cx="1323315" cy="210000"/>
          </a:xfrm>
          <a:prstGeom prst="rect">
            <a:avLst/>
          </a:prstGeom>
          <a:noFill/>
          <a:ln/>
        </p:spPr>
        <p:txBody>
          <a:bodyPr wrap="square" lIns="0" tIns="0" rIns="0" bIns="0" rtlCol="0" anchor="t"/>
          <a:lstStyle/>
          <a:p>
            <a:pPr marL="0" indent="0" algn="ctr">
              <a:buNone/>
            </a:pPr>
            <a:r>
              <a:rPr lang="en-US" sz="1050" b="1" dirty="0">
                <a:solidFill>
                  <a:srgbClr val="0B1437"/>
                </a:solidFill>
                <a:latin typeface="Aptos Display"/>
                <a:cs typeface="Aptos Display"/>
              </a:rPr>
              <a:t>Report</a:t>
            </a:r>
          </a:p>
        </p:txBody>
      </p:sp>
      <p:sp>
        <p:nvSpPr>
          <p:cNvPr id="61" name="t"/>
          <p:cNvSpPr txBox="1"/>
          <p:nvPr/>
        </p:nvSpPr>
        <p:spPr>
          <a:xfrm>
            <a:off x="10128297" y="5110000"/>
            <a:ext cx="1203315" cy="300000"/>
          </a:xfrm>
          <a:prstGeom prst="rect">
            <a:avLst/>
          </a:prstGeom>
          <a:noFill/>
          <a:ln/>
        </p:spPr>
        <p:txBody>
          <a:bodyPr wrap="square" lIns="0" tIns="0" rIns="0" bIns="0" rtlCol="0" anchor="t"/>
          <a:lstStyle/>
          <a:p>
            <a:pPr marL="0" indent="0" algn="ctr">
              <a:lnSpc>
                <a:spcPts val="900"/>
              </a:lnSpc>
              <a:buNone/>
            </a:pPr>
            <a:r>
              <a:rPr lang="en-US" sz="800" dirty="0">
                <a:solidFill>
                  <a:srgbClr val="64748B"/>
                </a:solidFill>
                <a:latin typeface="Aptos"/>
                <a:cs typeface="Aptos"/>
              </a:rPr>
              <a:t>Files and confirmations</a:t>
            </a:r>
          </a:p>
        </p:txBody>
      </p:sp>
      <p:sp>
        <p:nvSpPr>
          <p:cNvPr id="62" name="t"/>
          <p:cNvSpPr txBox="1"/>
          <p:nvPr/>
        </p:nvSpPr>
        <p:spPr>
          <a:xfrm>
            <a:off x="6801667" y="5590000"/>
            <a:ext cx="280000" cy="120000"/>
          </a:xfrm>
          <a:prstGeom prst="rect">
            <a:avLst/>
          </a:prstGeom>
          <a:noFill/>
          <a:ln/>
        </p:spPr>
        <p:txBody>
          <a:bodyPr wrap="square" lIns="0" tIns="0" rIns="0" bIns="0" rtlCol="0" anchor="ctr"/>
          <a:lstStyle/>
          <a:p>
            <a:pPr marL="0" indent="0" algn="ctr">
              <a:buNone/>
            </a:pPr>
            <a:r>
              <a:rPr lang="en-US" sz="1100" dirty="0">
                <a:solidFill>
                  <a:srgbClr val="94A3B8"/>
                </a:solidFill>
                <a:latin typeface="Aptos"/>
                <a:cs typeface="Aptos"/>
              </a:rPr>
              <a:t>▾</a:t>
            </a:r>
          </a:p>
        </p:txBody>
      </p:sp>
      <p:sp>
        <p:nvSpPr>
          <p:cNvPr id="63" name="t"/>
          <p:cNvSpPr txBox="1"/>
          <p:nvPr/>
        </p:nvSpPr>
        <p:spPr>
          <a:xfrm>
            <a:off x="640080" y="5750000"/>
            <a:ext cx="1600000" cy="230000"/>
          </a:xfrm>
          <a:prstGeom prst="rect">
            <a:avLst/>
          </a:prstGeom>
          <a:noFill/>
          <a:ln/>
        </p:spPr>
        <p:txBody>
          <a:bodyPr wrap="square" lIns="0" tIns="0" rIns="0" bIns="0" rtlCol="0" anchor="t"/>
          <a:lstStyle/>
          <a:p>
            <a:pPr marL="0" indent="0" algn="l">
              <a:buNone/>
            </a:pPr>
            <a:r>
              <a:rPr lang="en-US" sz="850" spc="80" dirty="0">
                <a:solidFill>
                  <a:srgbClr val="2563EB"/>
                </a:solidFill>
                <a:latin typeface="JetBrains Mono"/>
                <a:cs typeface="JetBrains Mono"/>
              </a:rPr>
              <a:t>LAYER 05</a:t>
            </a:r>
          </a:p>
        </p:txBody>
      </p:sp>
      <p:sp>
        <p:nvSpPr>
          <p:cNvPr id="960" name="t"/>
          <p:cNvSpPr txBox="1"/>
          <p:nvPr/>
        </p:nvSpPr>
        <p:spPr>
          <a:xfrm>
            <a:off x="640080" y="5980000"/>
            <a:ext cx="1640000" cy="360000"/>
          </a:xfrm>
          <a:prstGeom prst="rect">
            <a:avLst/>
          </a:prstGeom>
          <a:noFill/>
          <a:ln/>
        </p:spPr>
        <p:txBody>
          <a:bodyPr wrap="square" lIns="0" tIns="0" rIns="0" bIns="0" rtlCol="0" anchor="t"/>
          <a:lstStyle/>
          <a:p>
            <a:pPr marL="0" indent="0" algn="l">
              <a:buNone/>
            </a:pPr>
            <a:r>
              <a:rPr lang="en-US" sz="1250" dirty="0">
                <a:solidFill>
                  <a:srgbClr val="0B1437"/>
                </a:solidFill>
                <a:latin typeface="Aptos Display"/>
                <a:cs typeface="Aptos Display"/>
              </a:rPr>
              <a:t>The rails</a:t>
            </a:r>
          </a:p>
        </p:txBody>
      </p:sp>
      <p:sp>
        <p:nvSpPr>
          <p:cNvPr id="961" name="t"/>
          <p:cNvSpPr txBox="1"/>
          <p:nvPr/>
        </p:nvSpPr>
        <p:spPr>
          <a:xfrm>
            <a:off x="2331720" y="5680000"/>
            <a:ext cx="4509947" cy="230000"/>
          </a:xfrm>
          <a:prstGeom prst="rect">
            <a:avLst/>
          </a:prstGeom>
          <a:noFill/>
          <a:ln/>
        </p:spPr>
        <p:txBody>
          <a:bodyPr wrap="square" lIns="0" tIns="0" rIns="0" bIns="0" rtlCol="0" anchor="t"/>
          <a:lstStyle/>
          <a:p>
            <a:pPr marL="0" indent="0" algn="l">
              <a:buNone/>
            </a:pPr>
            <a:r>
              <a:rPr lang="en-US" sz="850" spc="80" dirty="0">
                <a:solidFill>
                  <a:srgbClr val="1D4ED8"/>
                </a:solidFill>
                <a:latin typeface="JetBrains Mono"/>
                <a:cs typeface="JetBrains Mono"/>
              </a:rPr>
              <a:t>COLLECTION RAILS</a:t>
            </a:r>
          </a:p>
        </p:txBody>
      </p:sp>
      <p:sp>
        <p:nvSpPr>
          <p:cNvPr id="962" name="rc"/>
          <p:cNvSpPr/>
          <p:nvPr/>
        </p:nvSpPr>
        <p:spPr>
          <a:xfrm>
            <a:off x="2331720" y="5940000"/>
            <a:ext cx="2104972" cy="360000"/>
          </a:xfrm>
          <a:prstGeom prst="roundRect">
            <a:avLst>
              <a:gd name="adj" fmla="val 12000"/>
            </a:avLst>
          </a:prstGeom>
          <a:solidFill>
            <a:srgbClr val="EEF2FF"/>
          </a:solidFill>
          <a:ln w="9525">
            <a:solidFill>
              <a:srgbClr val="DBE4FF"/>
            </a:solidFill>
            <a:prstDash val="solid"/>
          </a:ln>
        </p:spPr>
        <p:txBody>
          <a:bodyPr/>
          <a:lstStyle/>
          <a:p>
            <a:endParaRPr/>
          </a:p>
        </p:txBody>
      </p:sp>
      <p:sp>
        <p:nvSpPr>
          <p:cNvPr id="963" name="t"/>
          <p:cNvSpPr txBox="1"/>
          <p:nvPr/>
        </p:nvSpPr>
        <p:spPr>
          <a:xfrm>
            <a:off x="2331720" y="5940000"/>
            <a:ext cx="2104972" cy="360000"/>
          </a:xfrm>
          <a:prstGeom prst="rect">
            <a:avLst/>
          </a:prstGeom>
          <a:noFill/>
          <a:ln/>
        </p:spPr>
        <p:txBody>
          <a:bodyPr wrap="square" lIns="0" tIns="0" rIns="0" bIns="0" rtlCol="0" anchor="ctr"/>
          <a:lstStyle/>
          <a:p>
            <a:pPr marL="0" indent="0" algn="ctr">
              <a:buNone/>
            </a:pPr>
            <a:r>
              <a:rPr lang="en-US" sz="950" spc="20" dirty="0">
                <a:solidFill>
                  <a:srgbClr val="1D4ED8"/>
                </a:solidFill>
                <a:latin typeface="JetBrains Mono"/>
                <a:cs typeface="JetBrains Mono"/>
              </a:rPr>
              <a:t>e-Transfer Request</a:t>
            </a:r>
          </a:p>
        </p:txBody>
      </p:sp>
      <p:sp>
        <p:nvSpPr>
          <p:cNvPr id="964" name="t"/>
          <p:cNvSpPr txBox="1"/>
          <p:nvPr/>
        </p:nvSpPr>
        <p:spPr>
          <a:xfrm>
            <a:off x="7041667" y="5680000"/>
            <a:ext cx="4509947" cy="230000"/>
          </a:xfrm>
          <a:prstGeom prst="rect">
            <a:avLst/>
          </a:prstGeom>
          <a:noFill/>
          <a:ln/>
        </p:spPr>
        <p:txBody>
          <a:bodyPr wrap="square" lIns="0" tIns="0" rIns="0" bIns="0" rtlCol="0" anchor="t"/>
          <a:lstStyle/>
          <a:p>
            <a:pPr marL="0" indent="0" algn="l">
              <a:buNone/>
            </a:pPr>
            <a:r>
              <a:rPr lang="en-US" sz="850" spc="80" dirty="0">
                <a:solidFill>
                  <a:srgbClr val="6D4AFF"/>
                </a:solidFill>
                <a:latin typeface="JetBrains Mono"/>
                <a:cs typeface="JetBrains Mono"/>
              </a:rPr>
              <a:t>PAYOUT RAILS</a:t>
            </a:r>
          </a:p>
        </p:txBody>
      </p:sp>
      <p:sp>
        <p:nvSpPr>
          <p:cNvPr id="965" name="rc"/>
          <p:cNvSpPr/>
          <p:nvPr/>
        </p:nvSpPr>
        <p:spPr>
          <a:xfrm>
            <a:off x="7041667" y="5940000"/>
            <a:ext cx="1250000" cy="360000"/>
          </a:xfrm>
          <a:prstGeom prst="roundRect">
            <a:avLst>
              <a:gd name="adj" fmla="val 12000"/>
            </a:avLst>
          </a:prstGeom>
          <a:solidFill>
            <a:srgbClr val="F1EEFF"/>
          </a:solidFill>
          <a:ln w="9525">
            <a:solidFill>
              <a:srgbClr val="E3DBFF"/>
            </a:solidFill>
            <a:prstDash val="solid"/>
          </a:ln>
        </p:spPr>
        <p:txBody>
          <a:bodyPr/>
          <a:lstStyle/>
          <a:p>
            <a:endParaRPr/>
          </a:p>
        </p:txBody>
      </p:sp>
      <p:sp>
        <p:nvSpPr>
          <p:cNvPr id="966" name="t"/>
          <p:cNvSpPr txBox="1"/>
          <p:nvPr/>
        </p:nvSpPr>
        <p:spPr>
          <a:xfrm>
            <a:off x="7041667" y="5940000"/>
            <a:ext cx="1250000" cy="360000"/>
          </a:xfrm>
          <a:prstGeom prst="rect">
            <a:avLst/>
          </a:prstGeom>
          <a:noFill/>
          <a:ln/>
        </p:spPr>
        <p:txBody>
          <a:bodyPr wrap="square" lIns="0" tIns="0" rIns="0" bIns="0" rtlCol="0" anchor="ctr"/>
          <a:lstStyle/>
          <a:p>
            <a:pPr marL="0" indent="0" algn="ctr">
              <a:buNone/>
            </a:pPr>
            <a:r>
              <a:rPr lang="en-US" sz="950" spc="20" dirty="0">
                <a:solidFill>
                  <a:srgbClr val="6D4AFF"/>
                </a:solidFill>
                <a:latin typeface="JetBrains Mono"/>
                <a:cs typeface="JetBrains Mono"/>
              </a:rPr>
              <a:t>EFT</a:t>
            </a:r>
          </a:p>
        </p:txBody>
      </p:sp>
      <p:sp>
        <p:nvSpPr>
          <p:cNvPr id="967" name="rc"/>
          <p:cNvSpPr/>
          <p:nvPr/>
        </p:nvSpPr>
        <p:spPr>
          <a:xfrm>
            <a:off x="8411667" y="5940000"/>
            <a:ext cx="2300000" cy="360000"/>
          </a:xfrm>
          <a:prstGeom prst="roundRect">
            <a:avLst>
              <a:gd name="adj" fmla="val 12000"/>
            </a:avLst>
          </a:prstGeom>
          <a:solidFill>
            <a:srgbClr val="F1EEFF"/>
          </a:solidFill>
          <a:ln w="9525">
            <a:solidFill>
              <a:srgbClr val="E3DBFF"/>
            </a:solidFill>
            <a:prstDash val="solid"/>
          </a:ln>
        </p:spPr>
        <p:txBody>
          <a:bodyPr/>
          <a:lstStyle/>
          <a:p>
            <a:endParaRPr/>
          </a:p>
        </p:txBody>
      </p:sp>
      <p:sp>
        <p:nvSpPr>
          <p:cNvPr id="968" name="t"/>
          <p:cNvSpPr txBox="1"/>
          <p:nvPr/>
        </p:nvSpPr>
        <p:spPr>
          <a:xfrm>
            <a:off x="8411667" y="5940000"/>
            <a:ext cx="2300000" cy="360000"/>
          </a:xfrm>
          <a:prstGeom prst="rect">
            <a:avLst/>
          </a:prstGeom>
          <a:noFill/>
          <a:ln/>
        </p:spPr>
        <p:txBody>
          <a:bodyPr wrap="square" lIns="0" tIns="0" rIns="0" bIns="0" rtlCol="0" anchor="ctr"/>
          <a:lstStyle/>
          <a:p>
            <a:pPr marL="0" indent="0" algn="ctr">
              <a:buNone/>
            </a:pPr>
            <a:r>
              <a:rPr lang="en-US" sz="950" spc="20" dirty="0">
                <a:solidFill>
                  <a:srgbClr val="6D4AFF"/>
                </a:solidFill>
                <a:latin typeface="JetBrains Mono"/>
                <a:cs typeface="JetBrains Mono"/>
              </a:rPr>
              <a:t>e-Transfer Payouts</a:t>
            </a:r>
          </a:p>
        </p:txBody>
      </p:sp>
      <p:pic>
        <p:nvPicPr>
          <p:cNvPr id="969" name="ic"/>
          <p:cNvPicPr/>
          <p:nvPr/>
        </p:nvPicPr>
        <p:blipFill>
          <a:blip r:embed="rId14"/>
          <a:stretch>
            <a:fillRect/>
          </a:stretch>
        </p:blipFill>
        <p:spPr>
          <a:xfrm>
            <a:off x="10821667" y="5970000"/>
            <a:ext cx="300000" cy="300000"/>
          </a:xfrm>
          <a:prstGeom prst="rect">
            <a:avLst/>
          </a:prstGeom>
        </p:spPr>
      </p:pic>
      <p:sp>
        <p:nvSpPr>
          <p:cNvPr id="971" name="t"/>
          <p:cNvSpPr txBox="1"/>
          <p:nvPr/>
        </p:nvSpPr>
        <p:spPr>
          <a:xfrm>
            <a:off x="11161667" y="5940000"/>
            <a:ext cx="1000000" cy="360000"/>
          </a:xfrm>
          <a:prstGeom prst="rect">
            <a:avLst/>
          </a:prstGeom>
          <a:noFill/>
          <a:ln/>
        </p:spPr>
        <p:txBody>
          <a:bodyPr wrap="square" lIns="0" tIns="0" rIns="0" bIns="0" rtlCol="0" anchor="ctr"/>
          <a:lstStyle/>
          <a:p>
            <a:pPr marL="0" indent="0" algn="l">
              <a:buNone/>
            </a:pPr>
            <a:r>
              <a:rPr lang="en-US" sz="900" spc="20" dirty="0">
                <a:solidFill>
                  <a:srgbClr val="64748B"/>
                </a:solidFill>
                <a:latin typeface="JetBrains Mono"/>
                <a:cs typeface="JetBrains Mono"/>
              </a:rPr>
              <a:t>Vendors &amp; employees</a:t>
            </a:r>
          </a:p>
        </p:txBody>
      </p:sp>
      <p:sp>
        <p:nvSpPr>
          <p:cNvPr id="970" name="subtitle"/>
          <p:cNvSpPr txBox="1"/>
          <p:nvPr/>
        </p:nvSpPr>
        <p:spPr>
          <a:xfrm>
            <a:off x="640080" y="1874520"/>
            <a:ext cx="10728655" cy="380000"/>
          </a:xfrm>
          <a:prstGeom prst="rect">
            <a:avLst/>
          </a:prstGeom>
          <a:noFill/>
        </p:spPr>
        <p:txBody>
          <a:bodyPr wrap="square" lIns="0" tIns="0" rIns="0" bIns="0" anchor="t"/>
          <a:lstStyle/>
          <a:p>
            <a:pPr algn="l">
              <a:lnSpc>
                <a:spcPct val="108000"/>
              </a:lnSpc>
              <a:buNone/>
            </a:pPr>
            <a:r>
              <a:rPr lang="en-US" sz="1100" dirty="0">
                <a:solidFill>
                  <a:srgbClr val="64748B"/>
                </a:solidFill>
                <a:latin typeface="Aptos" pitchFamily="34" charset="0"/>
                <a:cs typeface="Aptos" pitchFamily="34" charset="0"/>
              </a:rPr>
              <a:t>This is the full stack, from the businesses who pay down to the rails that move the money. It shows exactly where the SMB clients, the 60 Seconds platform, the Dream API, and each rail sit, so what 60 Seconds touches and what Dream runs underneath is clear.</a:t>
            </a:r>
          </a:p>
        </p:txBody>
      </p:sp>
      <p:sp>
        <p:nvSpPr>
          <p:cNvPr id="973" name="rc">
            <a:extLst>
              <a:ext uri="{FF2B5EF4-FFF2-40B4-BE49-F238E27FC236}">
                <a16:creationId xmlns:a16="http://schemas.microsoft.com/office/drawing/2014/main" id="{E7802527-7288-E81B-ED54-690E03E6AEED}"/>
              </a:ext>
            </a:extLst>
          </p:cNvPr>
          <p:cNvSpPr/>
          <p:nvPr/>
        </p:nvSpPr>
        <p:spPr>
          <a:xfrm>
            <a:off x="4556692" y="5935664"/>
            <a:ext cx="1250000" cy="360000"/>
          </a:xfrm>
          <a:prstGeom prst="roundRect">
            <a:avLst>
              <a:gd name="adj" fmla="val 12000"/>
            </a:avLst>
          </a:prstGeom>
          <a:solidFill>
            <a:srgbClr val="F1EEFF"/>
          </a:solidFill>
          <a:ln w="9525">
            <a:solidFill>
              <a:srgbClr val="E3DBFF"/>
            </a:solidFill>
            <a:prstDash val="solid"/>
          </a:ln>
        </p:spPr>
        <p:txBody>
          <a:bodyPr/>
          <a:lstStyle/>
          <a:p>
            <a:endParaRPr/>
          </a:p>
        </p:txBody>
      </p:sp>
      <p:sp>
        <p:nvSpPr>
          <p:cNvPr id="974" name="t">
            <a:extLst>
              <a:ext uri="{FF2B5EF4-FFF2-40B4-BE49-F238E27FC236}">
                <a16:creationId xmlns:a16="http://schemas.microsoft.com/office/drawing/2014/main" id="{D680ABD3-4657-52A9-06C0-F4F1B9FD63E1}"/>
              </a:ext>
            </a:extLst>
          </p:cNvPr>
          <p:cNvSpPr txBox="1"/>
          <p:nvPr/>
        </p:nvSpPr>
        <p:spPr>
          <a:xfrm>
            <a:off x="4556692" y="5935664"/>
            <a:ext cx="1250000" cy="360000"/>
          </a:xfrm>
          <a:prstGeom prst="rect">
            <a:avLst/>
          </a:prstGeom>
          <a:noFill/>
          <a:ln/>
        </p:spPr>
        <p:txBody>
          <a:bodyPr wrap="square" lIns="0" tIns="0" rIns="0" bIns="0" rtlCol="0" anchor="ctr"/>
          <a:lstStyle/>
          <a:p>
            <a:pPr marL="0" indent="0" algn="ctr">
              <a:buNone/>
            </a:pPr>
            <a:r>
              <a:rPr lang="en-US" sz="950" spc="20" dirty="0">
                <a:solidFill>
                  <a:srgbClr val="6D4AFF"/>
                </a:solidFill>
                <a:latin typeface="JetBrains Mono"/>
                <a:cs typeface="JetBrains Mono"/>
              </a:rPr>
              <a:t>EFT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lstStyle/>
          <a:p>
            <a:pPr marL="0" indent="0">
              <a:buNone/>
            </a:pPr>
            <a:r>
              <a:rPr lang="en-US" sz="1100" b="1" kern="0" spc="300" dirty="0">
                <a:solidFill>
                  <a:srgbClr val="2563EB"/>
                </a:solidFill>
                <a:latin typeface="JetBrains Mono" pitchFamily="34" charset="0"/>
                <a:ea typeface="JetBrains Mono" pitchFamily="34" charset="-122"/>
                <a:cs typeface="JetBrains Mono" pitchFamily="34" charset="-120"/>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lstStyle/>
          <a:p>
            <a:pPr marL="0" indent="0">
              <a:buNone/>
            </a:pPr>
            <a:r>
              <a:rPr lang="en-US" sz="950" kern="0" spc="150" dirty="0">
                <a:solidFill>
                  <a:srgbClr val="64748B"/>
                </a:solidFill>
                <a:latin typeface="JetBrains Mono" pitchFamily="34" charset="0"/>
                <a:ea typeface="JetBrains Mono" pitchFamily="34" charset="-122"/>
                <a:cs typeface="JetBrains Mono" pitchFamily="34" charset="-120"/>
              </a:rPr>
              <a:t>06 · CAPABILITIES</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lstStyle/>
          <a:p>
            <a:pPr marL="0" indent="0">
              <a:buNone/>
            </a:pPr>
            <a:r>
              <a:rPr lang="en-US" sz="2700" b="1" dirty="0">
                <a:solidFill>
                  <a:srgbClr val="0B1437"/>
                </a:solidFill>
                <a:latin typeface="Aptos Display" pitchFamily="34" charset="0"/>
                <a:ea typeface="Aptos Display" pitchFamily="34" charset="-122"/>
                <a:cs typeface="Aptos Display" pitchFamily="34" charset="-120"/>
              </a:rPr>
              <a:t>Everything to pay at scale.</a:t>
            </a:r>
            <a:endParaRPr lang="en-US" sz="2700" dirty="0"/>
          </a:p>
        </p:txBody>
      </p:sp>
      <p:sp>
        <p:nvSpPr>
          <p:cNvPr id="6" name="Text 4"/>
          <p:cNvSpPr/>
          <p:nvPr/>
        </p:nvSpPr>
        <p:spPr>
          <a:xfrm>
            <a:off x="640080" y="1874520"/>
            <a:ext cx="10728655" cy="680000"/>
          </a:xfrm>
          <a:prstGeom prst="rect">
            <a:avLst/>
          </a:prstGeom>
          <a:noFill/>
          <a:ln/>
        </p:spPr>
        <p:txBody>
          <a:bodyPr wrap="square" lIns="0" tIns="0" rIns="0" bIns="0" anchor="t"/>
          <a:lstStyle/>
          <a:p>
            <a:pPr algn="l">
              <a:lnSpc>
                <a:spcPct val="108000"/>
              </a:lnSpc>
              <a:buNone/>
            </a:pPr>
            <a:r>
              <a:rPr lang="en-US" sz="1200" dirty="0">
                <a:solidFill>
                  <a:srgbClr val="64748B"/>
                </a:solidFill>
                <a:latin typeface="Aptos" pitchFamily="34" charset="0"/>
                <a:cs typeface="Aptos" pitchFamily="34" charset="0"/>
              </a:rPr>
              <a:t>60 Seconds plugs into Dream's rails, compliance stack, and operations console through one API. Collections, payouts, KYC, verification, reconciliation, and reporting all run from the same place, so the platform can scale volume without adding headcount or vendors.</a:t>
            </a:r>
          </a:p>
        </p:txBody>
      </p:sp>
      <p:sp>
        <p:nvSpPr>
          <p:cNvPr id="7" name="Shape 5"/>
          <p:cNvSpPr/>
          <p:nvPr/>
        </p:nvSpPr>
        <p:spPr>
          <a:xfrm>
            <a:off x="640080" y="2606040"/>
            <a:ext cx="3393338" cy="2880360"/>
          </a:xfrm>
          <a:prstGeom prst="roundRect">
            <a:avLst>
              <a:gd name="adj" fmla="val 1905"/>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8" name="Shape 6"/>
          <p:cNvSpPr/>
          <p:nvPr/>
        </p:nvSpPr>
        <p:spPr>
          <a:xfrm>
            <a:off x="676656" y="2596896"/>
            <a:ext cx="3320186" cy="64008"/>
          </a:xfrm>
          <a:prstGeom prst="roundRect">
            <a:avLst>
              <a:gd name="adj" fmla="val 28571"/>
            </a:avLst>
          </a:prstGeom>
          <a:solidFill>
            <a:srgbClr val="2563EB"/>
          </a:solidFill>
          <a:ln/>
        </p:spPr>
        <p:txBody>
          <a:bodyPr/>
          <a:lstStyle/>
          <a:p>
            <a:endParaRPr lang="en-US"/>
          </a:p>
        </p:txBody>
      </p:sp>
      <p:pic>
        <p:nvPicPr>
          <p:cNvPr id="9" name="Image 0" descr="assets/fi_zap_ink.png"/>
          <p:cNvPicPr>
            <a:picLocks noChangeAspect="1"/>
          </p:cNvPicPr>
          <p:nvPr/>
        </p:nvPicPr>
        <p:blipFill>
          <a:blip r:embed="rId3"/>
          <a:stretch>
            <a:fillRect/>
          </a:stretch>
        </p:blipFill>
        <p:spPr>
          <a:xfrm>
            <a:off x="2034997" y="2990088"/>
            <a:ext cx="603504" cy="603504"/>
          </a:xfrm>
          <a:prstGeom prst="rect">
            <a:avLst/>
          </a:prstGeom>
        </p:spPr>
      </p:pic>
      <p:sp>
        <p:nvSpPr>
          <p:cNvPr id="10" name="Text 7"/>
          <p:cNvSpPr/>
          <p:nvPr/>
        </p:nvSpPr>
        <p:spPr>
          <a:xfrm>
            <a:off x="822960" y="3794760"/>
            <a:ext cx="3027578" cy="237744"/>
          </a:xfrm>
          <a:prstGeom prst="rect">
            <a:avLst/>
          </a:prstGeom>
          <a:noFill/>
          <a:ln/>
        </p:spPr>
        <p:txBody>
          <a:bodyPr wrap="square" rtlCol="0" anchor="ctr"/>
          <a:lstStyle/>
          <a:p>
            <a:pPr marL="0" indent="0" algn="ctr">
              <a:buNone/>
            </a:pPr>
            <a:r>
              <a:rPr lang="en-US" sz="900" b="1" kern="0" spc="200" dirty="0">
                <a:solidFill>
                  <a:srgbClr val="2563EB"/>
                </a:solidFill>
                <a:latin typeface="JetBrains Mono" pitchFamily="34" charset="0"/>
                <a:ea typeface="JetBrains Mono" pitchFamily="34" charset="-122"/>
                <a:cs typeface="JetBrains Mono" pitchFamily="34" charset="-120"/>
              </a:rPr>
              <a:t>FAST</a:t>
            </a:r>
            <a:endParaRPr lang="en-US" sz="900" dirty="0"/>
          </a:p>
        </p:txBody>
      </p:sp>
      <p:sp>
        <p:nvSpPr>
          <p:cNvPr id="11" name="Text 8"/>
          <p:cNvSpPr/>
          <p:nvPr/>
        </p:nvSpPr>
        <p:spPr>
          <a:xfrm>
            <a:off x="868680" y="4069080"/>
            <a:ext cx="2936138" cy="502920"/>
          </a:xfrm>
          <a:prstGeom prst="rect">
            <a:avLst/>
          </a:prstGeom>
          <a:noFill/>
          <a:ln/>
        </p:spPr>
        <p:txBody>
          <a:bodyPr wrap="square" lIns="0" tIns="0" rIns="0" bIns="0" rtlCol="0" anchor="t"/>
          <a:lstStyle/>
          <a:p>
            <a:pPr marL="0" indent="0" algn="ctr">
              <a:lnSpc>
                <a:spcPts val="1800"/>
              </a:lnSpc>
              <a:buNone/>
            </a:pPr>
            <a:r>
              <a:rPr lang="en-US" sz="1600" b="1" dirty="0">
                <a:solidFill>
                  <a:srgbClr val="0B1437"/>
                </a:solidFill>
                <a:latin typeface="Aptos Display" pitchFamily="34" charset="0"/>
                <a:ea typeface="Aptos Display" pitchFamily="34" charset="-122"/>
                <a:cs typeface="Aptos Display" pitchFamily="34" charset="-120"/>
              </a:rPr>
              <a:t>Multi-rail money movement</a:t>
            </a:r>
            <a:endParaRPr lang="en-US" sz="1600" dirty="0"/>
          </a:p>
        </p:txBody>
      </p:sp>
      <p:sp>
        <p:nvSpPr>
          <p:cNvPr id="12" name="Text 9"/>
          <p:cNvSpPr/>
          <p:nvPr/>
        </p:nvSpPr>
        <p:spPr>
          <a:xfrm>
            <a:off x="914400" y="4617720"/>
            <a:ext cx="2844698" cy="685800"/>
          </a:xfrm>
          <a:prstGeom prst="rect">
            <a:avLst/>
          </a:prstGeom>
          <a:noFill/>
          <a:ln/>
        </p:spPr>
        <p:txBody>
          <a:bodyPr wrap="square" lIns="0" tIns="0" rIns="0" bIns="0" rtlCol="0" anchor="t"/>
          <a:lstStyle/>
          <a:p>
            <a:pPr marL="0" indent="0" algn="ctr">
              <a:lnSpc>
                <a:spcPts val="1550"/>
              </a:lnSpc>
              <a:buNone/>
            </a:pPr>
            <a:r>
              <a:rPr lang="en-US" sz="1150" dirty="0">
                <a:solidFill>
                  <a:srgbClr val="64748B"/>
                </a:solidFill>
                <a:latin typeface="Aptos" pitchFamily="34" charset="0"/>
                <a:ea typeface="Aptos" pitchFamily="34" charset="-122"/>
                <a:cs typeface="Aptos" pitchFamily="34" charset="-120"/>
              </a:rPr>
              <a:t>EFT and </a:t>
            </a:r>
            <a:r>
              <a:rPr lang="en-US" sz="1150" dirty="0" err="1">
                <a:solidFill>
                  <a:srgbClr val="64748B"/>
                </a:solidFill>
                <a:latin typeface="Aptos" pitchFamily="34" charset="0"/>
                <a:ea typeface="Aptos" pitchFamily="34" charset="-122"/>
                <a:cs typeface="Aptos" pitchFamily="34" charset="-120"/>
              </a:rPr>
              <a:t>Interac</a:t>
            </a:r>
            <a:r>
              <a:rPr lang="en-US" sz="1150" dirty="0">
                <a:solidFill>
                  <a:srgbClr val="64748B"/>
                </a:solidFill>
                <a:latin typeface="Aptos" pitchFamily="34" charset="0"/>
                <a:ea typeface="Aptos" pitchFamily="34" charset="-122"/>
                <a:cs typeface="Aptos" pitchFamily="34" charset="-120"/>
              </a:rPr>
              <a:t> e-Transfer Request to collect, EFT and e-Transfer Payouts to pay vendors and employees.</a:t>
            </a:r>
            <a:endParaRPr lang="en-US" sz="1150" dirty="0"/>
          </a:p>
        </p:txBody>
      </p:sp>
      <p:sp>
        <p:nvSpPr>
          <p:cNvPr id="13" name="Shape 10"/>
          <p:cNvSpPr/>
          <p:nvPr/>
        </p:nvSpPr>
        <p:spPr>
          <a:xfrm>
            <a:off x="4399178" y="2606040"/>
            <a:ext cx="3393338" cy="2880360"/>
          </a:xfrm>
          <a:prstGeom prst="roundRect">
            <a:avLst>
              <a:gd name="adj" fmla="val 1905"/>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14" name="Shape 11"/>
          <p:cNvSpPr/>
          <p:nvPr/>
        </p:nvSpPr>
        <p:spPr>
          <a:xfrm>
            <a:off x="4435754" y="2596896"/>
            <a:ext cx="3320186" cy="64008"/>
          </a:xfrm>
          <a:prstGeom prst="roundRect">
            <a:avLst>
              <a:gd name="adj" fmla="val 28571"/>
            </a:avLst>
          </a:prstGeom>
          <a:solidFill>
            <a:srgbClr val="2563EB"/>
          </a:solidFill>
          <a:ln/>
        </p:spPr>
        <p:txBody>
          <a:bodyPr/>
          <a:lstStyle/>
          <a:p>
            <a:endParaRPr lang="en-US"/>
          </a:p>
        </p:txBody>
      </p:sp>
      <p:pic>
        <p:nvPicPr>
          <p:cNvPr id="15" name="Image 1" descr="assets/fi_code_ink.png"/>
          <p:cNvPicPr>
            <a:picLocks noChangeAspect="1"/>
          </p:cNvPicPr>
          <p:nvPr/>
        </p:nvPicPr>
        <p:blipFill>
          <a:blip r:embed="rId4"/>
          <a:stretch>
            <a:fillRect/>
          </a:stretch>
        </p:blipFill>
        <p:spPr>
          <a:xfrm>
            <a:off x="5794096" y="2990088"/>
            <a:ext cx="603504" cy="603504"/>
          </a:xfrm>
          <a:prstGeom prst="rect">
            <a:avLst/>
          </a:prstGeom>
        </p:spPr>
      </p:pic>
      <p:sp>
        <p:nvSpPr>
          <p:cNvPr id="16" name="Text 12"/>
          <p:cNvSpPr/>
          <p:nvPr/>
        </p:nvSpPr>
        <p:spPr>
          <a:xfrm>
            <a:off x="4582058" y="3794760"/>
            <a:ext cx="3027578" cy="237744"/>
          </a:xfrm>
          <a:prstGeom prst="rect">
            <a:avLst/>
          </a:prstGeom>
          <a:noFill/>
          <a:ln/>
        </p:spPr>
        <p:txBody>
          <a:bodyPr wrap="square" rtlCol="0" anchor="ctr"/>
          <a:lstStyle/>
          <a:p>
            <a:pPr marL="0" indent="0" algn="ctr">
              <a:buNone/>
            </a:pPr>
            <a:r>
              <a:rPr lang="en-US" sz="900" b="1" kern="0" spc="200" dirty="0">
                <a:solidFill>
                  <a:srgbClr val="2563EB"/>
                </a:solidFill>
                <a:latin typeface="JetBrains Mono" pitchFamily="34" charset="0"/>
                <a:ea typeface="JetBrains Mono" pitchFamily="34" charset="-122"/>
                <a:cs typeface="JetBrains Mono" pitchFamily="34" charset="-120"/>
              </a:rPr>
              <a:t>EMBEDDED</a:t>
            </a:r>
            <a:endParaRPr lang="en-US" sz="900" dirty="0"/>
          </a:p>
        </p:txBody>
      </p:sp>
      <p:sp>
        <p:nvSpPr>
          <p:cNvPr id="17" name="Text 13"/>
          <p:cNvSpPr/>
          <p:nvPr/>
        </p:nvSpPr>
        <p:spPr>
          <a:xfrm>
            <a:off x="4627778" y="4069080"/>
            <a:ext cx="2936138" cy="502920"/>
          </a:xfrm>
          <a:prstGeom prst="rect">
            <a:avLst/>
          </a:prstGeom>
          <a:noFill/>
          <a:ln/>
        </p:spPr>
        <p:txBody>
          <a:bodyPr wrap="square" lIns="0" tIns="0" rIns="0" bIns="0" rtlCol="0" anchor="t"/>
          <a:lstStyle/>
          <a:p>
            <a:pPr marL="0" indent="0" algn="ctr">
              <a:lnSpc>
                <a:spcPts val="1800"/>
              </a:lnSpc>
              <a:buNone/>
            </a:pPr>
            <a:r>
              <a:rPr lang="en-US" sz="1600" b="1" dirty="0">
                <a:solidFill>
                  <a:srgbClr val="0B1437"/>
                </a:solidFill>
                <a:latin typeface="Aptos Display" pitchFamily="34" charset="0"/>
                <a:ea typeface="Aptos Display" pitchFamily="34" charset="-122"/>
                <a:cs typeface="Aptos Display" pitchFamily="34" charset="-120"/>
              </a:rPr>
              <a:t>API-first integration</a:t>
            </a:r>
            <a:endParaRPr lang="en-US" sz="1600" dirty="0"/>
          </a:p>
        </p:txBody>
      </p:sp>
      <p:sp>
        <p:nvSpPr>
          <p:cNvPr id="18" name="Text 14"/>
          <p:cNvSpPr/>
          <p:nvPr/>
        </p:nvSpPr>
        <p:spPr>
          <a:xfrm>
            <a:off x="4673498" y="4617720"/>
            <a:ext cx="2844698" cy="685800"/>
          </a:xfrm>
          <a:prstGeom prst="rect">
            <a:avLst/>
          </a:prstGeom>
          <a:noFill/>
          <a:ln/>
        </p:spPr>
        <p:txBody>
          <a:bodyPr wrap="square" lIns="0" tIns="0" rIns="0" bIns="0" rtlCol="0" anchor="t"/>
          <a:lstStyle/>
          <a:p>
            <a:pPr marL="0" indent="0" algn="ctr">
              <a:lnSpc>
                <a:spcPts val="1550"/>
              </a:lnSpc>
              <a:buNone/>
            </a:pPr>
            <a:r>
              <a:rPr lang="en-US" sz="1150" dirty="0">
                <a:solidFill>
                  <a:srgbClr val="64748B"/>
                </a:solidFill>
                <a:latin typeface="Aptos" pitchFamily="34" charset="0"/>
                <a:ea typeface="Aptos" pitchFamily="34" charset="-122"/>
                <a:cs typeface="Aptos" pitchFamily="34" charset="-120"/>
              </a:rPr>
              <a:t>COLLECT and SETTLE APIs embed directly into the 60 Seconds flow, with an operations portal for ops.</a:t>
            </a:r>
            <a:endParaRPr lang="en-US" sz="1150" dirty="0"/>
          </a:p>
        </p:txBody>
      </p:sp>
      <p:sp>
        <p:nvSpPr>
          <p:cNvPr id="19" name="Shape 15"/>
          <p:cNvSpPr/>
          <p:nvPr/>
        </p:nvSpPr>
        <p:spPr>
          <a:xfrm>
            <a:off x="8158277" y="2606040"/>
            <a:ext cx="3393338" cy="2880360"/>
          </a:xfrm>
          <a:prstGeom prst="roundRect">
            <a:avLst>
              <a:gd name="adj" fmla="val 1905"/>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20" name="Shape 16"/>
          <p:cNvSpPr/>
          <p:nvPr/>
        </p:nvSpPr>
        <p:spPr>
          <a:xfrm>
            <a:off x="8194853" y="2596896"/>
            <a:ext cx="3320186" cy="64008"/>
          </a:xfrm>
          <a:prstGeom prst="roundRect">
            <a:avLst>
              <a:gd name="adj" fmla="val 28571"/>
            </a:avLst>
          </a:prstGeom>
          <a:solidFill>
            <a:srgbClr val="2563EB"/>
          </a:solidFill>
          <a:ln/>
        </p:spPr>
        <p:txBody>
          <a:bodyPr/>
          <a:lstStyle/>
          <a:p>
            <a:endParaRPr lang="en-US"/>
          </a:p>
        </p:txBody>
      </p:sp>
      <p:pic>
        <p:nvPicPr>
          <p:cNvPr id="21" name="Image 2" descr="assets/fi_shield_ink.png"/>
          <p:cNvPicPr>
            <a:picLocks noChangeAspect="1"/>
          </p:cNvPicPr>
          <p:nvPr/>
        </p:nvPicPr>
        <p:blipFill>
          <a:blip r:embed="rId5"/>
          <a:stretch>
            <a:fillRect/>
          </a:stretch>
        </p:blipFill>
        <p:spPr>
          <a:xfrm>
            <a:off x="9553194" y="2990088"/>
            <a:ext cx="603504" cy="603504"/>
          </a:xfrm>
          <a:prstGeom prst="rect">
            <a:avLst/>
          </a:prstGeom>
        </p:spPr>
      </p:pic>
      <p:sp>
        <p:nvSpPr>
          <p:cNvPr id="22" name="Text 17"/>
          <p:cNvSpPr/>
          <p:nvPr/>
        </p:nvSpPr>
        <p:spPr>
          <a:xfrm>
            <a:off x="8341157" y="3794760"/>
            <a:ext cx="3027578" cy="237744"/>
          </a:xfrm>
          <a:prstGeom prst="rect">
            <a:avLst/>
          </a:prstGeom>
          <a:noFill/>
          <a:ln/>
        </p:spPr>
        <p:txBody>
          <a:bodyPr wrap="square" rtlCol="0" anchor="ctr"/>
          <a:lstStyle/>
          <a:p>
            <a:pPr marL="0" indent="0" algn="ctr">
              <a:buNone/>
            </a:pPr>
            <a:r>
              <a:rPr lang="en-US" sz="900" b="1" kern="0" spc="200" dirty="0">
                <a:solidFill>
                  <a:srgbClr val="2563EB"/>
                </a:solidFill>
                <a:latin typeface="JetBrains Mono" pitchFamily="34" charset="0"/>
                <a:ea typeface="JetBrains Mono" pitchFamily="34" charset="-122"/>
                <a:cs typeface="JetBrains Mono" pitchFamily="34" charset="-120"/>
              </a:rPr>
              <a:t>COMPLIANT</a:t>
            </a:r>
            <a:endParaRPr lang="en-US" sz="900" dirty="0"/>
          </a:p>
        </p:txBody>
      </p:sp>
      <p:sp>
        <p:nvSpPr>
          <p:cNvPr id="23" name="Text 18"/>
          <p:cNvSpPr/>
          <p:nvPr/>
        </p:nvSpPr>
        <p:spPr>
          <a:xfrm>
            <a:off x="8386877" y="4069080"/>
            <a:ext cx="2936138" cy="502920"/>
          </a:xfrm>
          <a:prstGeom prst="rect">
            <a:avLst/>
          </a:prstGeom>
          <a:noFill/>
          <a:ln/>
        </p:spPr>
        <p:txBody>
          <a:bodyPr wrap="square" lIns="0" tIns="0" rIns="0" bIns="0" rtlCol="0" anchor="t"/>
          <a:lstStyle/>
          <a:p>
            <a:pPr marL="0" indent="0" algn="ctr">
              <a:lnSpc>
                <a:spcPts val="1800"/>
              </a:lnSpc>
              <a:buNone/>
            </a:pPr>
            <a:r>
              <a:rPr lang="en-US" sz="1600" b="1" dirty="0">
                <a:solidFill>
                  <a:srgbClr val="0B1437"/>
                </a:solidFill>
                <a:latin typeface="Aptos Display" pitchFamily="34" charset="0"/>
                <a:ea typeface="Aptos Display" pitchFamily="34" charset="-122"/>
                <a:cs typeface="Aptos Display" pitchFamily="34" charset="-120"/>
              </a:rPr>
              <a:t>Bank-grade security</a:t>
            </a:r>
            <a:endParaRPr lang="en-US" sz="1600" dirty="0"/>
          </a:p>
        </p:txBody>
      </p:sp>
      <p:sp>
        <p:nvSpPr>
          <p:cNvPr id="24" name="Text 19"/>
          <p:cNvSpPr/>
          <p:nvPr/>
        </p:nvSpPr>
        <p:spPr>
          <a:xfrm>
            <a:off x="8432597" y="4617720"/>
            <a:ext cx="2844698" cy="685800"/>
          </a:xfrm>
          <a:prstGeom prst="rect">
            <a:avLst/>
          </a:prstGeom>
          <a:noFill/>
          <a:ln/>
        </p:spPr>
        <p:txBody>
          <a:bodyPr wrap="square" lIns="0" tIns="0" rIns="0" bIns="0" rtlCol="0" anchor="t"/>
          <a:lstStyle/>
          <a:p>
            <a:pPr marL="0" indent="0" algn="ctr">
              <a:lnSpc>
                <a:spcPts val="1550"/>
              </a:lnSpc>
              <a:buNone/>
            </a:pPr>
            <a:r>
              <a:rPr lang="en-US" sz="1150" dirty="0">
                <a:solidFill>
                  <a:srgbClr val="64748B"/>
                </a:solidFill>
                <a:latin typeface="Aptos" pitchFamily="34" charset="0"/>
                <a:ea typeface="Aptos" pitchFamily="34" charset="-122"/>
                <a:cs typeface="Aptos" pitchFamily="34" charset="-120"/>
              </a:rPr>
              <a:t>PCI-DSS, SOC 2, FINTRAC MSB, and Bank of Canada RPAA. Dream handles KYC, AML, and monitoring.</a:t>
            </a:r>
            <a:endParaRPr lang="en-US" sz="1150" dirty="0"/>
          </a:p>
        </p:txBody>
      </p:sp>
      <p:sp>
        <p:nvSpPr>
          <p:cNvPr id="25" name="Text 20"/>
          <p:cNvSpPr/>
          <p:nvPr/>
        </p:nvSpPr>
        <p:spPr>
          <a:xfrm>
            <a:off x="640080" y="6455664"/>
            <a:ext cx="9144000" cy="274320"/>
          </a:xfrm>
          <a:prstGeom prst="rect">
            <a:avLst/>
          </a:prstGeom>
          <a:noFill/>
          <a:ln/>
        </p:spPr>
        <p:txBody>
          <a:bodyPr wrap="square" rtlCol="0" anchor="ctr"/>
          <a:lstStyle/>
          <a:p>
            <a:pPr marL="0" indent="0">
              <a:buNone/>
            </a:pPr>
            <a:r>
              <a:rPr lang="en-US" sz="750" kern="0" spc="180" dirty="0">
                <a:solidFill>
                  <a:srgbClr val="94A3B8"/>
                </a:solidFill>
                <a:latin typeface="JetBrains Mono" pitchFamily="34" charset="0"/>
                <a:ea typeface="JetBrains Mono" pitchFamily="34" charset="-122"/>
                <a:cs typeface="JetBrains Mono" pitchFamily="34" charset="-120"/>
              </a:rPr>
              <a:t>DREAM PAYMENTS  ·  BUSINESS PAYMENT HUB  ·  COMMERCIAL PROPOSAL</a:t>
            </a:r>
            <a:endParaRPr lang="en-US" sz="750" dirty="0"/>
          </a:p>
        </p:txBody>
      </p:sp>
      <p:sp>
        <p:nvSpPr>
          <p:cNvPr id="26" name="Text 21"/>
          <p:cNvSpPr/>
          <p:nvPr/>
        </p:nvSpPr>
        <p:spPr>
          <a:xfrm>
            <a:off x="10637215" y="6455664"/>
            <a:ext cx="914400" cy="274320"/>
          </a:xfrm>
          <a:prstGeom prst="rect">
            <a:avLst/>
          </a:prstGeom>
          <a:noFill/>
          <a:ln/>
        </p:spPr>
        <p:txBody>
          <a:bodyPr wrap="square" rtlCol="0" anchor="ctr"/>
          <a:lstStyle/>
          <a:p>
            <a:pPr marL="0" indent="0" algn="r">
              <a:buNone/>
            </a:pPr>
            <a:r>
              <a:rPr lang="en-US" sz="800" b="1" kern="0" spc="150" dirty="0">
                <a:solidFill>
                  <a:srgbClr val="2563EB"/>
                </a:solidFill>
                <a:latin typeface="JetBrains Mono" pitchFamily="34" charset="0"/>
                <a:ea typeface="JetBrains Mono" pitchFamily="34" charset="-122"/>
                <a:cs typeface="JetBrains Mono"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603504"/>
            <a:ext cx="384048" cy="64008"/>
          </a:xfrm>
          <a:prstGeom prst="rect">
            <a:avLst/>
          </a:prstGeom>
          <a:solidFill>
            <a:srgbClr val="7C5CFF"/>
          </a:solidFill>
          <a:ln/>
        </p:spPr>
        <p:txBody>
          <a:bodyPr/>
          <a:lstStyle/>
          <a:p>
            <a:endParaRPr lang="en-US"/>
          </a:p>
        </p:txBody>
      </p:sp>
      <p:sp>
        <p:nvSpPr>
          <p:cNvPr id="3" name="Text 1"/>
          <p:cNvSpPr/>
          <p:nvPr/>
        </p:nvSpPr>
        <p:spPr>
          <a:xfrm>
            <a:off x="1143000" y="502920"/>
            <a:ext cx="9144000" cy="274320"/>
          </a:xfrm>
          <a:prstGeom prst="rect">
            <a:avLst/>
          </a:prstGeom>
          <a:noFill/>
          <a:ln/>
        </p:spPr>
        <p:txBody>
          <a:bodyPr wrap="square" rtlCol="0" anchor="ctr"/>
          <a:lstStyle/>
          <a:p>
            <a:pPr marL="0" indent="0">
              <a:buNone/>
            </a:pPr>
            <a:r>
              <a:rPr lang="en-US" sz="1100" b="1" kern="0" spc="300" dirty="0">
                <a:solidFill>
                  <a:srgbClr val="A5B4FC"/>
                </a:solidFill>
                <a:latin typeface="JetBrains Mono" pitchFamily="34" charset="0"/>
                <a:ea typeface="JetBrains Mono" pitchFamily="34" charset="-122"/>
                <a:cs typeface="JetBrains Mono" pitchFamily="34" charset="-120"/>
              </a:rPr>
              <a:t>SECTION IV · THE COMMERCIALS</a:t>
            </a:r>
            <a:endParaRPr lang="en-US" sz="1100" dirty="0"/>
          </a:p>
        </p:txBody>
      </p:sp>
      <p:sp>
        <p:nvSpPr>
          <p:cNvPr id="4" name="Text 2"/>
          <p:cNvSpPr/>
          <p:nvPr/>
        </p:nvSpPr>
        <p:spPr>
          <a:xfrm>
            <a:off x="640080" y="3063240"/>
            <a:ext cx="10607040" cy="1554480"/>
          </a:xfrm>
          <a:prstGeom prst="rect">
            <a:avLst/>
          </a:prstGeom>
          <a:noFill/>
          <a:ln/>
        </p:spPr>
        <p:txBody>
          <a:bodyPr wrap="square" lIns="0" tIns="0" rIns="0" bIns="0" rtlCol="0" anchor="ctr"/>
          <a:lstStyle/>
          <a:p>
            <a:pPr marL="0" indent="0">
              <a:lnSpc>
                <a:spcPts val="4800"/>
              </a:lnSpc>
              <a:buNone/>
            </a:pPr>
            <a:r>
              <a:rPr lang="en-US" sz="4200" b="1" dirty="0">
                <a:solidFill>
                  <a:srgbClr val="FFFFFF"/>
                </a:solidFill>
                <a:latin typeface="Aptos Display" pitchFamily="34" charset="0"/>
                <a:ea typeface="Aptos Display" pitchFamily="34" charset="-122"/>
                <a:cs typeface="Aptos Display" pitchFamily="34" charset="-120"/>
              </a:rPr>
              <a:t>Simple, transparent, </a:t>
            </a:r>
            <a:r>
              <a:rPr lang="en-US" sz="4200" b="1" dirty="0">
                <a:solidFill>
                  <a:srgbClr val="A78BFA"/>
                </a:solidFill>
                <a:latin typeface="Aptos Display" pitchFamily="34" charset="0"/>
                <a:ea typeface="Aptos Display" pitchFamily="34" charset="-122"/>
                <a:cs typeface="Aptos Display" pitchFamily="34" charset="-120"/>
              </a:rPr>
              <a:t>volume-scaled.</a:t>
            </a:r>
            <a:endParaRPr lang="en-US" sz="4200" dirty="0"/>
          </a:p>
        </p:txBody>
      </p:sp>
      <p:sp>
        <p:nvSpPr>
          <p:cNvPr id="5" name="Text 3"/>
          <p:cNvSpPr/>
          <p:nvPr/>
        </p:nvSpPr>
        <p:spPr>
          <a:xfrm>
            <a:off x="640080" y="4709160"/>
            <a:ext cx="9601200" cy="900000"/>
          </a:xfrm>
          <a:prstGeom prst="rect">
            <a:avLst/>
          </a:prstGeom>
          <a:noFill/>
          <a:ln/>
        </p:spPr>
        <p:txBody>
          <a:bodyPr wrap="square" rtlCol="0" anchor="ctr"/>
          <a:lstStyle/>
          <a:p>
            <a:pPr marL="0" indent="0">
              <a:lnSpc>
                <a:spcPts val="2200"/>
              </a:lnSpc>
              <a:buNone/>
            </a:pPr>
            <a:r>
              <a:rPr lang="en-US" sz="1550" dirty="0">
                <a:solidFill>
                  <a:srgbClr val="C7D2FE"/>
                </a:solidFill>
                <a:latin typeface="Aptos" pitchFamily="34" charset="0"/>
                <a:ea typeface="Aptos" pitchFamily="34" charset="-122"/>
                <a:cs typeface="Aptos" pitchFamily="34" charset="-120"/>
              </a:rPr>
              <a:t>A monthly platform fee from the moment sandbox access is granted, flat per-transaction rates by rail, volume-tiered discounts, and optional value-added services, with no setup fee. All amounts in CAD, domestic Canada.</a:t>
            </a:r>
            <a:endParaRPr lang="en-US" sz="1550" dirty="0"/>
          </a:p>
        </p:txBody>
      </p:sp>
      <p:sp>
        <p:nvSpPr>
          <p:cNvPr id="6" name="Text 4"/>
          <p:cNvSpPr/>
          <p:nvPr/>
        </p:nvSpPr>
        <p:spPr>
          <a:xfrm>
            <a:off x="10637215" y="6455664"/>
            <a:ext cx="914400" cy="274320"/>
          </a:xfrm>
          <a:prstGeom prst="rect">
            <a:avLst/>
          </a:prstGeom>
          <a:noFill/>
          <a:ln/>
        </p:spPr>
        <p:txBody>
          <a:bodyPr wrap="square" rtlCol="0" anchor="ctr"/>
          <a:lstStyle/>
          <a:p>
            <a:pPr marL="0" indent="0" algn="r">
              <a:buNone/>
            </a:pPr>
            <a:r>
              <a:rPr lang="en-US" sz="800" kern="0" spc="150" dirty="0">
                <a:solidFill>
                  <a:srgbClr val="8C97C9"/>
                </a:solidFill>
                <a:latin typeface="JetBrains Mono" pitchFamily="34" charset="0"/>
                <a:ea typeface="JetBrains Mono" pitchFamily="34" charset="-122"/>
                <a:cs typeface="JetBrains Mono" pitchFamily="34" charset="-120"/>
              </a:rPr>
              <a:t>14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lstStyle/>
          <a:p>
            <a:pPr marL="0" indent="0">
              <a:buNone/>
            </a:pPr>
            <a:r>
              <a:rPr lang="en-US" sz="1100" b="1" kern="0" spc="300" dirty="0">
                <a:solidFill>
                  <a:srgbClr val="2563EB"/>
                </a:solidFill>
                <a:latin typeface="JetBrains Mono" pitchFamily="34" charset="0"/>
                <a:ea typeface="JetBrains Mono" pitchFamily="34" charset="-122"/>
                <a:cs typeface="JetBrains Mono" pitchFamily="34" charset="-120"/>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lstStyle/>
          <a:p>
            <a:pPr marL="0" indent="0">
              <a:buNone/>
            </a:pPr>
            <a:r>
              <a:rPr lang="en-US" sz="950" kern="0" spc="150" dirty="0">
                <a:solidFill>
                  <a:srgbClr val="64748B"/>
                </a:solidFill>
                <a:latin typeface="JetBrains Mono" pitchFamily="34" charset="0"/>
                <a:ea typeface="JetBrains Mono" pitchFamily="34" charset="-122"/>
                <a:cs typeface="JetBrains Mono" pitchFamily="34" charset="-120"/>
              </a:rPr>
              <a:t>09 · PRICING</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lstStyle/>
          <a:p>
            <a:pPr marL="0" indent="0">
              <a:buNone/>
            </a:pPr>
            <a:r>
              <a:rPr lang="en-US" sz="2700" b="1" dirty="0">
                <a:solidFill>
                  <a:srgbClr val="0B1437"/>
                </a:solidFill>
                <a:latin typeface="Aptos Display" pitchFamily="34" charset="0"/>
                <a:ea typeface="Aptos Display" pitchFamily="34" charset="-122"/>
                <a:cs typeface="Aptos Display" pitchFamily="34" charset="-120"/>
              </a:rPr>
              <a:t>Simple, usage-based pricing.</a:t>
            </a:r>
            <a:endParaRPr lang="en-US" sz="2700" dirty="0"/>
          </a:p>
        </p:txBody>
      </p:sp>
      <p:sp>
        <p:nvSpPr>
          <p:cNvPr id="6" name="Text 4"/>
          <p:cNvSpPr/>
          <p:nvPr/>
        </p:nvSpPr>
        <p:spPr>
          <a:xfrm>
            <a:off x="640080" y="1874520"/>
            <a:ext cx="10728655" cy="505000"/>
          </a:xfrm>
          <a:prstGeom prst="rect">
            <a:avLst/>
          </a:prstGeom>
          <a:noFill/>
          <a:ln/>
        </p:spPr>
        <p:txBody>
          <a:bodyPr wrap="square" lIns="0" tIns="0" rIns="0" bIns="0" anchor="t"/>
          <a:lstStyle/>
          <a:p>
            <a:pPr algn="l">
              <a:lnSpc>
                <a:spcPct val="108000"/>
              </a:lnSpc>
              <a:buNone/>
            </a:pPr>
            <a:r>
              <a:rPr lang="en-US" sz="1150" dirty="0">
                <a:solidFill>
                  <a:srgbClr val="64748B"/>
                </a:solidFill>
                <a:latin typeface="Aptos" pitchFamily="34" charset="0"/>
                <a:cs typeface="Aptos" pitchFamily="34" charset="0"/>
              </a:rPr>
              <a:t>Three simple components: a monthly platform fee that begins when sandbox access is granted, flat per-transaction rates by rail, and optional value-added services. Rates step down as monthly volume grows, with no setup fee. All amounts in CAD, domestic Canada.</a:t>
            </a:r>
          </a:p>
        </p:txBody>
      </p:sp>
      <p:sp>
        <p:nvSpPr>
          <p:cNvPr id="29" name="Text 23"/>
          <p:cNvSpPr/>
          <p:nvPr/>
        </p:nvSpPr>
        <p:spPr>
          <a:xfrm>
            <a:off x="640080" y="6455664"/>
            <a:ext cx="9144000" cy="274320"/>
          </a:xfrm>
          <a:prstGeom prst="rect">
            <a:avLst/>
          </a:prstGeom>
          <a:noFill/>
          <a:ln/>
        </p:spPr>
        <p:txBody>
          <a:bodyPr wrap="square" rtlCol="0" anchor="ctr"/>
          <a:lstStyle/>
          <a:p>
            <a:pPr marL="0" indent="0">
              <a:buNone/>
            </a:pPr>
            <a:r>
              <a:rPr lang="en-US" sz="750" kern="0" spc="180" dirty="0">
                <a:solidFill>
                  <a:srgbClr val="94A3B8"/>
                </a:solidFill>
                <a:latin typeface="JetBrains Mono" pitchFamily="34" charset="0"/>
                <a:ea typeface="JetBrains Mono" pitchFamily="34" charset="-122"/>
                <a:cs typeface="JetBrains Mono" pitchFamily="34" charset="-120"/>
              </a:rPr>
              <a:t>DREAM PAYMENTS  ·  BUSINESS PAYMENT HUB  ·  COMMERCIAL PROPOSAL</a:t>
            </a:r>
            <a:endParaRPr lang="en-US" sz="750" dirty="0"/>
          </a:p>
        </p:txBody>
      </p:sp>
      <p:sp>
        <p:nvSpPr>
          <p:cNvPr id="30" name="Text 24"/>
          <p:cNvSpPr/>
          <p:nvPr/>
        </p:nvSpPr>
        <p:spPr>
          <a:xfrm>
            <a:off x="10637215" y="6455664"/>
            <a:ext cx="914400" cy="274320"/>
          </a:xfrm>
          <a:prstGeom prst="rect">
            <a:avLst/>
          </a:prstGeom>
          <a:noFill/>
          <a:ln/>
        </p:spPr>
        <p:txBody>
          <a:bodyPr wrap="square" rtlCol="0" anchor="ctr"/>
          <a:lstStyle/>
          <a:p>
            <a:pPr marL="0" indent="0" algn="r">
              <a:buNone/>
            </a:pPr>
            <a:r>
              <a:rPr lang="en-US" sz="800" b="1" kern="0" spc="150" dirty="0">
                <a:solidFill>
                  <a:srgbClr val="2563EB"/>
                </a:solidFill>
                <a:latin typeface="JetBrains Mono" pitchFamily="34" charset="0"/>
                <a:ea typeface="JetBrains Mono" pitchFamily="34" charset="-122"/>
                <a:cs typeface="JetBrains Mono" pitchFamily="34" charset="-120"/>
              </a:rPr>
              <a:t>15</a:t>
            </a:r>
            <a:endParaRPr lang="en-US" sz="800" dirty="0"/>
          </a:p>
        </p:txBody>
      </p:sp>
      <p:sp>
        <p:nvSpPr>
          <p:cNvPr id="801" name="r"/>
          <p:cNvSpPr/>
          <p:nvPr/>
        </p:nvSpPr>
        <p:spPr>
          <a:xfrm>
            <a:off x="640080" y="2420000"/>
            <a:ext cx="5272888" cy="1000000"/>
          </a:xfrm>
          <a:prstGeom prst="rect">
            <a:avLst/>
          </a:prstGeom>
          <a:solidFill>
            <a:srgbClr val="F8FAFC"/>
          </a:solidFill>
          <a:ln w="9525">
            <a:solidFill>
              <a:srgbClr val="E2E8F0"/>
            </a:solidFill>
            <a:prstDash val="solid"/>
          </a:ln>
        </p:spPr>
        <p:txBody>
          <a:bodyPr/>
          <a:lstStyle/>
          <a:p>
            <a:endParaRPr lang="en-US"/>
          </a:p>
        </p:txBody>
      </p:sp>
      <p:sp>
        <p:nvSpPr>
          <p:cNvPr id="802" name="r"/>
          <p:cNvSpPr/>
          <p:nvPr/>
        </p:nvSpPr>
        <p:spPr>
          <a:xfrm>
            <a:off x="640080" y="2420000"/>
            <a:ext cx="5272888" cy="50000"/>
          </a:xfrm>
          <a:prstGeom prst="rect">
            <a:avLst/>
          </a:prstGeom>
          <a:solidFill>
            <a:srgbClr val="2563EB"/>
          </a:solidFill>
          <a:ln>
            <a:noFill/>
          </a:ln>
        </p:spPr>
        <p:txBody>
          <a:bodyPr/>
          <a:lstStyle/>
          <a:p>
            <a:endParaRPr lang="en-US"/>
          </a:p>
        </p:txBody>
      </p:sp>
      <p:sp>
        <p:nvSpPr>
          <p:cNvPr id="803" name="t"/>
          <p:cNvSpPr txBox="1"/>
          <p:nvPr/>
        </p:nvSpPr>
        <p:spPr>
          <a:xfrm>
            <a:off x="1000080" y="2580000"/>
            <a:ext cx="4500000" cy="240000"/>
          </a:xfrm>
          <a:prstGeom prst="rect">
            <a:avLst/>
          </a:prstGeom>
          <a:noFill/>
        </p:spPr>
        <p:txBody>
          <a:bodyPr wrap="square" lIns="0" tIns="0" rIns="0" bIns="0" rtlCol="0" anchor="t"/>
          <a:lstStyle/>
          <a:p>
            <a:pPr algn="l">
              <a:buNone/>
            </a:pPr>
            <a:r>
              <a:rPr lang="en-US" sz="1100" b="1" spc="200" dirty="0">
                <a:solidFill>
                  <a:srgbClr val="2563EB"/>
                </a:solidFill>
                <a:latin typeface="Aptos" pitchFamily="34" charset="0"/>
                <a:cs typeface="Aptos" pitchFamily="34" charset="0"/>
              </a:rPr>
              <a:t>PLATFORM · MONTHLY</a:t>
            </a:r>
          </a:p>
        </p:txBody>
      </p:sp>
      <p:sp>
        <p:nvSpPr>
          <p:cNvPr id="804" name="t"/>
          <p:cNvSpPr txBox="1"/>
          <p:nvPr/>
        </p:nvSpPr>
        <p:spPr>
          <a:xfrm>
            <a:off x="1000080" y="2820000"/>
            <a:ext cx="4541368" cy="470000"/>
          </a:xfrm>
          <a:prstGeom prst="rect">
            <a:avLst/>
          </a:prstGeom>
          <a:noFill/>
        </p:spPr>
        <p:txBody>
          <a:bodyPr wrap="square" lIns="0" tIns="0" rIns="0" bIns="0" rtlCol="0" anchor="t"/>
          <a:lstStyle/>
          <a:p>
            <a:pPr algn="l">
              <a:buNone/>
            </a:pPr>
            <a:r>
              <a:rPr lang="en-US" sz="2400" b="1" spc="-40" dirty="0">
                <a:solidFill>
                  <a:srgbClr val="0B1437"/>
                </a:solidFill>
                <a:latin typeface="Aptos Display" pitchFamily="34" charset="0"/>
                <a:cs typeface="Aptos Display" pitchFamily="34" charset="0"/>
              </a:rPr>
              <a:t>$950 / month</a:t>
            </a:r>
          </a:p>
        </p:txBody>
      </p:sp>
      <p:sp>
        <p:nvSpPr>
          <p:cNvPr id="805" name="t"/>
          <p:cNvSpPr txBox="1"/>
          <p:nvPr/>
        </p:nvSpPr>
        <p:spPr>
          <a:xfrm>
            <a:off x="1000080" y="3270000"/>
            <a:ext cx="4541368" cy="240000"/>
          </a:xfrm>
          <a:prstGeom prst="rect">
            <a:avLst/>
          </a:prstGeom>
          <a:noFill/>
        </p:spPr>
        <p:txBody>
          <a:bodyPr wrap="square" lIns="0" tIns="0" rIns="0" bIns="0" rtlCol="0" anchor="t"/>
          <a:lstStyle/>
          <a:p>
            <a:pPr algn="l">
              <a:buNone/>
            </a:pPr>
            <a:r>
              <a:rPr lang="en-US" sz="1100" dirty="0">
                <a:solidFill>
                  <a:srgbClr val="64748B"/>
                </a:solidFill>
                <a:latin typeface="Aptos" pitchFamily="34" charset="0"/>
                <a:cs typeface="Aptos" pitchFamily="34" charset="0"/>
              </a:rPr>
              <a:t>Begins when sandbox access is granted.</a:t>
            </a:r>
          </a:p>
        </p:txBody>
      </p:sp>
      <p:sp>
        <p:nvSpPr>
          <p:cNvPr id="806" name="r"/>
          <p:cNvSpPr/>
          <p:nvPr/>
        </p:nvSpPr>
        <p:spPr>
          <a:xfrm>
            <a:off x="6278728" y="2420000"/>
            <a:ext cx="5272888" cy="1000000"/>
          </a:xfrm>
          <a:prstGeom prst="rect">
            <a:avLst/>
          </a:prstGeom>
          <a:solidFill>
            <a:srgbClr val="F8FAFC"/>
          </a:solidFill>
          <a:ln w="9525">
            <a:solidFill>
              <a:srgbClr val="E2E8F0"/>
            </a:solidFill>
            <a:prstDash val="solid"/>
          </a:ln>
        </p:spPr>
        <p:txBody>
          <a:bodyPr/>
          <a:lstStyle/>
          <a:p>
            <a:endParaRPr lang="en-US"/>
          </a:p>
        </p:txBody>
      </p:sp>
      <p:sp>
        <p:nvSpPr>
          <p:cNvPr id="807" name="r"/>
          <p:cNvSpPr/>
          <p:nvPr/>
        </p:nvSpPr>
        <p:spPr>
          <a:xfrm>
            <a:off x="6278728" y="2420000"/>
            <a:ext cx="5272888" cy="50000"/>
          </a:xfrm>
          <a:prstGeom prst="rect">
            <a:avLst/>
          </a:prstGeom>
          <a:solidFill>
            <a:srgbClr val="2563EB"/>
          </a:solidFill>
          <a:ln>
            <a:noFill/>
          </a:ln>
        </p:spPr>
        <p:txBody>
          <a:bodyPr/>
          <a:lstStyle/>
          <a:p>
            <a:endParaRPr lang="en-US"/>
          </a:p>
        </p:txBody>
      </p:sp>
      <p:sp>
        <p:nvSpPr>
          <p:cNvPr id="808" name="t"/>
          <p:cNvSpPr txBox="1"/>
          <p:nvPr/>
        </p:nvSpPr>
        <p:spPr>
          <a:xfrm>
            <a:off x="6638728" y="2580000"/>
            <a:ext cx="4500000" cy="240000"/>
          </a:xfrm>
          <a:prstGeom prst="rect">
            <a:avLst/>
          </a:prstGeom>
          <a:noFill/>
        </p:spPr>
        <p:txBody>
          <a:bodyPr wrap="square" lIns="0" tIns="0" rIns="0" bIns="0" rtlCol="0" anchor="t"/>
          <a:lstStyle/>
          <a:p>
            <a:pPr algn="l">
              <a:buNone/>
            </a:pPr>
            <a:r>
              <a:rPr lang="en-US" sz="1100" b="1" spc="200" dirty="0">
                <a:solidFill>
                  <a:srgbClr val="2563EB"/>
                </a:solidFill>
                <a:latin typeface="Aptos" pitchFamily="34" charset="0"/>
                <a:cs typeface="Aptos" pitchFamily="34" charset="0"/>
              </a:rPr>
              <a:t>VOLUME · TIERS</a:t>
            </a:r>
          </a:p>
        </p:txBody>
      </p:sp>
      <p:sp>
        <p:nvSpPr>
          <p:cNvPr id="809" name="t"/>
          <p:cNvSpPr txBox="1"/>
          <p:nvPr/>
        </p:nvSpPr>
        <p:spPr>
          <a:xfrm>
            <a:off x="6638728" y="2820000"/>
            <a:ext cx="4541368" cy="470000"/>
          </a:xfrm>
          <a:prstGeom prst="rect">
            <a:avLst/>
          </a:prstGeom>
          <a:noFill/>
        </p:spPr>
        <p:txBody>
          <a:bodyPr wrap="square" lIns="0" tIns="0" rIns="0" bIns="0" rtlCol="0" anchor="t"/>
          <a:lstStyle/>
          <a:p>
            <a:pPr algn="l">
              <a:buNone/>
            </a:pPr>
            <a:r>
              <a:rPr lang="en-US" sz="2400" b="1" spc="-40" dirty="0">
                <a:solidFill>
                  <a:srgbClr val="0B1437"/>
                </a:solidFill>
                <a:latin typeface="Aptos Display" pitchFamily="34" charset="0"/>
                <a:cs typeface="Aptos Display" pitchFamily="34" charset="0"/>
              </a:rPr>
              <a:t>-10% / -20%</a:t>
            </a:r>
          </a:p>
        </p:txBody>
      </p:sp>
      <p:sp>
        <p:nvSpPr>
          <p:cNvPr id="810" name="t"/>
          <p:cNvSpPr txBox="1"/>
          <p:nvPr/>
        </p:nvSpPr>
        <p:spPr>
          <a:xfrm>
            <a:off x="6638728" y="3270000"/>
            <a:ext cx="4541368" cy="240000"/>
          </a:xfrm>
          <a:prstGeom prst="rect">
            <a:avLst/>
          </a:prstGeom>
          <a:noFill/>
        </p:spPr>
        <p:txBody>
          <a:bodyPr wrap="square" lIns="0" tIns="0" rIns="0" bIns="0" rtlCol="0" anchor="t"/>
          <a:lstStyle/>
          <a:p>
            <a:pPr algn="l">
              <a:buNone/>
            </a:pPr>
            <a:r>
              <a:rPr lang="en-US" sz="1100" dirty="0">
                <a:solidFill>
                  <a:srgbClr val="64748B"/>
                </a:solidFill>
                <a:latin typeface="Aptos" pitchFamily="34" charset="0"/>
                <a:cs typeface="Aptos" pitchFamily="34" charset="0"/>
              </a:rPr>
              <a:t>-10% over 10K/mo, a further -10% over 50K/mo.</a:t>
            </a:r>
          </a:p>
        </p:txBody>
      </p:sp>
      <p:sp>
        <p:nvSpPr>
          <p:cNvPr id="811" name="t"/>
          <p:cNvSpPr txBox="1"/>
          <p:nvPr/>
        </p:nvSpPr>
        <p:spPr>
          <a:xfrm>
            <a:off x="640080" y="3580000"/>
            <a:ext cx="8000000" cy="220000"/>
          </a:xfrm>
          <a:prstGeom prst="rect">
            <a:avLst/>
          </a:prstGeom>
          <a:noFill/>
        </p:spPr>
        <p:txBody>
          <a:bodyPr wrap="square" lIns="0" tIns="0" rIns="0" bIns="0" rtlCol="0" anchor="t"/>
          <a:lstStyle/>
          <a:p>
            <a:pPr algn="l">
              <a:buNone/>
            </a:pPr>
            <a:r>
              <a:rPr lang="en-US" sz="1100" b="1" spc="200" dirty="0">
                <a:solidFill>
                  <a:srgbClr val="2563EB"/>
                </a:solidFill>
                <a:latin typeface="Aptos" pitchFamily="34" charset="0"/>
                <a:cs typeface="Aptos" pitchFamily="34" charset="0"/>
              </a:rPr>
              <a:t>PER-TRANSACTION</a:t>
            </a:r>
          </a:p>
        </p:txBody>
      </p:sp>
      <p:sp>
        <p:nvSpPr>
          <p:cNvPr id="812" name="t"/>
          <p:cNvSpPr txBox="1"/>
          <p:nvPr/>
        </p:nvSpPr>
        <p:spPr>
          <a:xfrm>
            <a:off x="640080" y="3840000"/>
            <a:ext cx="8500000" cy="240000"/>
          </a:xfrm>
          <a:prstGeom prst="rect">
            <a:avLst/>
          </a:prstGeom>
          <a:noFill/>
        </p:spPr>
        <p:txBody>
          <a:bodyPr wrap="square" lIns="0" tIns="0" rIns="0" bIns="0" rtlCol="0" anchor="t"/>
          <a:lstStyle/>
          <a:p>
            <a:pPr algn="l">
              <a:buNone/>
            </a:pPr>
            <a:r>
              <a:rPr lang="en-US" sz="1350" b="1" spc="-20" dirty="0">
                <a:solidFill>
                  <a:srgbClr val="0B1437"/>
                </a:solidFill>
                <a:latin typeface="Aptos Display" pitchFamily="34" charset="0"/>
                <a:cs typeface="Aptos Display" pitchFamily="34" charset="0"/>
              </a:rPr>
              <a:t>e-Transfer, request &amp; payout</a:t>
            </a:r>
          </a:p>
        </p:txBody>
      </p:sp>
      <p:sp>
        <p:nvSpPr>
          <p:cNvPr id="813" name="t"/>
          <p:cNvSpPr txBox="1"/>
          <p:nvPr/>
        </p:nvSpPr>
        <p:spPr>
          <a:xfrm>
            <a:off x="640080" y="3840000"/>
            <a:ext cx="10911535" cy="240000"/>
          </a:xfrm>
          <a:prstGeom prst="rect">
            <a:avLst/>
          </a:prstGeom>
          <a:noFill/>
        </p:spPr>
        <p:txBody>
          <a:bodyPr wrap="square" lIns="0" tIns="0" rIns="0" bIns="0" rtlCol="0" anchor="t"/>
          <a:lstStyle/>
          <a:p>
            <a:pPr algn="r">
              <a:buNone/>
            </a:pPr>
            <a:r>
              <a:rPr lang="en-US" sz="1400" b="1" dirty="0">
                <a:solidFill>
                  <a:srgbClr val="2563EB"/>
                </a:solidFill>
                <a:latin typeface="Aptos Display" pitchFamily="34" charset="0"/>
                <a:cs typeface="Aptos Display" pitchFamily="34" charset="0"/>
              </a:rPr>
              <a:t>$1.00 / txn</a:t>
            </a:r>
          </a:p>
        </p:txBody>
      </p:sp>
      <p:sp>
        <p:nvSpPr>
          <p:cNvPr id="814" name="r"/>
          <p:cNvSpPr/>
          <p:nvPr/>
        </p:nvSpPr>
        <p:spPr>
          <a:xfrm>
            <a:off x="640080" y="4095000"/>
            <a:ext cx="10911535" cy="9525"/>
          </a:xfrm>
          <a:prstGeom prst="rect">
            <a:avLst/>
          </a:prstGeom>
          <a:solidFill>
            <a:srgbClr val="E2E8F0"/>
          </a:solidFill>
          <a:ln>
            <a:noFill/>
          </a:ln>
        </p:spPr>
        <p:txBody>
          <a:bodyPr/>
          <a:lstStyle/>
          <a:p>
            <a:endParaRPr lang="en-US"/>
          </a:p>
        </p:txBody>
      </p:sp>
      <p:sp>
        <p:nvSpPr>
          <p:cNvPr id="815" name="t"/>
          <p:cNvSpPr txBox="1"/>
          <p:nvPr/>
        </p:nvSpPr>
        <p:spPr>
          <a:xfrm>
            <a:off x="640080" y="4190000"/>
            <a:ext cx="8500000" cy="240000"/>
          </a:xfrm>
          <a:prstGeom prst="rect">
            <a:avLst/>
          </a:prstGeom>
          <a:noFill/>
        </p:spPr>
        <p:txBody>
          <a:bodyPr wrap="square" lIns="0" tIns="0" rIns="0" bIns="0" rtlCol="0" anchor="t"/>
          <a:lstStyle/>
          <a:p>
            <a:pPr algn="l">
              <a:buNone/>
            </a:pPr>
            <a:r>
              <a:rPr lang="en-US" sz="1350" b="1" spc="-20" dirty="0">
                <a:solidFill>
                  <a:srgbClr val="0B1437"/>
                </a:solidFill>
                <a:latin typeface="Aptos Display" pitchFamily="34" charset="0"/>
                <a:cs typeface="Aptos Display" pitchFamily="34" charset="0"/>
              </a:rPr>
              <a:t>EFT, vendor &amp; payroll payout</a:t>
            </a:r>
          </a:p>
        </p:txBody>
      </p:sp>
      <p:sp>
        <p:nvSpPr>
          <p:cNvPr id="816" name="t"/>
          <p:cNvSpPr txBox="1"/>
          <p:nvPr/>
        </p:nvSpPr>
        <p:spPr>
          <a:xfrm>
            <a:off x="640080" y="4190000"/>
            <a:ext cx="10911535" cy="240000"/>
          </a:xfrm>
          <a:prstGeom prst="rect">
            <a:avLst/>
          </a:prstGeom>
          <a:noFill/>
        </p:spPr>
        <p:txBody>
          <a:bodyPr wrap="square" lIns="0" tIns="0" rIns="0" bIns="0" rtlCol="0" anchor="t"/>
          <a:lstStyle/>
          <a:p>
            <a:pPr algn="r">
              <a:buNone/>
            </a:pPr>
            <a:r>
              <a:rPr lang="en-US" sz="1400" b="1" dirty="0">
                <a:solidFill>
                  <a:srgbClr val="2563EB"/>
                </a:solidFill>
                <a:latin typeface="Aptos Display" pitchFamily="34" charset="0"/>
                <a:cs typeface="Aptos Display" pitchFamily="34" charset="0"/>
              </a:rPr>
              <a:t>$0.50 / txn</a:t>
            </a:r>
          </a:p>
        </p:txBody>
      </p:sp>
      <p:sp>
        <p:nvSpPr>
          <p:cNvPr id="817" name="r"/>
          <p:cNvSpPr/>
          <p:nvPr/>
        </p:nvSpPr>
        <p:spPr>
          <a:xfrm>
            <a:off x="640080" y="4445000"/>
            <a:ext cx="10911535" cy="9525"/>
          </a:xfrm>
          <a:prstGeom prst="rect">
            <a:avLst/>
          </a:prstGeom>
          <a:solidFill>
            <a:srgbClr val="E2E8F0"/>
          </a:solidFill>
          <a:ln>
            <a:noFill/>
          </a:ln>
        </p:spPr>
        <p:txBody>
          <a:bodyPr/>
          <a:lstStyle/>
          <a:p>
            <a:endParaRPr lang="en-US"/>
          </a:p>
        </p:txBody>
      </p:sp>
      <p:sp>
        <p:nvSpPr>
          <p:cNvPr id="818" name="t"/>
          <p:cNvSpPr txBox="1"/>
          <p:nvPr/>
        </p:nvSpPr>
        <p:spPr>
          <a:xfrm>
            <a:off x="640080" y="4620000"/>
            <a:ext cx="8000000" cy="220000"/>
          </a:xfrm>
          <a:prstGeom prst="rect">
            <a:avLst/>
          </a:prstGeom>
          <a:noFill/>
        </p:spPr>
        <p:txBody>
          <a:bodyPr wrap="square" lIns="0" tIns="0" rIns="0" bIns="0" rtlCol="0" anchor="t"/>
          <a:lstStyle/>
          <a:p>
            <a:pPr algn="l">
              <a:buNone/>
            </a:pPr>
            <a:r>
              <a:rPr lang="en-US" sz="1100" b="1" spc="200" dirty="0">
                <a:solidFill>
                  <a:srgbClr val="2563EB"/>
                </a:solidFill>
                <a:latin typeface="Aptos" pitchFamily="34" charset="0"/>
                <a:cs typeface="Aptos" pitchFamily="34" charset="0"/>
              </a:rPr>
              <a:t>VALUE-ADDED SERVICES</a:t>
            </a:r>
          </a:p>
        </p:txBody>
      </p:sp>
      <p:sp>
        <p:nvSpPr>
          <p:cNvPr id="819" name="t"/>
          <p:cNvSpPr txBox="1"/>
          <p:nvPr/>
        </p:nvSpPr>
        <p:spPr>
          <a:xfrm>
            <a:off x="640080" y="4880000"/>
            <a:ext cx="8500000" cy="240000"/>
          </a:xfrm>
          <a:prstGeom prst="rect">
            <a:avLst/>
          </a:prstGeom>
          <a:noFill/>
        </p:spPr>
        <p:txBody>
          <a:bodyPr wrap="square" lIns="0" tIns="0" rIns="0" bIns="0" rtlCol="0" anchor="t"/>
          <a:lstStyle/>
          <a:p>
            <a:pPr algn="l">
              <a:buNone/>
            </a:pPr>
            <a:r>
              <a:rPr lang="en-US" sz="1350" b="1" spc="-20" dirty="0">
                <a:solidFill>
                  <a:srgbClr val="0B1437"/>
                </a:solidFill>
                <a:latin typeface="Aptos Display" pitchFamily="34" charset="0"/>
                <a:cs typeface="Aptos Display" pitchFamily="34" charset="0"/>
              </a:rPr>
              <a:t>Account verification, per new account</a:t>
            </a:r>
          </a:p>
        </p:txBody>
      </p:sp>
      <p:sp>
        <p:nvSpPr>
          <p:cNvPr id="820" name="t"/>
          <p:cNvSpPr txBox="1"/>
          <p:nvPr/>
        </p:nvSpPr>
        <p:spPr>
          <a:xfrm>
            <a:off x="640080" y="4880000"/>
            <a:ext cx="10911535" cy="240000"/>
          </a:xfrm>
          <a:prstGeom prst="rect">
            <a:avLst/>
          </a:prstGeom>
          <a:noFill/>
        </p:spPr>
        <p:txBody>
          <a:bodyPr wrap="square" lIns="0" tIns="0" rIns="0" bIns="0" rtlCol="0" anchor="t"/>
          <a:lstStyle/>
          <a:p>
            <a:pPr algn="r">
              <a:buNone/>
            </a:pPr>
            <a:r>
              <a:rPr lang="en-US" sz="1400" b="1" dirty="0">
                <a:solidFill>
                  <a:srgbClr val="2563EB"/>
                </a:solidFill>
                <a:latin typeface="Aptos Display" pitchFamily="34" charset="0"/>
                <a:cs typeface="Aptos Display" pitchFamily="34" charset="0"/>
              </a:rPr>
              <a:t>$1.50 / acct</a:t>
            </a:r>
          </a:p>
        </p:txBody>
      </p:sp>
      <p:sp>
        <p:nvSpPr>
          <p:cNvPr id="821" name="r"/>
          <p:cNvSpPr/>
          <p:nvPr/>
        </p:nvSpPr>
        <p:spPr>
          <a:xfrm>
            <a:off x="640080" y="5135000"/>
            <a:ext cx="10911535" cy="9525"/>
          </a:xfrm>
          <a:prstGeom prst="rect">
            <a:avLst/>
          </a:prstGeom>
          <a:solidFill>
            <a:srgbClr val="E2E8F0"/>
          </a:solidFill>
          <a:ln>
            <a:noFill/>
          </a:ln>
        </p:spPr>
        <p:txBody>
          <a:bodyPr/>
          <a:lstStyle/>
          <a:p>
            <a:endParaRPr lang="en-US"/>
          </a:p>
        </p:txBody>
      </p:sp>
      <p:sp>
        <p:nvSpPr>
          <p:cNvPr id="825" name="t"/>
          <p:cNvSpPr txBox="1"/>
          <p:nvPr/>
        </p:nvSpPr>
        <p:spPr>
          <a:xfrm>
            <a:off x="640080" y="5230000"/>
            <a:ext cx="8500000" cy="240000"/>
          </a:xfrm>
          <a:prstGeom prst="rect">
            <a:avLst/>
          </a:prstGeom>
          <a:noFill/>
        </p:spPr>
        <p:txBody>
          <a:bodyPr wrap="square" lIns="0" tIns="0" rIns="0" bIns="0" rtlCol="0" anchor="t"/>
          <a:lstStyle/>
          <a:p>
            <a:pPr algn="l">
              <a:buNone/>
            </a:pPr>
            <a:r>
              <a:rPr lang="en-US" sz="1350" b="1" spc="-20" dirty="0">
                <a:solidFill>
                  <a:srgbClr val="0B1437"/>
                </a:solidFill>
                <a:latin typeface="Aptos Display" pitchFamily="34" charset="0"/>
                <a:cs typeface="Aptos Display" pitchFamily="34" charset="0"/>
              </a:rPr>
              <a:t>KYC, onboarding &amp; monitoring</a:t>
            </a:r>
          </a:p>
        </p:txBody>
      </p:sp>
      <p:sp>
        <p:nvSpPr>
          <p:cNvPr id="826" name="t"/>
          <p:cNvSpPr txBox="1"/>
          <p:nvPr/>
        </p:nvSpPr>
        <p:spPr>
          <a:xfrm>
            <a:off x="640080" y="5230000"/>
            <a:ext cx="10911535" cy="240000"/>
          </a:xfrm>
          <a:prstGeom prst="rect">
            <a:avLst/>
          </a:prstGeom>
          <a:noFill/>
        </p:spPr>
        <p:txBody>
          <a:bodyPr wrap="square" lIns="0" tIns="0" rIns="0" bIns="0" rtlCol="0" anchor="t"/>
          <a:lstStyle/>
          <a:p>
            <a:pPr algn="r">
              <a:buNone/>
            </a:pPr>
            <a:r>
              <a:rPr lang="en-US" sz="1400" b="1" dirty="0">
                <a:solidFill>
                  <a:srgbClr val="2563EB"/>
                </a:solidFill>
                <a:latin typeface="Aptos Display" pitchFamily="34" charset="0"/>
                <a:cs typeface="Aptos Display" pitchFamily="34" charset="0"/>
              </a:rPr>
              <a:t>Scoped</a:t>
            </a:r>
          </a:p>
        </p:txBody>
      </p:sp>
      <p:sp>
        <p:nvSpPr>
          <p:cNvPr id="827" name="r"/>
          <p:cNvSpPr/>
          <p:nvPr/>
        </p:nvSpPr>
        <p:spPr>
          <a:xfrm>
            <a:off x="640080" y="5485000"/>
            <a:ext cx="10911535" cy="9525"/>
          </a:xfrm>
          <a:prstGeom prst="rect">
            <a:avLst/>
          </a:prstGeom>
          <a:solidFill>
            <a:srgbClr val="E2E8F0"/>
          </a:solidFill>
          <a:ln>
            <a:noFill/>
          </a:ln>
        </p:spPr>
        <p:txBody>
          <a:bodyPr/>
          <a:lstStyle/>
          <a:p>
            <a:endParaRPr lang="en-US"/>
          </a:p>
        </p:txBody>
      </p:sp>
      <p:sp>
        <p:nvSpPr>
          <p:cNvPr id="828" name="t"/>
          <p:cNvSpPr txBox="1"/>
          <p:nvPr/>
        </p:nvSpPr>
        <p:spPr>
          <a:xfrm>
            <a:off x="640080" y="5950000"/>
            <a:ext cx="10911535" cy="420000"/>
          </a:xfrm>
          <a:prstGeom prst="rect">
            <a:avLst/>
          </a:prstGeom>
          <a:noFill/>
        </p:spPr>
        <p:txBody>
          <a:bodyPr wrap="square" lIns="0" tIns="0" rIns="0" bIns="0" rtlCol="0" anchor="t"/>
          <a:lstStyle/>
          <a:p>
            <a:pPr algn="l">
              <a:lnSpc>
                <a:spcPct val="112000"/>
              </a:lnSpc>
              <a:buNone/>
            </a:pPr>
            <a:r>
              <a:rPr lang="en-US" sz="1000" dirty="0">
                <a:solidFill>
                  <a:srgbClr val="64748B"/>
                </a:solidFill>
                <a:latin typeface="Aptos" pitchFamily="34" charset="0"/>
                <a:cs typeface="Aptos" pitchFamily="34" charset="0"/>
              </a:rPr>
              <a:t>All amounts in CAD, domestic Canada. The platform fee begins when sandbox access is granted, then bills monthly on top of transaction and service fees. Per-transaction rates step down 10% above 10K/month and a further 10% above 50K/month. KYC pricing is scoped to the use case. No setup or onboarding fee.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lstStyle/>
          <a:p>
            <a:pPr marL="0" indent="0">
              <a:buNone/>
            </a:pPr>
            <a:r>
              <a:rPr lang="en-US" sz="1100" b="1" kern="0" spc="300" dirty="0">
                <a:solidFill>
                  <a:srgbClr val="2563EB"/>
                </a:solidFill>
                <a:latin typeface="JetBrains Mono" pitchFamily="34" charset="0"/>
                <a:ea typeface="JetBrains Mono" pitchFamily="34" charset="-122"/>
                <a:cs typeface="JetBrains Mono" pitchFamily="34" charset="-120"/>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lstStyle/>
          <a:p>
            <a:pPr marL="0" indent="0">
              <a:buNone/>
            </a:pPr>
            <a:r>
              <a:rPr lang="en-US" sz="950" kern="0" spc="150" dirty="0">
                <a:solidFill>
                  <a:srgbClr val="64748B"/>
                </a:solidFill>
                <a:latin typeface="JetBrains Mono" pitchFamily="34" charset="0"/>
                <a:ea typeface="JetBrains Mono" pitchFamily="34" charset="-122"/>
                <a:cs typeface="JetBrains Mono" pitchFamily="34" charset="-120"/>
              </a:rPr>
              <a:t>10 · PATH TO ACTIVATION</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lstStyle/>
          <a:p>
            <a:pPr marL="0" indent="0">
              <a:buNone/>
            </a:pPr>
            <a:r>
              <a:rPr lang="en-US" sz="2700" b="1" dirty="0">
                <a:solidFill>
                  <a:srgbClr val="0B1437"/>
                </a:solidFill>
                <a:latin typeface="Aptos Display" pitchFamily="34" charset="0"/>
                <a:ea typeface="Aptos Display" pitchFamily="34" charset="-122"/>
                <a:cs typeface="Aptos Display" pitchFamily="34" charset="-120"/>
              </a:rPr>
              <a:t>A clear path to activation.</a:t>
            </a:r>
            <a:endParaRPr lang="en-US" sz="2700" dirty="0"/>
          </a:p>
        </p:txBody>
      </p:sp>
      <p:sp>
        <p:nvSpPr>
          <p:cNvPr id="6" name="Text 4"/>
          <p:cNvSpPr/>
          <p:nvPr/>
        </p:nvSpPr>
        <p:spPr>
          <a:xfrm>
            <a:off x="640080" y="1874520"/>
            <a:ext cx="10728655" cy="680000"/>
          </a:xfrm>
          <a:prstGeom prst="rect">
            <a:avLst/>
          </a:prstGeom>
          <a:noFill/>
          <a:ln/>
        </p:spPr>
        <p:txBody>
          <a:bodyPr wrap="square" lIns="0" tIns="0" rIns="0" bIns="0" anchor="t"/>
          <a:lstStyle/>
          <a:p>
            <a:pPr algn="l">
              <a:lnSpc>
                <a:spcPct val="108000"/>
              </a:lnSpc>
              <a:buNone/>
            </a:pPr>
            <a:r>
              <a:rPr lang="en-US" sz="1200" dirty="0">
                <a:solidFill>
                  <a:srgbClr val="64748B"/>
                </a:solidFill>
                <a:latin typeface="Aptos" pitchFamily="34" charset="0"/>
                <a:cs typeface="Aptos" pitchFamily="34" charset="0"/>
              </a:rPr>
              <a:t>A clear, three-step path from a signed agreement to a live, scaling platform: commercials and sandbox access, then build and QA, then launch and scale. Each step has a defined owner and outcome, so 60 Seconds can go from decision to first live payment in weeks.</a:t>
            </a:r>
          </a:p>
        </p:txBody>
      </p:sp>
      <p:sp>
        <p:nvSpPr>
          <p:cNvPr id="7" name="Shape 5"/>
          <p:cNvSpPr/>
          <p:nvPr/>
        </p:nvSpPr>
        <p:spPr>
          <a:xfrm>
            <a:off x="640080" y="2606040"/>
            <a:ext cx="3454298" cy="2743200"/>
          </a:xfrm>
          <a:prstGeom prst="roundRect">
            <a:avLst>
              <a:gd name="adj" fmla="val 2175"/>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8" name="Shape 6"/>
          <p:cNvSpPr/>
          <p:nvPr/>
        </p:nvSpPr>
        <p:spPr>
          <a:xfrm>
            <a:off x="676656" y="2596896"/>
            <a:ext cx="3381146" cy="64008"/>
          </a:xfrm>
          <a:prstGeom prst="roundRect">
            <a:avLst>
              <a:gd name="adj" fmla="val 28571"/>
            </a:avLst>
          </a:prstGeom>
          <a:solidFill>
            <a:srgbClr val="2563EB"/>
          </a:solidFill>
          <a:ln/>
        </p:spPr>
        <p:txBody>
          <a:bodyPr/>
          <a:lstStyle/>
          <a:p>
            <a:endParaRPr lang="en-US"/>
          </a:p>
        </p:txBody>
      </p:sp>
      <p:sp>
        <p:nvSpPr>
          <p:cNvPr id="9" name="Text 7"/>
          <p:cNvSpPr/>
          <p:nvPr/>
        </p:nvSpPr>
        <p:spPr>
          <a:xfrm>
            <a:off x="914400" y="2880360"/>
            <a:ext cx="1097280" cy="457200"/>
          </a:xfrm>
          <a:prstGeom prst="rect">
            <a:avLst/>
          </a:prstGeom>
          <a:noFill/>
          <a:ln/>
        </p:spPr>
        <p:txBody>
          <a:bodyPr wrap="square" lIns="0" tIns="0" rIns="0" bIns="0" rtlCol="0" anchor="ctr"/>
          <a:lstStyle/>
          <a:p>
            <a:pPr marL="0" indent="0">
              <a:buNone/>
            </a:pPr>
            <a:r>
              <a:rPr lang="en-US" sz="2600" b="1" dirty="0">
                <a:solidFill>
                  <a:srgbClr val="2563EB"/>
                </a:solidFill>
                <a:latin typeface="Aptos Display" pitchFamily="34" charset="0"/>
                <a:ea typeface="Aptos Display" pitchFamily="34" charset="-122"/>
                <a:cs typeface="Aptos Display" pitchFamily="34" charset="-120"/>
              </a:rPr>
              <a:t>01</a:t>
            </a:r>
            <a:endParaRPr lang="en-US" sz="2600" dirty="0"/>
          </a:p>
        </p:txBody>
      </p:sp>
      <p:sp>
        <p:nvSpPr>
          <p:cNvPr id="10" name="Text 8"/>
          <p:cNvSpPr/>
          <p:nvPr/>
        </p:nvSpPr>
        <p:spPr>
          <a:xfrm>
            <a:off x="914400" y="3447288"/>
            <a:ext cx="2905658" cy="237744"/>
          </a:xfrm>
          <a:prstGeom prst="rect">
            <a:avLst/>
          </a:prstGeom>
          <a:noFill/>
          <a:ln/>
        </p:spPr>
        <p:txBody>
          <a:bodyPr wrap="square" rtlCol="0" anchor="ctr"/>
          <a:lstStyle/>
          <a:p>
            <a:pPr marL="0" indent="0">
              <a:buNone/>
            </a:pPr>
            <a:r>
              <a:rPr lang="en-US" sz="850" b="1" kern="0" spc="150" dirty="0">
                <a:solidFill>
                  <a:srgbClr val="64748B"/>
                </a:solidFill>
                <a:latin typeface="JetBrains Mono" pitchFamily="34" charset="0"/>
                <a:ea typeface="JetBrains Mono" pitchFamily="34" charset="-122"/>
                <a:cs typeface="JetBrains Mono" pitchFamily="34" charset="-120"/>
              </a:rPr>
              <a:t>COMMERCIALS</a:t>
            </a:r>
            <a:endParaRPr lang="en-US" sz="850" dirty="0"/>
          </a:p>
        </p:txBody>
      </p:sp>
      <p:sp>
        <p:nvSpPr>
          <p:cNvPr id="11" name="Text 9"/>
          <p:cNvSpPr/>
          <p:nvPr/>
        </p:nvSpPr>
        <p:spPr>
          <a:xfrm>
            <a:off x="914400" y="3685032"/>
            <a:ext cx="2905658" cy="502920"/>
          </a:xfrm>
          <a:prstGeom prst="rect">
            <a:avLst/>
          </a:prstGeom>
          <a:noFill/>
          <a:ln/>
        </p:spPr>
        <p:txBody>
          <a:bodyPr wrap="square" lIns="0" tIns="0" rIns="0" bIns="0" rtlCol="0" anchor="t"/>
          <a:lstStyle/>
          <a:p>
            <a:pPr marL="0" indent="0">
              <a:lnSpc>
                <a:spcPts val="1700"/>
              </a:lnSpc>
              <a:buNone/>
            </a:pPr>
            <a:r>
              <a:rPr lang="en-US" sz="1500" b="1" dirty="0">
                <a:solidFill>
                  <a:srgbClr val="0B1437"/>
                </a:solidFill>
                <a:latin typeface="Aptos Display" pitchFamily="34" charset="0"/>
                <a:ea typeface="Aptos Display" pitchFamily="34" charset="-122"/>
                <a:cs typeface="Aptos Display" pitchFamily="34" charset="-120"/>
              </a:rPr>
              <a:t>Agreement &amp; announcement</a:t>
            </a:r>
            <a:endParaRPr lang="en-US" sz="1500" dirty="0"/>
          </a:p>
        </p:txBody>
      </p:sp>
      <p:sp>
        <p:nvSpPr>
          <p:cNvPr id="12" name="Text 10"/>
          <p:cNvSpPr/>
          <p:nvPr/>
        </p:nvSpPr>
        <p:spPr>
          <a:xfrm>
            <a:off x="914400" y="4233672"/>
            <a:ext cx="2905658" cy="1005840"/>
          </a:xfrm>
          <a:prstGeom prst="rect">
            <a:avLst/>
          </a:prstGeom>
          <a:noFill/>
          <a:ln/>
        </p:spPr>
        <p:txBody>
          <a:bodyPr wrap="square" lIns="0" tIns="0" rIns="0" bIns="0" rtlCol="0" anchor="t"/>
          <a:lstStyle/>
          <a:p>
            <a:pPr marL="0" indent="0">
              <a:lnSpc>
                <a:spcPts val="1500"/>
              </a:lnSpc>
              <a:buNone/>
            </a:pPr>
            <a:r>
              <a:rPr lang="en-US" sz="1100" dirty="0">
                <a:solidFill>
                  <a:srgbClr val="64748B"/>
                </a:solidFill>
                <a:latin typeface="Aptos" pitchFamily="34" charset="0"/>
                <a:ea typeface="Aptos" pitchFamily="34" charset="-122"/>
                <a:cs typeface="Aptos" pitchFamily="34" charset="-120"/>
              </a:rPr>
              <a:t>Finalize commercial terms and grant sandbox access to begin building.</a:t>
            </a:r>
            <a:endParaRPr lang="en-US" sz="1100" dirty="0"/>
          </a:p>
        </p:txBody>
      </p:sp>
      <p:sp>
        <p:nvSpPr>
          <p:cNvPr id="13" name="Shape 11"/>
          <p:cNvSpPr/>
          <p:nvPr/>
        </p:nvSpPr>
        <p:spPr>
          <a:xfrm>
            <a:off x="4368698" y="2606040"/>
            <a:ext cx="3454298" cy="2743200"/>
          </a:xfrm>
          <a:prstGeom prst="roundRect">
            <a:avLst>
              <a:gd name="adj" fmla="val 2175"/>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14" name="Shape 12"/>
          <p:cNvSpPr/>
          <p:nvPr/>
        </p:nvSpPr>
        <p:spPr>
          <a:xfrm>
            <a:off x="4405274" y="2596896"/>
            <a:ext cx="3381146" cy="64008"/>
          </a:xfrm>
          <a:prstGeom prst="roundRect">
            <a:avLst>
              <a:gd name="adj" fmla="val 28571"/>
            </a:avLst>
          </a:prstGeom>
          <a:solidFill>
            <a:srgbClr val="7C5CFF"/>
          </a:solidFill>
          <a:ln/>
        </p:spPr>
        <p:txBody>
          <a:bodyPr/>
          <a:lstStyle/>
          <a:p>
            <a:endParaRPr lang="en-US"/>
          </a:p>
        </p:txBody>
      </p:sp>
      <p:sp>
        <p:nvSpPr>
          <p:cNvPr id="15" name="Text 13"/>
          <p:cNvSpPr/>
          <p:nvPr/>
        </p:nvSpPr>
        <p:spPr>
          <a:xfrm>
            <a:off x="4643018" y="2880360"/>
            <a:ext cx="1097280" cy="457200"/>
          </a:xfrm>
          <a:prstGeom prst="rect">
            <a:avLst/>
          </a:prstGeom>
          <a:noFill/>
          <a:ln/>
        </p:spPr>
        <p:txBody>
          <a:bodyPr wrap="square" lIns="0" tIns="0" rIns="0" bIns="0" rtlCol="0" anchor="ctr"/>
          <a:lstStyle/>
          <a:p>
            <a:pPr marL="0" indent="0">
              <a:buNone/>
            </a:pPr>
            <a:r>
              <a:rPr lang="en-US" sz="2600" b="1" dirty="0">
                <a:solidFill>
                  <a:srgbClr val="7C5CFF"/>
                </a:solidFill>
                <a:latin typeface="Aptos Display" pitchFamily="34" charset="0"/>
                <a:ea typeface="Aptos Display" pitchFamily="34" charset="-122"/>
                <a:cs typeface="Aptos Display" pitchFamily="34" charset="-120"/>
              </a:rPr>
              <a:t>02</a:t>
            </a:r>
            <a:endParaRPr lang="en-US" sz="2600" dirty="0"/>
          </a:p>
        </p:txBody>
      </p:sp>
      <p:sp>
        <p:nvSpPr>
          <p:cNvPr id="16" name="Text 14"/>
          <p:cNvSpPr/>
          <p:nvPr/>
        </p:nvSpPr>
        <p:spPr>
          <a:xfrm>
            <a:off x="4643018" y="3447288"/>
            <a:ext cx="2905658" cy="237744"/>
          </a:xfrm>
          <a:prstGeom prst="rect">
            <a:avLst/>
          </a:prstGeom>
          <a:noFill/>
          <a:ln/>
        </p:spPr>
        <p:txBody>
          <a:bodyPr wrap="square" rtlCol="0" anchor="ctr"/>
          <a:lstStyle/>
          <a:p>
            <a:pPr marL="0" indent="0">
              <a:buNone/>
            </a:pPr>
            <a:r>
              <a:rPr lang="en-US" sz="850" b="1" kern="0" spc="150" dirty="0">
                <a:solidFill>
                  <a:srgbClr val="64748B"/>
                </a:solidFill>
                <a:latin typeface="JetBrains Mono" pitchFamily="34" charset="0"/>
                <a:ea typeface="JetBrains Mono" pitchFamily="34" charset="-122"/>
                <a:cs typeface="JetBrains Mono" pitchFamily="34" charset="-120"/>
              </a:rPr>
              <a:t>BUILD</a:t>
            </a:r>
            <a:endParaRPr lang="en-US" sz="850" dirty="0"/>
          </a:p>
        </p:txBody>
      </p:sp>
      <p:sp>
        <p:nvSpPr>
          <p:cNvPr id="17" name="Text 15"/>
          <p:cNvSpPr/>
          <p:nvPr/>
        </p:nvSpPr>
        <p:spPr>
          <a:xfrm>
            <a:off x="4643018" y="3685032"/>
            <a:ext cx="2905658" cy="502920"/>
          </a:xfrm>
          <a:prstGeom prst="rect">
            <a:avLst/>
          </a:prstGeom>
          <a:noFill/>
          <a:ln/>
        </p:spPr>
        <p:txBody>
          <a:bodyPr wrap="square" lIns="0" tIns="0" rIns="0" bIns="0" rtlCol="0" anchor="t"/>
          <a:lstStyle/>
          <a:p>
            <a:pPr marL="0" indent="0">
              <a:lnSpc>
                <a:spcPts val="1700"/>
              </a:lnSpc>
              <a:buNone/>
            </a:pPr>
            <a:r>
              <a:rPr lang="en-US" sz="1500" b="1" dirty="0">
                <a:solidFill>
                  <a:srgbClr val="0B1437"/>
                </a:solidFill>
                <a:latin typeface="Aptos Display" pitchFamily="34" charset="0"/>
                <a:ea typeface="Aptos Display" pitchFamily="34" charset="-122"/>
                <a:cs typeface="Aptos Display" pitchFamily="34" charset="-120"/>
              </a:rPr>
              <a:t>Implementation &amp; QA</a:t>
            </a:r>
            <a:endParaRPr lang="en-US" sz="1500" dirty="0"/>
          </a:p>
        </p:txBody>
      </p:sp>
      <p:sp>
        <p:nvSpPr>
          <p:cNvPr id="18" name="Text 16"/>
          <p:cNvSpPr/>
          <p:nvPr/>
        </p:nvSpPr>
        <p:spPr>
          <a:xfrm>
            <a:off x="4643018" y="4233672"/>
            <a:ext cx="2905658" cy="1005840"/>
          </a:xfrm>
          <a:prstGeom prst="rect">
            <a:avLst/>
          </a:prstGeom>
          <a:noFill/>
          <a:ln/>
        </p:spPr>
        <p:txBody>
          <a:bodyPr wrap="square" lIns="0" tIns="0" rIns="0" bIns="0" rtlCol="0" anchor="t"/>
          <a:lstStyle/>
          <a:p>
            <a:pPr marL="0" indent="0">
              <a:lnSpc>
                <a:spcPts val="1500"/>
              </a:lnSpc>
              <a:buNone/>
            </a:pPr>
            <a:r>
              <a:rPr lang="en-US" sz="1100" dirty="0">
                <a:solidFill>
                  <a:srgbClr val="64748B"/>
                </a:solidFill>
                <a:latin typeface="Aptos" pitchFamily="34" charset="0"/>
                <a:ea typeface="Aptos" pitchFamily="34" charset="-122"/>
                <a:cs typeface="Aptos" pitchFamily="34" charset="-120"/>
              </a:rPr>
              <a:t>Integrate the COLLECT and SETTLE APIs, configure the operations portal, and run end-to-end QA and certification.</a:t>
            </a:r>
            <a:endParaRPr lang="en-US" sz="1100" dirty="0"/>
          </a:p>
        </p:txBody>
      </p:sp>
      <p:sp>
        <p:nvSpPr>
          <p:cNvPr id="19" name="Shape 17"/>
          <p:cNvSpPr/>
          <p:nvPr/>
        </p:nvSpPr>
        <p:spPr>
          <a:xfrm>
            <a:off x="8097316" y="2606040"/>
            <a:ext cx="3454298" cy="2743200"/>
          </a:xfrm>
          <a:prstGeom prst="roundRect">
            <a:avLst>
              <a:gd name="adj" fmla="val 2175"/>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20" name="Shape 18"/>
          <p:cNvSpPr/>
          <p:nvPr/>
        </p:nvSpPr>
        <p:spPr>
          <a:xfrm>
            <a:off x="8133892" y="2596896"/>
            <a:ext cx="3381146" cy="64008"/>
          </a:xfrm>
          <a:prstGeom prst="roundRect">
            <a:avLst>
              <a:gd name="adj" fmla="val 28571"/>
            </a:avLst>
          </a:prstGeom>
          <a:solidFill>
            <a:srgbClr val="2563EB"/>
          </a:solidFill>
          <a:ln/>
        </p:spPr>
        <p:txBody>
          <a:bodyPr/>
          <a:lstStyle/>
          <a:p>
            <a:endParaRPr lang="en-US"/>
          </a:p>
        </p:txBody>
      </p:sp>
      <p:sp>
        <p:nvSpPr>
          <p:cNvPr id="21" name="Text 19"/>
          <p:cNvSpPr/>
          <p:nvPr/>
        </p:nvSpPr>
        <p:spPr>
          <a:xfrm>
            <a:off x="8371636" y="2880360"/>
            <a:ext cx="1097280" cy="457200"/>
          </a:xfrm>
          <a:prstGeom prst="rect">
            <a:avLst/>
          </a:prstGeom>
          <a:noFill/>
          <a:ln/>
        </p:spPr>
        <p:txBody>
          <a:bodyPr wrap="square" lIns="0" tIns="0" rIns="0" bIns="0" rtlCol="0" anchor="ctr"/>
          <a:lstStyle/>
          <a:p>
            <a:pPr marL="0" indent="0">
              <a:buNone/>
            </a:pPr>
            <a:r>
              <a:rPr lang="en-US" sz="2600" b="1" dirty="0">
                <a:solidFill>
                  <a:srgbClr val="2563EB"/>
                </a:solidFill>
                <a:latin typeface="Aptos Display" pitchFamily="34" charset="0"/>
                <a:ea typeface="Aptos Display" pitchFamily="34" charset="-122"/>
                <a:cs typeface="Aptos Display" pitchFamily="34" charset="-120"/>
              </a:rPr>
              <a:t>03</a:t>
            </a:r>
            <a:endParaRPr lang="en-US" sz="2600" dirty="0"/>
          </a:p>
        </p:txBody>
      </p:sp>
      <p:sp>
        <p:nvSpPr>
          <p:cNvPr id="22" name="Text 20"/>
          <p:cNvSpPr/>
          <p:nvPr/>
        </p:nvSpPr>
        <p:spPr>
          <a:xfrm>
            <a:off x="8371636" y="3447288"/>
            <a:ext cx="2905658" cy="237744"/>
          </a:xfrm>
          <a:prstGeom prst="rect">
            <a:avLst/>
          </a:prstGeom>
          <a:noFill/>
          <a:ln/>
        </p:spPr>
        <p:txBody>
          <a:bodyPr wrap="square" rtlCol="0" anchor="ctr"/>
          <a:lstStyle/>
          <a:p>
            <a:pPr marL="0" indent="0">
              <a:buNone/>
            </a:pPr>
            <a:r>
              <a:rPr lang="en-US" sz="850" b="1" kern="0" spc="150" dirty="0">
                <a:solidFill>
                  <a:srgbClr val="64748B"/>
                </a:solidFill>
                <a:latin typeface="JetBrains Mono" pitchFamily="34" charset="0"/>
                <a:ea typeface="JetBrains Mono" pitchFamily="34" charset="-122"/>
                <a:cs typeface="JetBrains Mono" pitchFamily="34" charset="-120"/>
              </a:rPr>
              <a:t>GO LIVE</a:t>
            </a:r>
            <a:endParaRPr lang="en-US" sz="850" dirty="0"/>
          </a:p>
        </p:txBody>
      </p:sp>
      <p:sp>
        <p:nvSpPr>
          <p:cNvPr id="23" name="Text 21"/>
          <p:cNvSpPr/>
          <p:nvPr/>
        </p:nvSpPr>
        <p:spPr>
          <a:xfrm>
            <a:off x="8371636" y="3685032"/>
            <a:ext cx="2905658" cy="502920"/>
          </a:xfrm>
          <a:prstGeom prst="rect">
            <a:avLst/>
          </a:prstGeom>
          <a:noFill/>
          <a:ln/>
        </p:spPr>
        <p:txBody>
          <a:bodyPr wrap="square" lIns="0" tIns="0" rIns="0" bIns="0" rtlCol="0" anchor="t"/>
          <a:lstStyle/>
          <a:p>
            <a:pPr marL="0" indent="0">
              <a:lnSpc>
                <a:spcPts val="1700"/>
              </a:lnSpc>
              <a:buNone/>
            </a:pPr>
            <a:r>
              <a:rPr lang="en-US" sz="1500" b="1" dirty="0">
                <a:solidFill>
                  <a:srgbClr val="0B1437"/>
                </a:solidFill>
                <a:latin typeface="Aptos Display" pitchFamily="34" charset="0"/>
                <a:ea typeface="Aptos Display" pitchFamily="34" charset="-122"/>
                <a:cs typeface="Aptos Display" pitchFamily="34" charset="-120"/>
              </a:rPr>
              <a:t>Launch &amp; scale</a:t>
            </a:r>
            <a:endParaRPr lang="en-US" sz="1500" dirty="0"/>
          </a:p>
        </p:txBody>
      </p:sp>
      <p:sp>
        <p:nvSpPr>
          <p:cNvPr id="24" name="Text 22"/>
          <p:cNvSpPr/>
          <p:nvPr/>
        </p:nvSpPr>
        <p:spPr>
          <a:xfrm>
            <a:off x="8371636" y="4233672"/>
            <a:ext cx="2905658" cy="1005840"/>
          </a:xfrm>
          <a:prstGeom prst="rect">
            <a:avLst/>
          </a:prstGeom>
          <a:noFill/>
          <a:ln/>
        </p:spPr>
        <p:txBody>
          <a:bodyPr wrap="square" lIns="0" tIns="0" rIns="0" bIns="0" rtlCol="0" anchor="t"/>
          <a:lstStyle/>
          <a:p>
            <a:pPr marL="0" indent="0">
              <a:lnSpc>
                <a:spcPts val="1500"/>
              </a:lnSpc>
              <a:buNone/>
            </a:pPr>
            <a:r>
              <a:rPr lang="en-US" sz="1100" dirty="0">
                <a:solidFill>
                  <a:srgbClr val="64748B"/>
                </a:solidFill>
                <a:latin typeface="Aptos" pitchFamily="34" charset="0"/>
                <a:ea typeface="Aptos" pitchFamily="34" charset="-122"/>
                <a:cs typeface="Aptos" pitchFamily="34" charset="-120"/>
              </a:rPr>
              <a:t>Go live on vendor payouts by end of 2026, then add payroll services about six months later as volume scales.</a:t>
            </a:r>
            <a:endParaRPr lang="en-US" sz="1100" dirty="0"/>
          </a:p>
        </p:txBody>
      </p:sp>
      <p:sp>
        <p:nvSpPr>
          <p:cNvPr id="31" name="Text 29"/>
          <p:cNvSpPr/>
          <p:nvPr/>
        </p:nvSpPr>
        <p:spPr>
          <a:xfrm>
            <a:off x="640080" y="6455664"/>
            <a:ext cx="9144000" cy="274320"/>
          </a:xfrm>
          <a:prstGeom prst="rect">
            <a:avLst/>
          </a:prstGeom>
          <a:noFill/>
          <a:ln/>
        </p:spPr>
        <p:txBody>
          <a:bodyPr wrap="square" rtlCol="0" anchor="ctr"/>
          <a:lstStyle/>
          <a:p>
            <a:pPr marL="0" indent="0">
              <a:buNone/>
            </a:pPr>
            <a:r>
              <a:rPr lang="en-US" sz="750" kern="0" spc="180" dirty="0">
                <a:solidFill>
                  <a:srgbClr val="94A3B8"/>
                </a:solidFill>
                <a:latin typeface="JetBrains Mono" pitchFamily="34" charset="0"/>
                <a:ea typeface="JetBrains Mono" pitchFamily="34" charset="-122"/>
                <a:cs typeface="JetBrains Mono" pitchFamily="34" charset="-120"/>
              </a:rPr>
              <a:t>DREAM PAYMENTS  ·  BUSINESS PAYMENT HUB  ·  COMMERCIAL PROPOSAL</a:t>
            </a:r>
            <a:endParaRPr lang="en-US" sz="750" dirty="0"/>
          </a:p>
        </p:txBody>
      </p:sp>
      <p:sp>
        <p:nvSpPr>
          <p:cNvPr id="32" name="Text 30"/>
          <p:cNvSpPr/>
          <p:nvPr/>
        </p:nvSpPr>
        <p:spPr>
          <a:xfrm>
            <a:off x="10637215" y="6455664"/>
            <a:ext cx="914400" cy="274320"/>
          </a:xfrm>
          <a:prstGeom prst="rect">
            <a:avLst/>
          </a:prstGeom>
          <a:noFill/>
          <a:ln/>
        </p:spPr>
        <p:txBody>
          <a:bodyPr wrap="square" rtlCol="0" anchor="ctr"/>
          <a:lstStyle/>
          <a:p>
            <a:pPr marL="0" indent="0" algn="r">
              <a:buNone/>
            </a:pPr>
            <a:r>
              <a:rPr lang="en-US" sz="800" b="1" kern="0" spc="150" dirty="0">
                <a:solidFill>
                  <a:srgbClr val="2563EB"/>
                </a:solidFill>
                <a:latin typeface="JetBrains Mono" pitchFamily="34" charset="0"/>
                <a:ea typeface="JetBrains Mono" pitchFamily="34" charset="-122"/>
                <a:cs typeface="JetBrains Mono" pitchFamily="34" charset="-120"/>
              </a:rPr>
              <a:t>16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1809</Words>
  <Application>Microsoft Macintosh PowerPoint</Application>
  <PresentationFormat>Widescreen</PresentationFormat>
  <Paragraphs>262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GlobalEpay — Commercial Proposal</dc:title>
  <dc:subject>PptxGenJS Presentation</dc:subject>
  <dc:creator>Dream Payments</dc:creator>
  <cp:lastModifiedBy>Jonathan Racine</cp:lastModifiedBy>
  <cp:revision>9</cp:revision>
  <dcterms:created xsi:type="dcterms:W3CDTF">2026-06-10T11:01:43Z</dcterms:created>
  <dcterms:modified xsi:type="dcterms:W3CDTF">2026-06-20T00:41:23Z</dcterms:modified>
</cp:coreProperties>
</file>